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 من 33
التوقيت الإرشادي: 00:00–00:30 | 30 ثانية
المحاور من الأول إلى الرابع
افتتح بتحديد نطاق العرض: المطلب الوطني، المصالح الوطنية، الأهداف الوطنية، ثم الاتجاهات العامة. المادة مستندة إلى وثيقة تدريبية بعنوان السياسة الوطنية، الحكومة (ج)، وليست إعلاناً مستقلاً عن سياسة حكومية راهنة.
النصوص الكاملة المعروضة:
المرجع: ص ٢–٩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 من 33
التوقيت الإرشادي: 00:30–01:00 | 30 ثانية
خريطة العرض
خصص دقيقة للافتتاح وخريطة العرض معاً، ودقيقة للخاتمة. اعرض النصوص دون حذف التفاصيل. حُذفت فقرة المفهوم العام من المحورين الأول والثاني فقط بناءً على الطلب. توقيت الثلاثين دقيقة إرشادي ويعتمد على سرعة الإلقاء.
النصوص الكاملة المعروضة:
١ — المطلب الوطني — دقيقة واحدة
٢ — المصالح الوطنية — سبع دقائق
٣ — الأهداف الوطنية — أربع عشرة دقيقة
٤ — الاتجاهات العامة — ست دقائق
المرجع: ص ٢–٩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3 من 33
التوقيت الإرشادي: 01:00–02:00 | 60 ثانية
المحور الأول
اقرأ المطلب الوطني كاملاً. وضح ترابط الأمن والحرية والازدهار والحياة الكريمة في صياغة واحدة، وأن الدولة الآمنة والمستقرة تمثل إطار تحقيق هذه الغايات. هذا توضيح للعلاقة داخل النص، وليس إضافة مطلب جديد.
النصوص الكاملة المعروضة:
ب — المطلب الوطني: أمن، حرية، ازدهار، وحياة كريمة فضلى للمواطنين في دولة آمنة ومستقرة.
المرجع: ص ٢ | ١/ب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4 من 33
التوقيت الإرشادي: 02:00–03:00 | 60 ثانية
المحور الثاني · المصالح الوطنية
ابدأ بالمصلحة الحيوية كما صنفتها الوثيقة. اقرأ عناصرها كاملة، مع إبراز أن الأمن المائي وارد صراحة ضمنها. ثم انتقل إلى المصالح الأساسية دون إعادة فقرة المفهوم العام المحذوفة.
النصوص الكاملة المعروضة:
١ — صون أمن الدولة الأردنية وسلامتها وسيادتها، وضمان استقرار نظامها السياسي والاقتصادي والاجتماعي، والمحافظة على أمنها المائي.
المرجع: ص ٢ | ٢/ب/١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5 من 33
التوقيت الإرشادي: 03:00–03:45 | 45 ثانية
المحور الثاني · المصالح الأساسية
اقرأ المصالح الأساسية من (أ) إلى (جـ) كاملة وبالترتيب. اربطها بعنوان الشريحة مع الحفاظ على كل القيود الواردة في النص. العنوان تجميعي لتسهيل العرض وليس تصنيفاً إضافياً.
النصوص الكاملة المعروضة:
أ — تسوية القضية الفلسطينية في الضفة الغربية وقطاع غزة بوصفهما قضية واحدة، وصولاً إلى إقامة دولة فلسطينية مستقلة على خطوط الرابع من حزيران 1967، تكون القدس الشرقية عاصمتها.
ب — تنمية القدرات الدفاعية والأمنية ذات الجاهزية العالية لتبقى الحصن المنيع وسياج الوطن ودرعه في مواجهة التهديدات المختلفة.
جـ — جعل تنمية القدرات الوطنية وتطويرها مشروعاً مستقبلياً للدولة، بما يعزز جاهزيتها وقدرتها على تحقيق أهدافها.
المرجع: ص ٢–٣ | ٢/ب/٢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6 من 33
التوقيت الإرشادي: 03:45–04:30 | 45 ثانية
المحور الثاني · المصالح الأساسية
اقرأ المصالح الأساسية من (د) إلى (و) كاملة وبالترتيب. اربطها بعنوان الشريحة مع الحفاظ على كل القيود الواردة في النص. العنوان تجميعي لتسهيل العرض وليس تصنيفاً إضافياً.
النصوص الكاملة المعروضة:
د — إدامة وحدة الجبهة الداخلية وصلابتها، وصون النسيج الوطني القائم على الوسطية والاعتدال واحترام حرية الأديان.
هـ — مواصلة تنفيذ رؤية التحديث الاقتصادي الشاملة، بالاستناد إلى مسارات التحديث السياسي والاقتصادي والاجتماعي والإداري، حتى بلوغ النتائج المستهدفة.
و — توثيق العمل العربي المشترك وتعزيز الروابط مع دول الإقليم لمواجهة التهديدات الإقليمية، مع توظيف مكانة الأردن مركزاً للتجارة والصناعة والتكنولوجيا.
المرجع: ص ٢–٣ | ٢/ب/٢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7 من 33
التوقيت الإرشادي: 04:30–05:15 | 45 ثانية
المحور الثاني · المصالح الأساسية
اقرأ المصالح الأساسية من (ز) إلى (ط) كاملة وبالترتيب. اربطها بعنوان الشريحة مع الحفاظ على كل القيود الواردة في النص. العنوان تجميعي لتسهيل العرض وليس تصنيفاً إضافياً.
النصوص الكاملة المعروضة:
ز — بلورة موقف دولي مساند لأمن سوريا وسيادتها ووحدة أراضيها، وبما يتيح عودة اللاجئين بصورة طوعية.
ح — الحفاظ على الاستقرار الاقتصادي وحماية المنعة الاقتصادية وتسريع التنمية والنمو.
ط — العمل على تعزيز القيم الوطنية والمجتمعية واحترام سيادة القانون ضمن الدولة المدنية.
المرجع: ص ٢–٣ | ٢/ب/٢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8 من 33
التوقيت الإرشادي: 05:15–06:00 | 45 ثانية
المحور الثاني · المصالح الأساسية
اقرأ المصالح الأساسية من (ي) إلى (ل) كاملة وبالترتيب. اربطها بعنوان الشريحة مع الحفاظ على كل القيود الواردة في النص. العنوان تجميعي لتسهيل العرض وليس تصنيفاً إضافياً.
النصوص الكاملة المعروضة:
ي — ترسيخ أسس العدالة والنزاهة وصيانة الحقوق في مختلف مؤسسات الدولة.
ك — مواصلة حمل أمانة الوصاية الهاشمية، وصون الوضع التاريخي والقانوني للمقدسات الإسلامية والمسيحية في القدس.
ل — توسيع قاعدة الشراكات الاستراتيجية والمحافظة على استدامتها مع التكتلات الاقتصادية الكبرى، وفي مقدمتها جمهورية الصين الشعبية.
المرجع: ص ٢–٣ | ٢/ب/٢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9 من 33
التوقيت الإرشادي: 06:00–06:45 | 45 ثانية
المحور الثاني · المصالح الأساسية
اقرأ المصالح الأساسية من (م) إلى (ن) كاملة وبالترتيب. اربطها بعنوان الشريحة مع الحفاظ على كل القيود الواردة في النص. العنوان تجميعي لتسهيل العرض وليس تصنيفاً إضافياً.
النصوص الكاملة المعروضة:
م — المحافظة على ديمومة العلاقات الاستراتيجية مع الولايات المتحدة الأمريكية وتطوير التعاون معها في مختلف المجالات.
ن — توسيع آفاق الانفتاح السياسي واستعداد الأردن والتزامه بمواقفه للتفاعل مع جميع دول العالم والمنظمات الدولية للوصول إلى الأمن والسلم الدوليين.
المرجع: ص ٢–٣ | ٢/ب/٢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10 من 33
التوقيت الإرشادي: 06:45–07:30 | 45 ثانية
المحور الثاني · المصالح الثانوية
اقرأ البنود الثلاثة كاملة. حافظ على تسمية المصالح الثانوية كما وردت في الوثيقة؛ فهي تصنيف للمصالح ولا تعني إسقاطها من جدول العمل الوطني.
النصوص الكاملة المعروضة:
أ — زيادة كثافة الجهود وتهيئة البيئة الحاضنة والممكنة للاستثمار ليكون الأساس لتمويل المشاريع والبنى الاقتصادية.
ب — جعل الأردن مركزاً إقليمياً ودولياً متقدماً ومنافساً في المنطقة عبر الاستثمارات الدولية والعربية.
ج — السعي إلى تطوير الإدارة العامة لتحسين الخدمات ومواكبة الحداثة والتطوير، وترسيخ ثقافة الإنجاز والتميز في المؤسسات الحكومية.
المرجع: ص ٣–٤ | ٢/ب/٣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11 من 33
التوقيت الإرشادي: 07:30–08:15 | 45 ثانية
المحور الثاني · المصالح الثانوية
اقرأ البنود الثلاثة كاملة. حافظ على تسمية المصالح الثانوية كما وردت في الوثيقة؛ فهي تصنيف للمصالح ولا تعني إسقاطها من جدول العمل الوطني.
النصوص الكاملة المعروضة:
د — تطوير قدرات دائرة الإحصاءات العامة لتكون مرجعاً وطنياً شاملاً للبيانات والمعلومات، يدعم القرار الحكومي الفاعل والشفاف في تحقيق الأهداف.
هـ — إظهار التنوع الثقافي والانفتاح الأردني، مع احتضان المواهب الأدبية والفكرية ورعاية إبداعها.
و — توسيع آفاق الانفتاح على دول العالم والمنظمات الدولية، والتفاعل معها وتبادل الخبرات والتعاون في ميادين شتى لتطوير قدرات الدولة الأردنية وتقديم الخدمات الفضلى للأردنيين في الوطن وحول العالم.
المرجع: ص ٣–٤ | ٢/ب/٣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12 من 33
التوقيت الإرشادي: 08:15–09:00 | 45 ثانية
المحور الثاني · المصالح الثانوية
اقرأ البنود الثلاثة كاملة. حافظ على تسمية المصالح الثانوية كما وردت في الوثيقة؛ فهي تصنيف للمصالح ولا تعني إسقاطها من جدول العمل الوطني.
النصوص الكاملة المعروضة:
ز — فتح أسواق جديدة أمام القطاع الصناعي، وتوظيف الاتفاقيات الاقتصادية والتجارية التي تربط الأردن مع دول العالم، ومن المهم استكشاف الأسواق الناشئة لتعزيز تصدير المنتجات والخدمات الأردنية.
ح — العمل من أجل منطقة شرق أوسط خالية من أسلحة الدمار الشامل.
ط — السعي نحو تدعيم الأمن الغذائي ومواجهة التغيرات المناخية.
المرجع: ص ٣–٤ | ٢/ب/٣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13 من 33
التوقيت الإرشادي: 09:00–10:00 | 60 ثانية
المحور الثالث
المفهوم العام هنا مشمول لأنه لم يُطلب حذفه من المحور الثالث. اقرأ الفقرة كاملة، ثم أبرز ثلاثة عناصر منصوص عليها: قابلية التنفيذ والتقييم، السقوف الزمنية، ووضوح الأولويات. تتبعها الأهداف التسعة والثلاثون دون اختصار.
النصوص الكاملة المعروضة:
أ — تُترجم المصالح الوطنية إلى أهداف وطنية ذات مضمون سياسي واستراتيجي قابل للتنفيذ والتقييم. وترتبط هذه الأهداف بطبيعة المرحلة ومتطلباتها وبسقوف زمنية وأولويات واضحة، بما يحول المصالح من غايات عامة إلى نتائج عملية مستهدفة.
المرجع: ص ٤ | ٣/أ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14 من 33
التوقيت الإرشادي: 10:00–11:00 | 60 ثانية
المحور الثالث · الأهداف الوطنية
اقرأ الأهداف الثلاثة. أبرز تلازم دعم الحقوق الفلسطينية وتحديث الجاهزية الدفاعية والأمنية واستكمال برامج التحديث في صياغة الوثيقة.
النصوص الكاملة المعروضة:
1 — تقديم مختلف أشكال الدعم والمساندة لأشقائنا في فلسطين حتى الحصول على كامل حقوقهم المشروعة عبر التوصل إلى تسوية سلمية للصراع العربي الإسرائيلي.
2 — رفع كفاءة وتحديث جاهزية القوات المسلحة الأردنية والأجهزة الأمنية بما يواكب التطورات الجديدة.
3 — استكمال برامج التحديث الوطنية المختلفة من أجل صون الأمن الوطني.
المرجع: ص 4 | ٣/ب | الأهداف 1–3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15 من 33
التوقيت الإرشادي: 11:00–12:00 | 60 ثانية
المحور الثالث · الأهداف الوطنية
اقرأ النص كاملاً مع إعطاء التواصل الميداني مساحته. الهدف المائي يتضمن الناقل الوطني وخفض الفاقد ومنع الاعتداءات؛ والهدف الغذائي يركز على الأطر المؤسسية والاعتماد على الذات.
النصوص الكاملة المعروضة:
4 — زيادة كثافة التواصل الميداني المباشر مع المواطنين والاطلاع على قضاياهم وأولوياتهم، والاستماع إلى آرائهم ومشاركتهم التوجهات والرؤى، بحيث يتم التعامل مع التحديات والاحتياجات والتطلعات وإيجاد الحلول الممكنة والبناء على الفرص المتاحة.
5 — تعزيز الأمن المائي عبر إطلاق تنفيذ مشروع الناقل الوطني للمياه، وخفض الفاقد المائي، والحد من الاعتداءات على خطوط المياه ومحاسبة المعتدين.
6 — استدامة الجهود لتدعيم الأمن الغذائي ضمن أطر مؤسسية، وبما يدعم الاعتماد على الذات ومواجهة تقلبات الأسعار والأزمات الإقليمية والدولية.
المرجع: ص 4–5 | ٣/ب | الأهداف 4–6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16 من 33
التوقيت الإرشادي: 12:00–13:00 | 60 ثانية
المحور الثالث · الأهداف الوطنية
اقرأ الأهداف كاملة. ميز بين استكمال المشاريع، والتنسيق مع مجلس النواب، وإشراك المواطنين في الأولويات التنموية المحلية. حافظ على شرط التوزيع الأمثل والعادل لمكتسبات التنمية.
النصوص الكاملة المعروضة:
7 — استكمال البرامج والمشاريع الأساسية المنبثقة عن الرؤية الشاملة للتحديث، وتسريع إنجازها وإبقاؤها على مسارها التنفيذي المقرر.
8 — التنسيق مع مجلس النواب لتعميق الممارسة الديمقراطية وترسيخ المشاركة السياسية وتطوير المؤسسات الدستورية.
9 — إشراك المواطنين في ترتيب الأولويات التنموية المحلية، وربطها بأولويات رؤية التحديث الاقتصادي، بما يضمن التوزيع الأمثل والعادل لمكتسبات التنمية.
المرجع: ص 5 | ٣/ب | الأهداف 7–9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17 من 33
التوقيت الإرشادي: 13:00–14:00 | 60 ثانية
المحور الثالث · الأهداف الوطنية
اقرأ الأهداف كاملة. في رؤية التحديث احتفظ بكل النتائج المذكورة: النمو المستدام، الاستثمار، البطالة والحياة الفضلى. ثم اذكر قطاعات المشاريع الكبرى وإدارة الأزمات والكوارث.
النصوص الكاملة المعروضة:
10 — تنفيذ رؤية التحديث الاقتصادي وفق برامج معلنة ومحددة زمنياً تخضع للتقييم والمتابعة، بما يطلق الإمكانات ويحقق نمواً شاملاً مستداماً ويضاعف الاستثمار ويخفض البطالة ويوفر حياة فضلى للمواطنين.
11 — إعطاء المشاريع الاستراتيجية الكبرى أولوية حكومية، ولا سيما في قطاعات المياه والنقل والطاقة والقطاعات الاقتصادية الواعدة.
12 — تحديث منظومة إدارة الأزمات والكوارث الوطنية لتحقيق الاستجابة المثلى للأزمات والكوارث وتخفيف آثارها.
المرجع: ص 5 | ٣/ب | الأهداف 10–12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18 من 33
التوقيت الإرشادي: 14:00–15:00 | 60 ثانية
المحور الثالث · الأهداف الوطنية
أعط الهدف الرابع عشر الجزء الأكبر من الدقيقة لطوله. اقرأ النطاق الزمني 2024–2028 كما ورد في الوثيقة، ودور المركز الوطني للأمن السيبراني والرصد المبكر والاستجابة. لا تقدمه كتقييم لواقع التنفيذ الحالي.
النصوص الكاملة المعروضة:
13 — توظيف تكنولوجيا المستقبل، عبر الشراكة والتعاون مع القطاع الخاص والجامعات وجميع الجهات المعنية محلياً وعالمياً وضمن أطر زمنية واضحة.
14 — التقيد ببرامج التحول الرقمي وجداولها الزمنية في مؤسسات الدولة، وتوظيف الابتكار والتقنيات الحديثة، مع دعم المركز الوطني للأمن السيبراني في إعداد وتنفيذ البرنامج المنبثق عن الاستراتيجية الوطنية للأمن السيبراني 2024–2028، لبناء منظومة متكاملة ومستدامة للرصد المبكر والاستجابة للحوادث والتهديدات السيبرانية.
15 — استدامة أعمال مراكز الخدمات الحكومية، التي تعد تجربة متقدمة في توفير خدمات نوعية للمواطنين.
المرجع: ص 5 | ٣/ب | الأهداف 13–15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19 من 33
التوقيت الإرشادي: 15:00–16:00 | 60 ثانية
المحور الثالث · الأهداف الوطنية
اقرأ الأهداف كاملة. ميز بين قطاع الخدمات والأسواق المالية، وتحسين الخدمات الحضرية والرقعة الخضراء، ومشروع المدينة الجديدة المرتبط بعمان والزرقاء والشراكة مع القطاع الخاص.
النصوص الكاملة المعروضة:
16 — الاستمرار في تطوير قطاع الخدمات والأسواق المالية، ليكون ممكناً للنمو الاقتصادي ومبنياً على أسس حصيفة، ويكون رافعاً للقطاع الخاص والصناديق الاستثمارية.
17 — تحسين سبل العيش للمواطنين في مدنهم والوصول إلى خيارات أفضل من الخدمات عبر التنمية الحضرية، مع الحرص على زيادة الرقعة الخضراء وانتشار الحدائق العامة.
18 — متابعة التحضير لمشروع المدينة الجديدة بالشراكة مع القطاع الخاص، لتخفيف الضغط الحضري على عمان والزرقاء وتعظيم عوائده الاستثمارية والاجتماعية والاقتصادية.
المرجع: ص 6 | ٣/ب | الأهداف 16–18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20 من 33
التوقيت الإرشادي: 16:00–17:00 | 60 ثانية
المحور الثالث · الأهداف الوطنية
اقرأ الأهداف كاملة. اذكر التعدين والصناعة والمنافسة، ثم منعة السياحة وخطط مواجهة التحديات وصندوق تنمية وتطوير القطاع السياحي.
النصوص الكاملة المعروضة:
19 — إيلاء اهتمام بقطاع التعدين كأحد القطاعات الواعدة في النمو الاقتصادي.
20 — تمكين القطاع الصناعي ليكون منافساً في الأسواق الوطنية والخارجية.
21 — العمل على تعزيز منعة قطاع السياحة وإعداد خطط واضحة للتعامل مع التحديات التي تواجهه، وتفعيل نظام صندوق تنمية وتطوير القطاع السياحي.
المرجع: ص 6 | ٣/ب | الأهداف 19–21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21 من 33
التوقيت الإرشادي: 17:00–18:00 | 60 ثانية
المحور الثالث · الأهداف الوطنية
اقرأ الأهداف كاملة. حافظ على ربط الحماية الاجتماعية برؤية التحديث، وأولوية التعليم والتدريب المهني والتقني، وحماية المال العام والعدالة والمساءلة.
النصوص الكاملة المعروضة:
22 — مراجعة الاستراتيجية الوطنية للحماية الاجتماعية وتحديثها وإطلاق تنفيذها بما يتوافق مع رؤية التحديث الاقتصادي وبرنامجها التنفيذي.
23 — استكمال تحديث التعليم وتطويره والعمل ليكون التعليم والتدريب المهني والتقني أولوية في المدارس والمراكز والجامعات.
24 — مكافحة الفساد وحماية المال العام والمقدرات الوطنية من التعدي، وترسيخ قيم العدالة والمساواة والمساءلة.
المرجع: ص 6 | ٣/ب | الأهداف 22–24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22 من 33
التوقيت الإرشادي: 18:00–19:00 | 60 ثانية
المحور الثالث · الأهداف الوطنية
اقرأ الأهداف كاملة. لا تختزل الطاقة في المتجددة وحدها: النص يشمل الموارد الطبيعية والغاز والاستخدام الصناعي والتجاري والهيدروجين الأخضر.
النصوص الكاملة المعروضة:
25 — توظيف تجربة حافلات التردد السريع في عمان والزرقاء لتشمل مناطق أوسع، تسهيلاً على المواطنين ولتمكينهم من تجاوز عقبات انخراطهم بسوق العمل.
26 — إبراز المملكة وجهة سياحية آمنة طوال العام رغم الاضطرابات الإقليمية، ورفع جودة الخدمات والمرافق في المواقع السياحية، وتحسين تجربة الزائر وتنويع المنتج السياحي.
27 — تعظيم الاستفادة من الموارد الطبيعية والغاز الطبيعي بتوجيه الاستثمار إليها وتوسيع الاستخدام الصناعي والتجاري لها، مع التوسع في الطاقة المتجددة والهيدروجين الأخضر للتحول نحو طاقة نظيفة ومستدامة.
المرجع: ص 6 | ٣/ب | الأهداف 25–27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23 من 33
التوقيت الإرشادي: 19:00–20:00 | 60 ثانية
المحور الثالث · الأهداف الوطنية
اقرأ الأهداف كاملة. وضح أن النص يجمع القيم والتطوع وسيادة القانون مع حوسبة الخدمات الصحية وجودتها، ثم مساءلة المقصرين وإزالة العراقيل.
النصوص الكاملة المعروضة:
28 — ترسيخ القيم الوطنية والمجتمعية والعمل التطوعي والمشاركة والمسؤولية واحترام سيادة القانون عبر المؤسسات التعليمية، وتعزيز تماسك المجتمع ونهضته ضمن الدولة المدنية.
29 — مواصلة حوسبة المستشفيات والمراكز الطبية، وتحسين جودة الخدمات الصحية والإدارة الحصيفة للمرافق والبنية الصحية في المملكة.
30 — تكريس مساءلة المقصرين في واجباتهم تجاه المواطنين، وإعلاء مفهوم الخدمة العامة القائمة على الحلول وإزالة العراقيل.
المرجع: ص 6–7 | ٣/ب | الأهداف 28–30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24 من 33
التوقيت الإرشادي: 20:00–21:00 | 60 ثانية
المحور الثالث · الأهداف الوطنية
اقرأ الأهداف كاملة. يميز النص إزالة عوائق مشاركة المرأة، وتوجيه طاقات الشباب والمراكز والحاضنات، ثم دعم المنتخب الوطني والشراكات لتوفير المنشآت الرياضية.
النصوص الكاملة المعروضة:
31 — استكمال دعم المرأة الأردنية وتمكينها لتعزيز انخراطها في سوق العمل، وذلك بإزالة العقبات التي تحول دون مشاركتها الفاعلة، ما يكفل الارتقاء بمستوى مساهمتها في الاقتصاد الوطني.
32 — تحمل الحكومة مسؤولية تمكين الشباب والشابات وتوجيه طاقاتهم نحو البناء والتطوير، وتوسيع دور المراكز الشبابية وحاضنات الريادة.
33 — دعم المنتخب الوطني لكرة القدم واستدامة الشراكات مع القطاع الخاص لتوفير المنشآت والتجهيزات الرياضية وتطويرها.
المرجع: ص 7 | ٣/ب | الأهداف 31–33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25 من 33
التوقيت الإرشادي: 21:00–22:00 | 60 ثانية
المحور الثالث · الأهداف الوطنية
اقرأ الأهداف كاملة. حافظ على شقي التوعية وإنفاذ القانون في مواجهة المخدرات، وكل عناصر تطوير الإدارة المحلية، ودور الإحصاءات في القرار الشفاف.
النصوص الكاملة المعروضة:
34 — تكثيف برامج التوعية والتثقيف وتوفير الحواضن الشبابية في المؤسسات التعليمية والثقافية والشبابية، وتشديد ملاحقة مهربي المخدرات ومروجيها وإنفاذ القانون بحقهم.
35 — تحديث الإطار التشريعي الناظم للانتخابات المحلية المقبلة، وتمكين هياكل الإدارة المحلية من أداء أدوارها التنموية والخدمية، وتعزيز الرقابة والمساءلة وبناء القدرات والتحول الرقمي.
36 — تمكين دائرة الإحصاءات العامة من أداء دورها مرجعاً وطنياً للبيانات والمعلومات الشاملة، بما يدعم اتخاذ قرارات حكومية شفافة وأكثر فعالية.
المرجع: ص 7 | ٣/ب | الأهداف 34–36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26 من 33
التوقيت الإرشادي: 22:00–23:00 | 60 ثانية
المحور الثالث · الأهداف الوطنية
اقرأ الأهداف الثلاثة كاملة. الهدف السابع والثلاثون يشمل المعلمين والمناهج والتدريس الذكي والمدارس ورياض الأطفال. اختم بالتحول الرقمي للإعلام والحلول والبدائل للمياه والطاقة والنقل.
النصوص الكاملة المعروضة:
37 — تقليص الفجوة بين مخرجات التعليم ومتطلبات سوق العمل، وتأهيل المعلمين وتطوير المناهج، والتوسع في التدريس الذكي وتهيئة مدارس آمنة ومحفزة وبناء المدارس ورياض الأطفال.
38 — مواكبة الثورة التكنولوجية بالعالم تستوجب العمل على تشجيع وسائل الإعلام على تطوير أدواتها للتحول الرقمي.
39 — السعي إلى تطوير قطاع الطاقة والمياه والنقل وإيجاد حلول مناسبة لمشكلتي المياه والطاقة وتوفير البدائل.
المرجع: ص 7 | ٣/ب | الأهداف 37–39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27 من 33
التوقيت الإرشادي: 23:00–24:00 | 60 ثانية
المحور الرابع
اقرأ مقدمة المحور كاملة. انتقل من الأهداف إلى الاتجاهات التي تحكم توظيف عناصر القوة. ستتناول الشرائح التالية جميع الاتجاهات من أ إلى ع دون إسقاط أي منها.
النصوص الكاملة المعروضة:
٤ — في ظل التحولات والتوترات الإقليمية والدولية التي تؤثر في البيئة الاستراتيجية للمملكة، تحدد السياسة الوطنية الاتجاهات الحاكمة لتوظيف عناصر القوة الوطنية وحماية أمن الدولة واستقرارها وتحقيق مصالحها.
المرجع: ص ٨ | مقدمة المحور الرابع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28 من 33
التوقيت الإرشادي: 24:00–25:00 | 60 ثانية
المحور الرابع · الاتجاهات العامة
اقرأ الاتجاهات كاملة وبالترتيب. اربط كل اتجاه بعباراته المحددة في المصدر وتجنب تقديم أمثلة خارجية على أنها وقائع وردت في الوثيقة.
النصوص الكاملة المعروضة:
أ — تبقى أهداف السياسة الوطنية ثابتة في أوقات السلم والحرب، وخلال مراحل الانتقال بينهما، مع تكييف وسائل التنفيذ وفق الظروف.
ب — تشكل السياسة الوطنية مرجعية توجيهية للاستراتيجية الوطنية، ويتعين أن تتسق الخطط الاستراتيجية معها ضمن تفاعل دائم يضمن وحدة الغايات وتكامل التنفيذ.
جـ — يتقدم هدف صون أمن الدولة الأردنية واستقرارها وسلامتها، ونظامها السياسي والاقتصادي والاجتماعي، سائر الأولويات الوطنية، في إطار الأمن الوطني بمفهومه الشامل.
المرجع: ص ٨–٩ | ٤ | أ–جـ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29 من 33
التوقيت الإرشادي: 25:00–26:00 | 60 ثانية
المحور الرابع · الاتجاهات العامة
اقرأ الاتجاهات كاملة وبالترتيب. اربط كل اتجاه بعباراته المحددة في المصدر وتجنب تقديم أمثلة خارجية على أنها وقائع وردت في الوثيقة.
النصوص الكاملة المعروضة:
د — تُعد القوات المسلحة الأردنية والأجهزة الأمنية ركيزة وطنية أساسية لحماية الأمن الوطني، وتلتزم الدولة بدعم جاهزيتها وقدراتها ورعاية منتسبيها كي تنهض بواجباتها.
هـ — تستمد السياسة الوطنية شرعيتها من الدستور الأردني والتشريعات والأعراف الوطنية، وتراعي الالتزامات والمواثيق الدولية ذات الصلة.
و — تراعي السياسة الوطنية معطيات البيئة الإقليمية والدولية وتطوراتها عند تحديد الأولويات وسبل حماية الأمن الوطني الشامل.
المرجع: ص ٨–٩ | ٤ | د–و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30 من 33
التوقيت الإرشادي: 26:00–27:00 | 60 ثانية
المحور الرابع · الاتجاهات العامة
اقرأ الاتجاهات كاملة وبالترتيب. اربط كل اتجاه بعباراته المحددة في المصدر وتجنب تقديم أمثلة خارجية على أنها وقائع وردت في الوثيقة.
النصوص الكاملة المعروضة:
ز — تهيئ السياسة بيئة داعمة للتنمية السياسية والاقتصادية والاجتماعية المتوازنة، بما يعزز النمو والرعاية الاجتماعية ومستوى معيشة المواطنين.
ح — تشكل القضية الفلسطينية محوراً أساسياً في علاقات الأردن الإقليمية والدولية، لارتباطها المباشر بمصالحه الوطنية.
ط — تدعم السياسة الوطنية بناء موقف عربي مشترك وتطوير تكتل عربي قادر على التأثير في القضايا الإقليمية والدولية.
المرجع: ص ٨–٩ | ٤ | ز–ط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31 من 33
التوقيت الإرشادي: 27:00–28:00 | 60 ثانية
المحور الرابع · الاتجاهات العامة
اقرأ الاتجاهات كاملة وبالترتيب. ميز بين تسلسل توظيف عناصر القوة في الفقرة ي، وترتيب السياسات التخصصية في الفقرة ك؛ فهما تسلسلان مختلفان في المصدر. حافظ على الاستثناء المتعلق بتهديد المصالح الحيوية والقرار السياسي، ثم الإصلاح المتدرج والشامل.
النصوص الكاملة المعروضة:
ي — تتدرج أولوية توظيف عناصر القوة الوطنية من السياسي، فالاقتصادي، فالاجتماعي، فالإعلامي، فالمعلوماتي والتقني، ثم الأمني والدفاعي؛ ويظل الاستخدام العسكري خياراً أخيراً ما لم تتعرض المصالح الحيوية لتهديد فعلي يستوجب القرار السياسي.
ك — تُعطى السياسات التخصصية الأولوية بحسب هذا التسلسل: الخارجية، الدفاعية، الاقتصادية، الأمن الداخلي، الاجتماعية، الإعلامية والمعلوماتية، العلمية والتقنية، ثم مكافحة الإرهاب، مع التكامل في التنفيذ.
ل — تتبنى الدولة إصلاحاً متدرجاً وشاملاً في المجالات السياسية والاقتصادية والإدارية، وتراجع التشريعات والبرامج وفق الأولويات الوطنية ومتطلبات التطوير.
المرجع: ص ٨–٩ | ٤ | ي–ل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32 من 33
التوقيت الإرشادي: 28:00–29:00 | 60 ثانية
المحور الرابع · الاتجاهات العامة
اقرأ الاتجاهات كاملة وبالترتيب. احرص على قراءة الفقرات الأربع جميعها: المشاركة والتمكين، دولة القانون، التكنولوجيا، ثم ترجيح التسويات والوسائل السلمية. لا تسقط الفقرة الأخيرة عند إنهاء المحور.
النصوص الكاملة المعروضة:
م — توسع الدولة المشاركة الديمقراطية، وتمكن المرأة والشباب ومؤسسات المجتمع المدني من المشاركة في صنع القرار وتحمل المسؤولية.
ن — تؤسس سيادة القانون واستقلال القضاء والتكامل بين السلطات الثلاث لدولة مدنية عادلة وتعزز الثقة بمؤسساتها.
س — تستثمر الدولة التكنولوجيا والاتصال الحديثين في تطوير الأداء وإطلاق المبادرات والطاقات الشبابية.
ع — ترجح الدولة التسويات والوسائل السلمية في التعامل مع الأزمات الإقليمية والدولية.
المرجع: ص ٨–٩ | ٤ | م–ع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33 من 33
التوقيت الإرشادي: 29:00–30:00 | 60 ثانية
ختام العرض
هذه خلاصة للربط بين المحاور بعد عرض نصوصها كاملة، وليست بديلاً عنها. اختم بتأكيد أن التسلسل ينتقل من الغايات إلى المصالح والأهداف ثم الاتجاهات الحاكمة. المصدر الوحيد للمضمون هو ملف السياسة الوطنية صالح كريشان المرفق. حُذفت فقرتا المفهوم العام في المحورين الأول والثاني فقط. جرى تصحيح أخطاء الاستخراج الإملائية وعلامات الترقيم دون تغيير المعنى. العرض بدون صور وفق طلب المستخدم.
النصوص الكاملة المعروضة:
١ — المطلب الوطني: الغاية التي تستهدف أمن المواطن وحريته وازدهاره وحياته الكريمة.
٢ — المصالح الوطنية: مصلحة حيوية واحدة، وأربع عشرة مصلحة أساسية، وتسع مصالح ثانوية.
٣ — الأهداف الوطنية: تسعة وثلاثون هدفاً، مع المفهوم العام الوارد في الوثيقة.
٤ — الاتجاهات العامة: ستة عشر اتجاهاً تحكم السياسة الوطنية وتكامل تنفيذها.
المرجع: المصدر: السياسة الوطنية — الحكومة (ج)، ص ٢–٩
التصميم: نمط داكن بسيط أُنشئ لهذا العرض؛ ليس نسخة من قالب Simple Dark Mode المرتبط غير المتاح. العرض بدون صور وفق طلب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640080" y="640080"/>
            <a:ext cx="5166360" cy="6949440"/>
          </a:xfrm>
          <a:prstGeom prst="rect">
            <a:avLst/>
          </a:prstGeom>
          <a:solidFill>
            <a:srgbClr val="1B2028"/>
          </a:solidFill>
          <a:ln w="12700">
            <a:solidFill>
              <a:srgbClr val="1B2028"/>
            </a:solidFill>
            <a:prstDash val="solid"/>
          </a:ln>
        </p:spPr>
      </p:sp>
      <p:sp>
        <p:nvSpPr>
          <p:cNvPr id="3" name="Text 1"/>
          <p:cNvSpPr/>
          <p:nvPr/>
        </p:nvSpPr>
        <p:spPr>
          <a:xfrm>
            <a:off x="1234440" y="1161288"/>
            <a:ext cx="914400" cy="548640"/>
          </a:xfrm>
          <a:prstGeom prst="rect">
            <a:avLst/>
          </a:prstGeom>
          <a:noFill/>
          <a:ln/>
        </p:spPr>
        <p:txBody>
          <a:bodyPr wrap="square" lIns="0" tIns="0" rIns="0" bIns="0" rtlCol="0" anchor="ctr"/>
          <a:lstStyle/>
          <a:p>
            <a:pPr rtl="1" algn="ctr" indent="0" marL="0">
              <a:buNone/>
            </a:pPr>
            <a:r>
              <a:rPr lang="ar-JO" altLang="en-US" sz="2200" b="1" dirty="0">
                <a:solidFill>
                  <a:srgbClr val="6DD5C1"/>
                </a:solidFill>
                <a:latin typeface="Noto Sans Arabic" pitchFamily="34" charset="0"/>
                <a:ea typeface="Noto Sans Arabic" pitchFamily="34" charset="-122"/>
                <a:cs typeface="Noto Sans Arabic" pitchFamily="34" charset="-120"/>
              </a:rPr>
              <a:t>١</a:t>
            </a:r>
            <a:endParaRPr lang="ar-JO" sz="2200" dirty="0"/>
          </a:p>
        </p:txBody>
      </p:sp>
      <p:sp>
        <p:nvSpPr>
          <p:cNvPr id="4" name="Text 2"/>
          <p:cNvSpPr/>
          <p:nvPr/>
        </p:nvSpPr>
        <p:spPr>
          <a:xfrm>
            <a:off x="2423160" y="1161288"/>
            <a:ext cx="2651760" cy="548640"/>
          </a:xfrm>
          <a:prstGeom prst="rect">
            <a:avLst/>
          </a:prstGeom>
          <a:noFill/>
          <a:ln/>
        </p:spPr>
        <p:txBody>
          <a:bodyPr wrap="square" lIns="0" tIns="0" rIns="0" bIns="0" rtlCol="0" anchor="ctr"/>
          <a:lstStyle/>
          <a:p>
            <a:pPr rtl="1" algn="r" indent="0" marL="0">
              <a:buNone/>
            </a:pPr>
            <a:r>
              <a:rPr lang="ar-JO" altLang="en-US" sz="2200" b="1" dirty="0">
                <a:solidFill>
                  <a:srgbClr val="F2F4F6"/>
                </a:solidFill>
                <a:latin typeface="Noto Sans Arabic" pitchFamily="34" charset="0"/>
                <a:ea typeface="Noto Sans Arabic" pitchFamily="34" charset="-122"/>
                <a:cs typeface="Noto Sans Arabic" pitchFamily="34" charset="-120"/>
              </a:rPr>
              <a:t>المطلب الوطني</a:t>
            </a:r>
            <a:endParaRPr lang="ar-JO" sz="2200" dirty="0"/>
          </a:p>
        </p:txBody>
      </p:sp>
      <p:sp>
        <p:nvSpPr>
          <p:cNvPr id="5" name="Text 3"/>
          <p:cNvSpPr/>
          <p:nvPr/>
        </p:nvSpPr>
        <p:spPr>
          <a:xfrm>
            <a:off x="1234440" y="2761488"/>
            <a:ext cx="914400" cy="548640"/>
          </a:xfrm>
          <a:prstGeom prst="rect">
            <a:avLst/>
          </a:prstGeom>
          <a:noFill/>
          <a:ln/>
        </p:spPr>
        <p:txBody>
          <a:bodyPr wrap="square" lIns="0" tIns="0" rIns="0" bIns="0" rtlCol="0" anchor="ctr"/>
          <a:lstStyle/>
          <a:p>
            <a:pPr rtl="1" algn="ctr" indent="0" marL="0">
              <a:buNone/>
            </a:pPr>
            <a:r>
              <a:rPr lang="ar-JO" altLang="en-US" sz="2200" b="1" dirty="0">
                <a:solidFill>
                  <a:srgbClr val="6DD5C1"/>
                </a:solidFill>
                <a:latin typeface="Noto Sans Arabic" pitchFamily="34" charset="0"/>
                <a:ea typeface="Noto Sans Arabic" pitchFamily="34" charset="-122"/>
                <a:cs typeface="Noto Sans Arabic" pitchFamily="34" charset="-120"/>
              </a:rPr>
              <a:t>٢</a:t>
            </a:r>
            <a:endParaRPr lang="ar-JO" sz="2200" dirty="0"/>
          </a:p>
        </p:txBody>
      </p:sp>
      <p:sp>
        <p:nvSpPr>
          <p:cNvPr id="6" name="Text 4"/>
          <p:cNvSpPr/>
          <p:nvPr/>
        </p:nvSpPr>
        <p:spPr>
          <a:xfrm>
            <a:off x="2423160" y="2761488"/>
            <a:ext cx="2651760" cy="548640"/>
          </a:xfrm>
          <a:prstGeom prst="rect">
            <a:avLst/>
          </a:prstGeom>
          <a:noFill/>
          <a:ln/>
        </p:spPr>
        <p:txBody>
          <a:bodyPr wrap="square" lIns="0" tIns="0" rIns="0" bIns="0" rtlCol="0" anchor="ctr"/>
          <a:lstStyle/>
          <a:p>
            <a:pPr rtl="1" algn="r" indent="0" marL="0">
              <a:buNone/>
            </a:pPr>
            <a:r>
              <a:rPr lang="ar-JO" altLang="en-US" sz="2200" b="1" dirty="0">
                <a:solidFill>
                  <a:srgbClr val="F2F4F6"/>
                </a:solidFill>
                <a:latin typeface="Noto Sans Arabic" pitchFamily="34" charset="0"/>
                <a:ea typeface="Noto Sans Arabic" pitchFamily="34" charset="-122"/>
                <a:cs typeface="Noto Sans Arabic" pitchFamily="34" charset="-120"/>
              </a:rPr>
              <a:t>المصالح الوطنية</a:t>
            </a:r>
            <a:endParaRPr lang="ar-JO" sz="2200" dirty="0"/>
          </a:p>
        </p:txBody>
      </p:sp>
      <p:sp>
        <p:nvSpPr>
          <p:cNvPr id="7" name="Text 5"/>
          <p:cNvSpPr/>
          <p:nvPr/>
        </p:nvSpPr>
        <p:spPr>
          <a:xfrm>
            <a:off x="1234440" y="4361688"/>
            <a:ext cx="914400" cy="548640"/>
          </a:xfrm>
          <a:prstGeom prst="rect">
            <a:avLst/>
          </a:prstGeom>
          <a:noFill/>
          <a:ln/>
        </p:spPr>
        <p:txBody>
          <a:bodyPr wrap="square" lIns="0" tIns="0" rIns="0" bIns="0" rtlCol="0" anchor="ctr"/>
          <a:lstStyle/>
          <a:p>
            <a:pPr rtl="1" algn="ctr" indent="0" marL="0">
              <a:buNone/>
            </a:pPr>
            <a:r>
              <a:rPr lang="ar-JO" altLang="en-US" sz="2200" b="1" dirty="0">
                <a:solidFill>
                  <a:srgbClr val="6DD5C1"/>
                </a:solidFill>
                <a:latin typeface="Noto Sans Arabic" pitchFamily="34" charset="0"/>
                <a:ea typeface="Noto Sans Arabic" pitchFamily="34" charset="-122"/>
                <a:cs typeface="Noto Sans Arabic" pitchFamily="34" charset="-120"/>
              </a:rPr>
              <a:t>٣</a:t>
            </a:r>
            <a:endParaRPr lang="ar-JO" sz="2200" dirty="0"/>
          </a:p>
        </p:txBody>
      </p:sp>
      <p:sp>
        <p:nvSpPr>
          <p:cNvPr id="8" name="Text 6"/>
          <p:cNvSpPr/>
          <p:nvPr/>
        </p:nvSpPr>
        <p:spPr>
          <a:xfrm>
            <a:off x="2423160" y="4361688"/>
            <a:ext cx="2651760" cy="548640"/>
          </a:xfrm>
          <a:prstGeom prst="rect">
            <a:avLst/>
          </a:prstGeom>
          <a:noFill/>
          <a:ln/>
        </p:spPr>
        <p:txBody>
          <a:bodyPr wrap="square" lIns="0" tIns="0" rIns="0" bIns="0" rtlCol="0" anchor="ctr"/>
          <a:lstStyle/>
          <a:p>
            <a:pPr rtl="1" algn="r" indent="0" marL="0">
              <a:buNone/>
            </a:pPr>
            <a:r>
              <a:rPr lang="ar-JO" altLang="en-US" sz="2200" b="1" dirty="0">
                <a:solidFill>
                  <a:srgbClr val="F2F4F6"/>
                </a:solidFill>
                <a:latin typeface="Noto Sans Arabic" pitchFamily="34" charset="0"/>
                <a:ea typeface="Noto Sans Arabic" pitchFamily="34" charset="-122"/>
                <a:cs typeface="Noto Sans Arabic" pitchFamily="34" charset="-120"/>
              </a:rPr>
              <a:t>الأهداف الوطنية</a:t>
            </a:r>
            <a:endParaRPr lang="ar-JO" sz="2200" dirty="0"/>
          </a:p>
        </p:txBody>
      </p:sp>
      <p:sp>
        <p:nvSpPr>
          <p:cNvPr id="9" name="Text 7"/>
          <p:cNvSpPr/>
          <p:nvPr/>
        </p:nvSpPr>
        <p:spPr>
          <a:xfrm>
            <a:off x="1234440" y="5961888"/>
            <a:ext cx="914400" cy="548640"/>
          </a:xfrm>
          <a:prstGeom prst="rect">
            <a:avLst/>
          </a:prstGeom>
          <a:noFill/>
          <a:ln/>
        </p:spPr>
        <p:txBody>
          <a:bodyPr wrap="square" lIns="0" tIns="0" rIns="0" bIns="0" rtlCol="0" anchor="ctr"/>
          <a:lstStyle/>
          <a:p>
            <a:pPr rtl="1" algn="ctr" indent="0" marL="0">
              <a:buNone/>
            </a:pPr>
            <a:r>
              <a:rPr lang="ar-JO" altLang="en-US" sz="2200" b="1" dirty="0">
                <a:solidFill>
                  <a:srgbClr val="6DD5C1"/>
                </a:solidFill>
                <a:latin typeface="Noto Sans Arabic" pitchFamily="34" charset="0"/>
                <a:ea typeface="Noto Sans Arabic" pitchFamily="34" charset="-122"/>
                <a:cs typeface="Noto Sans Arabic" pitchFamily="34" charset="-120"/>
              </a:rPr>
              <a:t>٤</a:t>
            </a:r>
            <a:endParaRPr lang="ar-JO" sz="2200" dirty="0"/>
          </a:p>
        </p:txBody>
      </p:sp>
      <p:sp>
        <p:nvSpPr>
          <p:cNvPr id="10" name="Text 8"/>
          <p:cNvSpPr/>
          <p:nvPr/>
        </p:nvSpPr>
        <p:spPr>
          <a:xfrm>
            <a:off x="2423160" y="5961888"/>
            <a:ext cx="2651760" cy="548640"/>
          </a:xfrm>
          <a:prstGeom prst="rect">
            <a:avLst/>
          </a:prstGeom>
          <a:noFill/>
          <a:ln/>
        </p:spPr>
        <p:txBody>
          <a:bodyPr wrap="square" lIns="0" tIns="0" rIns="0" bIns="0" rtlCol="0" anchor="ctr"/>
          <a:lstStyle/>
          <a:p>
            <a:pPr rtl="1" algn="r" indent="0" marL="0">
              <a:buNone/>
            </a:pPr>
            <a:r>
              <a:rPr lang="ar-JO" altLang="en-US" sz="2200" b="1" dirty="0">
                <a:solidFill>
                  <a:srgbClr val="F2F4F6"/>
                </a:solidFill>
                <a:latin typeface="Noto Sans Arabic" pitchFamily="34" charset="0"/>
                <a:ea typeface="Noto Sans Arabic" pitchFamily="34" charset="-122"/>
                <a:cs typeface="Noto Sans Arabic" pitchFamily="34" charset="-120"/>
              </a:rPr>
              <a:t>الاتجاهات العامة</a:t>
            </a:r>
            <a:endParaRPr lang="ar-JO" sz="2200" dirty="0"/>
          </a:p>
        </p:txBody>
      </p:sp>
      <p:sp>
        <p:nvSpPr>
          <p:cNvPr id="11" name="Shape 9"/>
          <p:cNvSpPr/>
          <p:nvPr/>
        </p:nvSpPr>
        <p:spPr>
          <a:xfrm>
            <a:off x="1325880" y="2167128"/>
            <a:ext cx="3749040" cy="13716"/>
          </a:xfrm>
          <a:prstGeom prst="rect">
            <a:avLst/>
          </a:prstGeom>
          <a:solidFill>
            <a:srgbClr val="303744"/>
          </a:solidFill>
          <a:ln w="12700">
            <a:solidFill>
              <a:srgbClr val="303744"/>
            </a:solidFill>
            <a:prstDash val="solid"/>
          </a:ln>
        </p:spPr>
      </p:sp>
      <p:sp>
        <p:nvSpPr>
          <p:cNvPr id="12" name="Shape 10"/>
          <p:cNvSpPr/>
          <p:nvPr/>
        </p:nvSpPr>
        <p:spPr>
          <a:xfrm>
            <a:off x="1325880" y="3767328"/>
            <a:ext cx="3749040" cy="13716"/>
          </a:xfrm>
          <a:prstGeom prst="rect">
            <a:avLst/>
          </a:prstGeom>
          <a:solidFill>
            <a:srgbClr val="303744"/>
          </a:solidFill>
          <a:ln w="12700">
            <a:solidFill>
              <a:srgbClr val="303744"/>
            </a:solidFill>
            <a:prstDash val="solid"/>
          </a:ln>
        </p:spPr>
      </p:sp>
      <p:sp>
        <p:nvSpPr>
          <p:cNvPr id="13" name="Shape 11"/>
          <p:cNvSpPr/>
          <p:nvPr/>
        </p:nvSpPr>
        <p:spPr>
          <a:xfrm>
            <a:off x="1325880" y="5367528"/>
            <a:ext cx="3749040" cy="13716"/>
          </a:xfrm>
          <a:prstGeom prst="rect">
            <a:avLst/>
          </a:prstGeom>
          <a:solidFill>
            <a:srgbClr val="303744"/>
          </a:solidFill>
          <a:ln w="12700">
            <a:solidFill>
              <a:srgbClr val="303744"/>
            </a:solidFill>
            <a:prstDash val="solid"/>
          </a:ln>
        </p:spPr>
      </p:sp>
      <p:sp>
        <p:nvSpPr>
          <p:cNvPr id="14" name="Shape 12"/>
          <p:cNvSpPr/>
          <p:nvPr/>
        </p:nvSpPr>
        <p:spPr>
          <a:xfrm>
            <a:off x="13514832" y="1417320"/>
            <a:ext cx="146304" cy="475488"/>
          </a:xfrm>
          <a:prstGeom prst="rect">
            <a:avLst/>
          </a:prstGeom>
          <a:solidFill>
            <a:srgbClr val="6DD5C1"/>
          </a:solidFill>
          <a:ln w="12700">
            <a:solidFill>
              <a:srgbClr val="6DD5C1"/>
            </a:solidFill>
            <a:prstDash val="solid"/>
          </a:ln>
        </p:spPr>
      </p:sp>
      <p:sp>
        <p:nvSpPr>
          <p:cNvPr id="15" name="Text 13"/>
          <p:cNvSpPr/>
          <p:nvPr/>
        </p:nvSpPr>
        <p:spPr>
          <a:xfrm>
            <a:off x="7406640" y="1399032"/>
            <a:ext cx="5806440" cy="530352"/>
          </a:xfrm>
          <a:prstGeom prst="rect">
            <a:avLst/>
          </a:prstGeom>
          <a:noFill/>
          <a:ln/>
        </p:spPr>
        <p:txBody>
          <a:bodyPr wrap="square" lIns="0" tIns="0" rIns="0" bIns="0" rtlCol="0" anchor="ctr"/>
          <a:lstStyle/>
          <a:p>
            <a:pPr rtl="1" algn="r" indent="0" marL="0">
              <a:buNone/>
            </a:pPr>
            <a:r>
              <a:rPr lang="ar-JO" altLang="en-US" sz="1600" b="1" dirty="0">
                <a:solidFill>
                  <a:srgbClr val="6DD5C1"/>
                </a:solidFill>
                <a:latin typeface="Noto Sans Arabic" pitchFamily="34" charset="0"/>
                <a:ea typeface="Noto Sans Arabic" pitchFamily="34" charset="-122"/>
                <a:cs typeface="Noto Sans Arabic" pitchFamily="34" charset="-120"/>
              </a:rPr>
              <a:t>الحكومة (ج) · عرض تدريبي</a:t>
            </a:r>
            <a:endParaRPr lang="ar-JO" sz="1600" dirty="0"/>
          </a:p>
        </p:txBody>
      </p:sp>
      <p:sp>
        <p:nvSpPr>
          <p:cNvPr id="16" name="Text 14"/>
          <p:cNvSpPr/>
          <p:nvPr/>
        </p:nvSpPr>
        <p:spPr>
          <a:xfrm>
            <a:off x="7132320" y="2212848"/>
            <a:ext cx="6537960" cy="2240280"/>
          </a:xfrm>
          <a:prstGeom prst="rect">
            <a:avLst/>
          </a:prstGeom>
          <a:noFill/>
          <a:ln/>
        </p:spPr>
        <p:txBody>
          <a:bodyPr wrap="square" lIns="0" tIns="0" rIns="0" bIns="0" rtlCol="0" anchor="ctr"/>
          <a:lstStyle/>
          <a:p>
            <a:pPr rtl="1" algn="r" indent="0" marL="0">
              <a:lnSpc>
                <a:spcPct val="110000"/>
              </a:lnSpc>
              <a:buNone/>
            </a:pPr>
            <a:r>
              <a:rPr lang="ar-JO" altLang="en-US" sz="5100" b="1" dirty="0">
                <a:solidFill>
                  <a:srgbClr val="F2F4F6"/>
                </a:solidFill>
                <a:latin typeface="Noto Sans Arabic" pitchFamily="34" charset="0"/>
                <a:ea typeface="Noto Sans Arabic" pitchFamily="34" charset="-122"/>
                <a:cs typeface="Noto Sans Arabic" pitchFamily="34" charset="-120"/>
              </a:rPr>
              <a:t>السياسة</a:t>
            </a:r>
            <a:endParaRPr lang="ar-JO" sz="5100" dirty="0"/>
          </a:p>
          <a:p>
            <a:pPr rtl="1" algn="r" indent="0" marL="0">
              <a:lnSpc>
                <a:spcPct val="110000"/>
              </a:lnSpc>
              <a:buNone/>
            </a:pPr>
            <a:r>
              <a:rPr lang="ar-JO" altLang="en-US" sz="5100" b="1" dirty="0">
                <a:solidFill>
                  <a:srgbClr val="F2F4F6"/>
                </a:solidFill>
                <a:latin typeface="Noto Sans Arabic" pitchFamily="34" charset="0"/>
                <a:ea typeface="Noto Sans Arabic" pitchFamily="34" charset="-122"/>
                <a:cs typeface="Noto Sans Arabic" pitchFamily="34" charset="-120"/>
              </a:rPr>
              <a:t>الوطنية</a:t>
            </a:r>
            <a:endParaRPr lang="ar-JO" sz="5100" dirty="0"/>
          </a:p>
        </p:txBody>
      </p:sp>
      <p:sp>
        <p:nvSpPr>
          <p:cNvPr id="17" name="Text 15"/>
          <p:cNvSpPr/>
          <p:nvPr/>
        </p:nvSpPr>
        <p:spPr>
          <a:xfrm>
            <a:off x="7132320" y="4818888"/>
            <a:ext cx="6537960" cy="658368"/>
          </a:xfrm>
          <a:prstGeom prst="rect">
            <a:avLst/>
          </a:prstGeom>
          <a:noFill/>
          <a:ln/>
        </p:spPr>
        <p:txBody>
          <a:bodyPr wrap="square" lIns="0" tIns="0" rIns="0" bIns="0" rtlCol="0" anchor="ctr"/>
          <a:lstStyle/>
          <a:p>
            <a:pPr rtl="1" algn="r" indent="0" marL="0">
              <a:buNone/>
            </a:pPr>
            <a:r>
              <a:rPr lang="ar-JO" altLang="en-US" sz="2500" dirty="0">
                <a:solidFill>
                  <a:srgbClr val="F2F4F6"/>
                </a:solidFill>
                <a:latin typeface="Noto Sans Arabic" pitchFamily="34" charset="0"/>
                <a:ea typeface="Noto Sans Arabic" pitchFamily="34" charset="-122"/>
                <a:cs typeface="Noto Sans Arabic" pitchFamily="34" charset="-120"/>
              </a:rPr>
              <a:t>المحاور من الأول إلى الرابع</a:t>
            </a:r>
            <a:endParaRPr lang="ar-JO" sz="2500" dirty="0"/>
          </a:p>
        </p:txBody>
      </p:sp>
      <p:sp>
        <p:nvSpPr>
          <p:cNvPr id="18" name="Text 16"/>
          <p:cNvSpPr/>
          <p:nvPr/>
        </p:nvSpPr>
        <p:spPr>
          <a:xfrm>
            <a:off x="7132320" y="5669280"/>
            <a:ext cx="6537960" cy="484632"/>
          </a:xfrm>
          <a:prstGeom prst="rect">
            <a:avLst/>
          </a:prstGeom>
          <a:noFill/>
          <a:ln/>
        </p:spPr>
        <p:txBody>
          <a:bodyPr wrap="square" lIns="0" tIns="0" rIns="0" bIns="0" rtlCol="0" anchor="ctr"/>
          <a:lstStyle/>
          <a:p>
            <a:pPr rtl="1" algn="r" indent="0" marL="0">
              <a:buNone/>
            </a:pPr>
            <a:r>
              <a:rPr lang="ar-JO" altLang="en-US" sz="1600" dirty="0">
                <a:solidFill>
                  <a:srgbClr val="A8B1BF"/>
                </a:solidFill>
                <a:latin typeface="Noto Sans Arabic" pitchFamily="34" charset="0"/>
                <a:ea typeface="Noto Sans Arabic" pitchFamily="34" charset="-122"/>
                <a:cs typeface="Noto Sans Arabic" pitchFamily="34" charset="-120"/>
              </a:rPr>
              <a:t>عرض تفصيلي · ثلاثون دقيقة</a:t>
            </a:r>
            <a:endParaRPr lang="ar-JO" sz="1600" dirty="0"/>
          </a:p>
        </p:txBody>
      </p:sp>
      <p:sp>
        <p:nvSpPr>
          <p:cNvPr id="19" name="Shape 17"/>
          <p:cNvSpPr/>
          <p:nvPr/>
        </p:nvSpPr>
        <p:spPr>
          <a:xfrm>
            <a:off x="9875520" y="6510528"/>
            <a:ext cx="3794760" cy="32004"/>
          </a:xfrm>
          <a:prstGeom prst="rect">
            <a:avLst/>
          </a:prstGeom>
          <a:solidFill>
            <a:srgbClr val="6DD5C1"/>
          </a:solidFill>
          <a:ln w="12700">
            <a:solidFill>
              <a:srgbClr val="6DD5C1"/>
            </a:solidFill>
            <a:prstDash val="solid"/>
          </a:ln>
        </p:spPr>
      </p:sp>
      <p:sp>
        <p:nvSpPr>
          <p:cNvPr id="20" name="Text 18"/>
          <p:cNvSpPr/>
          <p:nvPr/>
        </p:nvSpPr>
        <p:spPr>
          <a:xfrm>
            <a:off x="6035040" y="6839712"/>
            <a:ext cx="7635240" cy="457200"/>
          </a:xfrm>
          <a:prstGeom prst="rect">
            <a:avLst/>
          </a:prstGeom>
          <a:noFill/>
          <a:ln/>
        </p:spPr>
        <p:txBody>
          <a:bodyPr wrap="square" lIns="0" tIns="0" rIns="0" bIns="0" rtlCol="0" anchor="ctr"/>
          <a:lstStyle/>
          <a:p>
            <a:pPr rtl="1" algn="r" indent="0" marL="0">
              <a:buNone/>
            </a:pPr>
            <a:r>
              <a:rPr lang="ar-JO" altLang="en-US" sz="1200" dirty="0">
                <a:solidFill>
                  <a:srgbClr val="A8B1BF"/>
                </a:solidFill>
                <a:latin typeface="Noto Sans Arabic" pitchFamily="34" charset="0"/>
                <a:ea typeface="Noto Sans Arabic" pitchFamily="34" charset="-122"/>
                <a:cs typeface="Noto Sans Arabic" pitchFamily="34" charset="-120"/>
              </a:rPr>
              <a:t>المصدر: السياسة الوطنية — صالح كريشان</a:t>
            </a:r>
            <a:endParaRPr lang="ar-JO" sz="1200" dirty="0"/>
          </a:p>
        </p:txBody>
      </p:sp>
      <p:sp>
        <p:nvSpPr>
          <p:cNvPr id="21" name="Text 19"/>
          <p:cNvSpPr/>
          <p:nvPr/>
        </p:nvSpPr>
        <p:spPr>
          <a:xfrm>
            <a:off x="9418320" y="7479792"/>
            <a:ext cx="4251960" cy="320040"/>
          </a:xfrm>
          <a:prstGeom prst="rect">
            <a:avLst/>
          </a:prstGeom>
          <a:noFill/>
          <a:ln/>
        </p:spPr>
        <p:txBody>
          <a:bodyPr wrap="square" lIns="0" tIns="0" rIns="0" bIns="0" rtlCol="0" anchor="ctr"/>
          <a:lstStyle/>
          <a:p>
            <a:pPr rtl="1" algn="r" indent="0" marL="0">
              <a:buNone/>
            </a:pPr>
            <a:r>
              <a:rPr lang="ar-JO" altLang="en-US" sz="12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خريطة العرض</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مسار العرض · ثلاثون دقيقة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٢–٩</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02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٣٠ ثانية</a:t>
            </a:r>
            <a:endParaRPr lang="ar-JO" sz="1100" dirty="0"/>
          </a:p>
        </p:txBody>
      </p:sp>
      <p:sp>
        <p:nvSpPr>
          <p:cNvPr id="11" name="Shape 9"/>
          <p:cNvSpPr/>
          <p:nvPr/>
        </p:nvSpPr>
        <p:spPr>
          <a:xfrm>
            <a:off x="594360" y="7653528"/>
            <a:ext cx="814647" cy="32004"/>
          </a:xfrm>
          <a:prstGeom prst="rect">
            <a:avLst/>
          </a:prstGeom>
          <a:solidFill>
            <a:srgbClr val="6DD5C1"/>
          </a:solidFill>
          <a:ln w="12700">
            <a:solidFill>
              <a:srgbClr val="6DD5C1"/>
            </a:solidFill>
            <a:prstDash val="solid"/>
          </a:ln>
        </p:spPr>
      </p:sp>
      <p:sp>
        <p:nvSpPr>
          <p:cNvPr id="12" name="Shape 10"/>
          <p:cNvSpPr/>
          <p:nvPr/>
        </p:nvSpPr>
        <p:spPr>
          <a:xfrm>
            <a:off x="10991088" y="2377440"/>
            <a:ext cx="3035808" cy="3520440"/>
          </a:xfrm>
          <a:prstGeom prst="rect">
            <a:avLst/>
          </a:prstGeom>
          <a:solidFill>
            <a:srgbClr val="1B2028"/>
          </a:solidFill>
          <a:ln w="12700">
            <a:solidFill>
              <a:srgbClr val="1B2028"/>
            </a:solidFill>
            <a:prstDash val="solid"/>
          </a:ln>
        </p:spPr>
      </p:sp>
      <p:sp>
        <p:nvSpPr>
          <p:cNvPr id="13" name="Shape 11"/>
          <p:cNvSpPr/>
          <p:nvPr/>
        </p:nvSpPr>
        <p:spPr>
          <a:xfrm>
            <a:off x="12938760" y="2660904"/>
            <a:ext cx="612648" cy="484632"/>
          </a:xfrm>
          <a:prstGeom prst="rect">
            <a:avLst/>
          </a:prstGeom>
          <a:solidFill>
            <a:srgbClr val="6DD5C1"/>
          </a:solidFill>
          <a:ln w="12700">
            <a:solidFill>
              <a:srgbClr val="6DD5C1"/>
            </a:solidFill>
            <a:prstDash val="solid"/>
          </a:ln>
        </p:spPr>
      </p:sp>
      <p:sp>
        <p:nvSpPr>
          <p:cNvPr id="14" name="Text 12"/>
          <p:cNvSpPr/>
          <p:nvPr/>
        </p:nvSpPr>
        <p:spPr>
          <a:xfrm>
            <a:off x="12938760" y="2660904"/>
            <a:ext cx="612648"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1</a:t>
            </a:r>
            <a:endParaRPr lang="ar-JO" sz="1800" dirty="0"/>
          </a:p>
        </p:txBody>
      </p:sp>
      <p:sp>
        <p:nvSpPr>
          <p:cNvPr id="15" name="Text 13"/>
          <p:cNvSpPr/>
          <p:nvPr/>
        </p:nvSpPr>
        <p:spPr>
          <a:xfrm>
            <a:off x="11201400" y="3520440"/>
            <a:ext cx="2615184" cy="502920"/>
          </a:xfrm>
          <a:prstGeom prst="rect">
            <a:avLst/>
          </a:prstGeom>
          <a:noFill/>
          <a:ln/>
        </p:spPr>
        <p:txBody>
          <a:bodyPr wrap="square" lIns="0" tIns="0" rIns="0" bIns="0" rtlCol="0" anchor="ctr"/>
          <a:lstStyle/>
          <a:p>
            <a:pPr rtl="1" algn="r" indent="0" marL="0">
              <a:buNone/>
            </a:pPr>
            <a:r>
              <a:rPr lang="ar-JO" altLang="en-US" sz="2300" b="1" dirty="0">
                <a:solidFill>
                  <a:srgbClr val="F2F4F6"/>
                </a:solidFill>
                <a:latin typeface="Noto Sans Arabic" pitchFamily="34" charset="0"/>
                <a:ea typeface="Noto Sans Arabic" pitchFamily="34" charset="-122"/>
                <a:cs typeface="Noto Sans Arabic" pitchFamily="34" charset="-120"/>
              </a:rPr>
              <a:t>المطلب الوطني</a:t>
            </a:r>
            <a:endParaRPr lang="ar-JO" sz="2300" dirty="0"/>
          </a:p>
        </p:txBody>
      </p:sp>
      <p:sp>
        <p:nvSpPr>
          <p:cNvPr id="16" name="Text 14"/>
          <p:cNvSpPr/>
          <p:nvPr/>
        </p:nvSpPr>
        <p:spPr>
          <a:xfrm>
            <a:off x="11201400" y="4169664"/>
            <a:ext cx="2615184" cy="704088"/>
          </a:xfrm>
          <a:prstGeom prst="rect">
            <a:avLst/>
          </a:prstGeom>
          <a:noFill/>
          <a:ln/>
        </p:spPr>
        <p:txBody>
          <a:bodyPr wrap="square" lIns="0" tIns="0" rIns="0" bIns="0" rtlCol="0" anchor="ctr"/>
          <a:lstStyle/>
          <a:p>
            <a:pPr rtl="1" algn="r" indent="0" marL="0">
              <a:buNone/>
            </a:pPr>
            <a:r>
              <a:rPr lang="ar-JO" altLang="en-US" sz="1500" dirty="0">
                <a:solidFill>
                  <a:srgbClr val="A8B1BF"/>
                </a:solidFill>
                <a:latin typeface="Noto Sans Arabic" pitchFamily="34" charset="0"/>
                <a:ea typeface="Noto Sans Arabic" pitchFamily="34" charset="-122"/>
                <a:cs typeface="Noto Sans Arabic" pitchFamily="34" charset="-120"/>
              </a:rPr>
              <a:t>النص المحدد للمطلب</a:t>
            </a:r>
            <a:endParaRPr lang="ar-JO" sz="1500" dirty="0"/>
          </a:p>
        </p:txBody>
      </p:sp>
      <p:sp>
        <p:nvSpPr>
          <p:cNvPr id="17" name="Text 15"/>
          <p:cNvSpPr/>
          <p:nvPr/>
        </p:nvSpPr>
        <p:spPr>
          <a:xfrm>
            <a:off x="11201400" y="5120640"/>
            <a:ext cx="2615184" cy="457200"/>
          </a:xfrm>
          <a:prstGeom prst="rect">
            <a:avLst/>
          </a:prstGeom>
          <a:noFill/>
          <a:ln/>
        </p:spPr>
        <p:txBody>
          <a:bodyPr wrap="square" lIns="0" tIns="0" rIns="0" bIns="0" rtlCol="0" anchor="ctr"/>
          <a:lstStyle/>
          <a:p>
            <a:pPr rtl="1" algn="r" indent="0" marL="0">
              <a:buNone/>
            </a:pPr>
            <a:r>
              <a:rPr lang="ar-JO" altLang="en-US" sz="2000" b="1" dirty="0">
                <a:solidFill>
                  <a:srgbClr val="6DD5C1"/>
                </a:solidFill>
                <a:latin typeface="Noto Sans Arabic" pitchFamily="34" charset="0"/>
                <a:ea typeface="Noto Sans Arabic" pitchFamily="34" charset="-122"/>
                <a:cs typeface="Noto Sans Arabic" pitchFamily="34" charset="-120"/>
              </a:rPr>
              <a:t>١ دقيقة</a:t>
            </a:r>
            <a:endParaRPr lang="ar-JO" sz="2000" dirty="0"/>
          </a:p>
        </p:txBody>
      </p:sp>
      <p:sp>
        <p:nvSpPr>
          <p:cNvPr id="18" name="Shape 16"/>
          <p:cNvSpPr/>
          <p:nvPr/>
        </p:nvSpPr>
        <p:spPr>
          <a:xfrm>
            <a:off x="7525512" y="2377440"/>
            <a:ext cx="3035808" cy="3520440"/>
          </a:xfrm>
          <a:prstGeom prst="rect">
            <a:avLst/>
          </a:prstGeom>
          <a:solidFill>
            <a:srgbClr val="1B2028"/>
          </a:solidFill>
          <a:ln w="12700">
            <a:solidFill>
              <a:srgbClr val="1B2028"/>
            </a:solidFill>
            <a:prstDash val="solid"/>
          </a:ln>
        </p:spPr>
      </p:sp>
      <p:sp>
        <p:nvSpPr>
          <p:cNvPr id="19" name="Shape 17"/>
          <p:cNvSpPr/>
          <p:nvPr/>
        </p:nvSpPr>
        <p:spPr>
          <a:xfrm>
            <a:off x="9473184" y="2660904"/>
            <a:ext cx="612648" cy="484632"/>
          </a:xfrm>
          <a:prstGeom prst="rect">
            <a:avLst/>
          </a:prstGeom>
          <a:solidFill>
            <a:srgbClr val="6DD5C1"/>
          </a:solidFill>
          <a:ln w="12700">
            <a:solidFill>
              <a:srgbClr val="6DD5C1"/>
            </a:solidFill>
            <a:prstDash val="solid"/>
          </a:ln>
        </p:spPr>
      </p:sp>
      <p:sp>
        <p:nvSpPr>
          <p:cNvPr id="20" name="Text 18"/>
          <p:cNvSpPr/>
          <p:nvPr/>
        </p:nvSpPr>
        <p:spPr>
          <a:xfrm>
            <a:off x="9473184" y="2660904"/>
            <a:ext cx="612648"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2</a:t>
            </a:r>
            <a:endParaRPr lang="ar-JO" sz="1800" dirty="0"/>
          </a:p>
        </p:txBody>
      </p:sp>
      <p:sp>
        <p:nvSpPr>
          <p:cNvPr id="21" name="Text 19"/>
          <p:cNvSpPr/>
          <p:nvPr/>
        </p:nvSpPr>
        <p:spPr>
          <a:xfrm>
            <a:off x="7735824" y="3520440"/>
            <a:ext cx="2615184" cy="502920"/>
          </a:xfrm>
          <a:prstGeom prst="rect">
            <a:avLst/>
          </a:prstGeom>
          <a:noFill/>
          <a:ln/>
        </p:spPr>
        <p:txBody>
          <a:bodyPr wrap="square" lIns="0" tIns="0" rIns="0" bIns="0" rtlCol="0" anchor="ctr"/>
          <a:lstStyle/>
          <a:p>
            <a:pPr rtl="1" algn="r" indent="0" marL="0">
              <a:buNone/>
            </a:pPr>
            <a:r>
              <a:rPr lang="ar-JO" altLang="en-US" sz="2300" b="1" dirty="0">
                <a:solidFill>
                  <a:srgbClr val="F2F4F6"/>
                </a:solidFill>
                <a:latin typeface="Noto Sans Arabic" pitchFamily="34" charset="0"/>
                <a:ea typeface="Noto Sans Arabic" pitchFamily="34" charset="-122"/>
                <a:cs typeface="Noto Sans Arabic" pitchFamily="34" charset="-120"/>
              </a:rPr>
              <a:t>المصالح الوطنية</a:t>
            </a:r>
            <a:endParaRPr lang="ar-JO" sz="2300" dirty="0"/>
          </a:p>
        </p:txBody>
      </p:sp>
      <p:sp>
        <p:nvSpPr>
          <p:cNvPr id="22" name="Text 20"/>
          <p:cNvSpPr/>
          <p:nvPr/>
        </p:nvSpPr>
        <p:spPr>
          <a:xfrm>
            <a:off x="7735824" y="4169664"/>
            <a:ext cx="2615184" cy="704088"/>
          </a:xfrm>
          <a:prstGeom prst="rect">
            <a:avLst/>
          </a:prstGeom>
          <a:noFill/>
          <a:ln/>
        </p:spPr>
        <p:txBody>
          <a:bodyPr wrap="square" lIns="0" tIns="0" rIns="0" bIns="0" rtlCol="0" anchor="ctr"/>
          <a:lstStyle/>
          <a:p>
            <a:pPr rtl="1" algn="r" indent="0" marL="0">
              <a:buNone/>
            </a:pPr>
            <a:r>
              <a:rPr lang="ar-JO" altLang="en-US" sz="1500" dirty="0">
                <a:solidFill>
                  <a:srgbClr val="A8B1BF"/>
                </a:solidFill>
                <a:latin typeface="Noto Sans Arabic" pitchFamily="34" charset="0"/>
                <a:ea typeface="Noto Sans Arabic" pitchFamily="34" charset="-122"/>
                <a:cs typeface="Noto Sans Arabic" pitchFamily="34" charset="-120"/>
              </a:rPr>
              <a:t>الحيوية والأساسية والثانوية</a:t>
            </a:r>
            <a:endParaRPr lang="ar-JO" sz="1500" dirty="0"/>
          </a:p>
        </p:txBody>
      </p:sp>
      <p:sp>
        <p:nvSpPr>
          <p:cNvPr id="23" name="Text 21"/>
          <p:cNvSpPr/>
          <p:nvPr/>
        </p:nvSpPr>
        <p:spPr>
          <a:xfrm>
            <a:off x="7735824" y="5120640"/>
            <a:ext cx="2615184" cy="457200"/>
          </a:xfrm>
          <a:prstGeom prst="rect">
            <a:avLst/>
          </a:prstGeom>
          <a:noFill/>
          <a:ln/>
        </p:spPr>
        <p:txBody>
          <a:bodyPr wrap="square" lIns="0" tIns="0" rIns="0" bIns="0" rtlCol="0" anchor="ctr"/>
          <a:lstStyle/>
          <a:p>
            <a:pPr rtl="1" algn="r" indent="0" marL="0">
              <a:buNone/>
            </a:pPr>
            <a:r>
              <a:rPr lang="ar-JO" altLang="en-US" sz="2000" b="1" dirty="0">
                <a:solidFill>
                  <a:srgbClr val="6DD5C1"/>
                </a:solidFill>
                <a:latin typeface="Noto Sans Arabic" pitchFamily="34" charset="0"/>
                <a:ea typeface="Noto Sans Arabic" pitchFamily="34" charset="-122"/>
                <a:cs typeface="Noto Sans Arabic" pitchFamily="34" charset="-120"/>
              </a:rPr>
              <a:t>٧ دقائق</a:t>
            </a:r>
            <a:endParaRPr lang="ar-JO" sz="2000" dirty="0"/>
          </a:p>
        </p:txBody>
      </p:sp>
      <p:sp>
        <p:nvSpPr>
          <p:cNvPr id="24" name="Shape 22"/>
          <p:cNvSpPr/>
          <p:nvPr/>
        </p:nvSpPr>
        <p:spPr>
          <a:xfrm>
            <a:off x="4059936" y="2377440"/>
            <a:ext cx="3035808" cy="3520440"/>
          </a:xfrm>
          <a:prstGeom prst="rect">
            <a:avLst/>
          </a:prstGeom>
          <a:solidFill>
            <a:srgbClr val="1B2028"/>
          </a:solidFill>
          <a:ln w="12700">
            <a:solidFill>
              <a:srgbClr val="1B2028"/>
            </a:solidFill>
            <a:prstDash val="solid"/>
          </a:ln>
        </p:spPr>
      </p:sp>
      <p:sp>
        <p:nvSpPr>
          <p:cNvPr id="25" name="Shape 23"/>
          <p:cNvSpPr/>
          <p:nvPr/>
        </p:nvSpPr>
        <p:spPr>
          <a:xfrm>
            <a:off x="6007608" y="2660904"/>
            <a:ext cx="612648" cy="484632"/>
          </a:xfrm>
          <a:prstGeom prst="rect">
            <a:avLst/>
          </a:prstGeom>
          <a:solidFill>
            <a:srgbClr val="6DD5C1"/>
          </a:solidFill>
          <a:ln w="12700">
            <a:solidFill>
              <a:srgbClr val="6DD5C1"/>
            </a:solidFill>
            <a:prstDash val="solid"/>
          </a:ln>
        </p:spPr>
      </p:sp>
      <p:sp>
        <p:nvSpPr>
          <p:cNvPr id="26" name="Text 24"/>
          <p:cNvSpPr/>
          <p:nvPr/>
        </p:nvSpPr>
        <p:spPr>
          <a:xfrm>
            <a:off x="6007608" y="2660904"/>
            <a:ext cx="612648"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3</a:t>
            </a:r>
            <a:endParaRPr lang="ar-JO" sz="1800" dirty="0"/>
          </a:p>
        </p:txBody>
      </p:sp>
      <p:sp>
        <p:nvSpPr>
          <p:cNvPr id="27" name="Text 25"/>
          <p:cNvSpPr/>
          <p:nvPr/>
        </p:nvSpPr>
        <p:spPr>
          <a:xfrm>
            <a:off x="4270248" y="3520440"/>
            <a:ext cx="2615184" cy="502920"/>
          </a:xfrm>
          <a:prstGeom prst="rect">
            <a:avLst/>
          </a:prstGeom>
          <a:noFill/>
          <a:ln/>
        </p:spPr>
        <p:txBody>
          <a:bodyPr wrap="square" lIns="0" tIns="0" rIns="0" bIns="0" rtlCol="0" anchor="ctr"/>
          <a:lstStyle/>
          <a:p>
            <a:pPr rtl="1" algn="r" indent="0" marL="0">
              <a:buNone/>
            </a:pPr>
            <a:r>
              <a:rPr lang="ar-JO" altLang="en-US" sz="2300" b="1" dirty="0">
                <a:solidFill>
                  <a:srgbClr val="F2F4F6"/>
                </a:solidFill>
                <a:latin typeface="Noto Sans Arabic" pitchFamily="34" charset="0"/>
                <a:ea typeface="Noto Sans Arabic" pitchFamily="34" charset="-122"/>
                <a:cs typeface="Noto Sans Arabic" pitchFamily="34" charset="-120"/>
              </a:rPr>
              <a:t>الأهداف الوطنية</a:t>
            </a:r>
            <a:endParaRPr lang="ar-JO" sz="2300" dirty="0"/>
          </a:p>
        </p:txBody>
      </p:sp>
      <p:sp>
        <p:nvSpPr>
          <p:cNvPr id="28" name="Text 26"/>
          <p:cNvSpPr/>
          <p:nvPr/>
        </p:nvSpPr>
        <p:spPr>
          <a:xfrm>
            <a:off x="4270248" y="4169664"/>
            <a:ext cx="2615184" cy="704088"/>
          </a:xfrm>
          <a:prstGeom prst="rect">
            <a:avLst/>
          </a:prstGeom>
          <a:noFill/>
          <a:ln/>
        </p:spPr>
        <p:txBody>
          <a:bodyPr wrap="square" lIns="0" tIns="0" rIns="0" bIns="0" rtlCol="0" anchor="ctr"/>
          <a:lstStyle/>
          <a:p>
            <a:pPr rtl="1" algn="r" indent="0" marL="0">
              <a:buNone/>
            </a:pPr>
            <a:r>
              <a:rPr lang="ar-JO" altLang="en-US" sz="1500" dirty="0">
                <a:solidFill>
                  <a:srgbClr val="A8B1BF"/>
                </a:solidFill>
                <a:latin typeface="Noto Sans Arabic" pitchFamily="34" charset="0"/>
                <a:ea typeface="Noto Sans Arabic" pitchFamily="34" charset="-122"/>
                <a:cs typeface="Noto Sans Arabic" pitchFamily="34" charset="-120"/>
              </a:rPr>
              <a:t>المفهوم العام والأهداف التسعة والثلاثون</a:t>
            </a:r>
            <a:endParaRPr lang="ar-JO" sz="1500" dirty="0"/>
          </a:p>
        </p:txBody>
      </p:sp>
      <p:sp>
        <p:nvSpPr>
          <p:cNvPr id="29" name="Text 27"/>
          <p:cNvSpPr/>
          <p:nvPr/>
        </p:nvSpPr>
        <p:spPr>
          <a:xfrm>
            <a:off x="4270248" y="5120640"/>
            <a:ext cx="2615184" cy="457200"/>
          </a:xfrm>
          <a:prstGeom prst="rect">
            <a:avLst/>
          </a:prstGeom>
          <a:noFill/>
          <a:ln/>
        </p:spPr>
        <p:txBody>
          <a:bodyPr wrap="square" lIns="0" tIns="0" rIns="0" bIns="0" rtlCol="0" anchor="ctr"/>
          <a:lstStyle/>
          <a:p>
            <a:pPr rtl="1" algn="r" indent="0" marL="0">
              <a:buNone/>
            </a:pPr>
            <a:r>
              <a:rPr lang="ar-JO" altLang="en-US" sz="2000" b="1" dirty="0">
                <a:solidFill>
                  <a:srgbClr val="6DD5C1"/>
                </a:solidFill>
                <a:latin typeface="Noto Sans Arabic" pitchFamily="34" charset="0"/>
                <a:ea typeface="Noto Sans Arabic" pitchFamily="34" charset="-122"/>
                <a:cs typeface="Noto Sans Arabic" pitchFamily="34" charset="-120"/>
              </a:rPr>
              <a:t>١٤ دقيقة</a:t>
            </a:r>
            <a:endParaRPr lang="ar-JO" sz="2000" dirty="0"/>
          </a:p>
        </p:txBody>
      </p:sp>
      <p:sp>
        <p:nvSpPr>
          <p:cNvPr id="30" name="Shape 28"/>
          <p:cNvSpPr/>
          <p:nvPr/>
        </p:nvSpPr>
        <p:spPr>
          <a:xfrm>
            <a:off x="594360" y="2377440"/>
            <a:ext cx="3035808" cy="3520440"/>
          </a:xfrm>
          <a:prstGeom prst="rect">
            <a:avLst/>
          </a:prstGeom>
          <a:solidFill>
            <a:srgbClr val="1B2028"/>
          </a:solidFill>
          <a:ln w="12700">
            <a:solidFill>
              <a:srgbClr val="1B2028"/>
            </a:solidFill>
            <a:prstDash val="solid"/>
          </a:ln>
        </p:spPr>
      </p:sp>
      <p:sp>
        <p:nvSpPr>
          <p:cNvPr id="31" name="Shape 29"/>
          <p:cNvSpPr/>
          <p:nvPr/>
        </p:nvSpPr>
        <p:spPr>
          <a:xfrm>
            <a:off x="2542032" y="2660904"/>
            <a:ext cx="612648" cy="484632"/>
          </a:xfrm>
          <a:prstGeom prst="rect">
            <a:avLst/>
          </a:prstGeom>
          <a:solidFill>
            <a:srgbClr val="6DD5C1"/>
          </a:solidFill>
          <a:ln w="12700">
            <a:solidFill>
              <a:srgbClr val="6DD5C1"/>
            </a:solidFill>
            <a:prstDash val="solid"/>
          </a:ln>
        </p:spPr>
      </p:sp>
      <p:sp>
        <p:nvSpPr>
          <p:cNvPr id="32" name="Text 30"/>
          <p:cNvSpPr/>
          <p:nvPr/>
        </p:nvSpPr>
        <p:spPr>
          <a:xfrm>
            <a:off x="2542032" y="2660904"/>
            <a:ext cx="612648"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4</a:t>
            </a:r>
            <a:endParaRPr lang="ar-JO" sz="1800" dirty="0"/>
          </a:p>
        </p:txBody>
      </p:sp>
      <p:sp>
        <p:nvSpPr>
          <p:cNvPr id="33" name="Text 31"/>
          <p:cNvSpPr/>
          <p:nvPr/>
        </p:nvSpPr>
        <p:spPr>
          <a:xfrm>
            <a:off x="804672" y="3520440"/>
            <a:ext cx="2615184" cy="502920"/>
          </a:xfrm>
          <a:prstGeom prst="rect">
            <a:avLst/>
          </a:prstGeom>
          <a:noFill/>
          <a:ln/>
        </p:spPr>
        <p:txBody>
          <a:bodyPr wrap="square" lIns="0" tIns="0" rIns="0" bIns="0" rtlCol="0" anchor="ctr"/>
          <a:lstStyle/>
          <a:p>
            <a:pPr rtl="1" algn="r" indent="0" marL="0">
              <a:buNone/>
            </a:pPr>
            <a:r>
              <a:rPr lang="ar-JO" altLang="en-US" sz="2300" b="1" dirty="0">
                <a:solidFill>
                  <a:srgbClr val="F2F4F6"/>
                </a:solidFill>
                <a:latin typeface="Noto Sans Arabic" pitchFamily="34" charset="0"/>
                <a:ea typeface="Noto Sans Arabic" pitchFamily="34" charset="-122"/>
                <a:cs typeface="Noto Sans Arabic" pitchFamily="34" charset="-120"/>
              </a:rPr>
              <a:t>الاتجاهات العامة</a:t>
            </a:r>
            <a:endParaRPr lang="ar-JO" sz="2300" dirty="0"/>
          </a:p>
        </p:txBody>
      </p:sp>
      <p:sp>
        <p:nvSpPr>
          <p:cNvPr id="34" name="Text 32"/>
          <p:cNvSpPr/>
          <p:nvPr/>
        </p:nvSpPr>
        <p:spPr>
          <a:xfrm>
            <a:off x="804672" y="4169664"/>
            <a:ext cx="2615184" cy="704088"/>
          </a:xfrm>
          <a:prstGeom prst="rect">
            <a:avLst/>
          </a:prstGeom>
          <a:noFill/>
          <a:ln/>
        </p:spPr>
        <p:txBody>
          <a:bodyPr wrap="square" lIns="0" tIns="0" rIns="0" bIns="0" rtlCol="0" anchor="ctr"/>
          <a:lstStyle/>
          <a:p>
            <a:pPr rtl="1" algn="r" indent="0" marL="0">
              <a:buNone/>
            </a:pPr>
            <a:r>
              <a:rPr lang="ar-JO" altLang="en-US" sz="1500" dirty="0">
                <a:solidFill>
                  <a:srgbClr val="A8B1BF"/>
                </a:solidFill>
                <a:latin typeface="Noto Sans Arabic" pitchFamily="34" charset="0"/>
                <a:ea typeface="Noto Sans Arabic" pitchFamily="34" charset="-122"/>
                <a:cs typeface="Noto Sans Arabic" pitchFamily="34" charset="-120"/>
              </a:rPr>
              <a:t>المقدمة والاتجاهات الستة عشر</a:t>
            </a:r>
            <a:endParaRPr lang="ar-JO" sz="1500" dirty="0"/>
          </a:p>
        </p:txBody>
      </p:sp>
      <p:sp>
        <p:nvSpPr>
          <p:cNvPr id="35" name="Text 33"/>
          <p:cNvSpPr/>
          <p:nvPr/>
        </p:nvSpPr>
        <p:spPr>
          <a:xfrm>
            <a:off x="804672" y="5120640"/>
            <a:ext cx="2615184" cy="457200"/>
          </a:xfrm>
          <a:prstGeom prst="rect">
            <a:avLst/>
          </a:prstGeom>
          <a:noFill/>
          <a:ln/>
        </p:spPr>
        <p:txBody>
          <a:bodyPr wrap="square" lIns="0" tIns="0" rIns="0" bIns="0" rtlCol="0" anchor="ctr"/>
          <a:lstStyle/>
          <a:p>
            <a:pPr rtl="1" algn="r" indent="0" marL="0">
              <a:buNone/>
            </a:pPr>
            <a:r>
              <a:rPr lang="ar-JO" altLang="en-US" sz="2000" b="1" dirty="0">
                <a:solidFill>
                  <a:srgbClr val="6DD5C1"/>
                </a:solidFill>
                <a:latin typeface="Noto Sans Arabic" pitchFamily="34" charset="0"/>
                <a:ea typeface="Noto Sans Arabic" pitchFamily="34" charset="-122"/>
                <a:cs typeface="Noto Sans Arabic" pitchFamily="34" charset="-120"/>
              </a:rPr>
              <a:t>٦ دقائق</a:t>
            </a:r>
            <a:endParaRPr lang="ar-JO" sz="2000" dirty="0"/>
          </a:p>
        </p:txBody>
      </p:sp>
      <p:sp>
        <p:nvSpPr>
          <p:cNvPr id="36" name="Text 34"/>
          <p:cNvSpPr/>
          <p:nvPr/>
        </p:nvSpPr>
        <p:spPr>
          <a:xfrm>
            <a:off x="685800" y="6428232"/>
            <a:ext cx="13258800" cy="411480"/>
          </a:xfrm>
          <a:prstGeom prst="rect">
            <a:avLst/>
          </a:prstGeom>
          <a:noFill/>
          <a:ln/>
        </p:spPr>
        <p:txBody>
          <a:bodyPr wrap="square" lIns="0" tIns="0" rIns="0" bIns="0" rtlCol="0" anchor="ctr"/>
          <a:lstStyle/>
          <a:p>
            <a:pPr rtl="1" algn="r" indent="0" marL="0">
              <a:buNone/>
            </a:pPr>
            <a:r>
              <a:rPr lang="ar-JO" altLang="en-US" sz="1700" dirty="0">
                <a:solidFill>
                  <a:srgbClr val="A8B1BF"/>
                </a:solidFill>
                <a:latin typeface="Noto Sans Arabic" pitchFamily="34" charset="0"/>
                <a:ea typeface="Noto Sans Arabic" pitchFamily="34" charset="-122"/>
                <a:cs typeface="Noto Sans Arabic" pitchFamily="34" charset="-120"/>
              </a:rPr>
              <a:t>دقيقة للافتتاح وخريطة العرض · دقيقة للخاتمة</a:t>
            </a:r>
            <a:endParaRPr lang="ar-JO"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الأول</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المطلب الوطني</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٢ | ١/ب</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03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221971" cy="32004"/>
          </a:xfrm>
          <a:prstGeom prst="rect">
            <a:avLst/>
          </a:prstGeom>
          <a:solidFill>
            <a:srgbClr val="6DD5C1"/>
          </a:solidFill>
          <a:ln w="12700">
            <a:solidFill>
              <a:srgbClr val="6DD5C1"/>
            </a:solidFill>
            <a:prstDash val="solid"/>
          </a:ln>
        </p:spPr>
      </p:sp>
      <p:sp>
        <p:nvSpPr>
          <p:cNvPr id="12" name="Text 10"/>
          <p:cNvSpPr/>
          <p:nvPr/>
        </p:nvSpPr>
        <p:spPr>
          <a:xfrm>
            <a:off x="960120" y="2423160"/>
            <a:ext cx="12710160" cy="2194560"/>
          </a:xfrm>
          <a:prstGeom prst="rect">
            <a:avLst/>
          </a:prstGeom>
          <a:noFill/>
          <a:ln/>
        </p:spPr>
        <p:txBody>
          <a:bodyPr wrap="square" lIns="0" tIns="0" rIns="0" bIns="0" rtlCol="0" anchor="ctr"/>
          <a:lstStyle/>
          <a:p>
            <a:pPr rtl="1" algn="r" indent="0" marL="0">
              <a:lnSpc>
                <a:spcPct val="115000"/>
              </a:lnSpc>
              <a:buNone/>
            </a:pPr>
            <a:r>
              <a:rPr lang="ar-JO" altLang="en-US" sz="3400" b="1" dirty="0">
                <a:solidFill>
                  <a:srgbClr val="F2F4F6"/>
                </a:solidFill>
                <a:latin typeface="Noto Sans Arabic" pitchFamily="34" charset="0"/>
                <a:ea typeface="Noto Sans Arabic" pitchFamily="34" charset="-122"/>
                <a:cs typeface="Noto Sans Arabic" pitchFamily="34" charset="-120"/>
              </a:rPr>
              <a:t>المطلب الوطني: أمن، حرية، ازدهار، وحياة كريمة فضلى للمواطنين في دولة آمنة ومستقرة.</a:t>
            </a:r>
            <a:endParaRPr lang="ar-JO" sz="3400" dirty="0"/>
          </a:p>
        </p:txBody>
      </p:sp>
      <p:sp>
        <p:nvSpPr>
          <p:cNvPr id="13" name="Shape 11"/>
          <p:cNvSpPr/>
          <p:nvPr/>
        </p:nvSpPr>
        <p:spPr>
          <a:xfrm>
            <a:off x="10991088" y="5532120"/>
            <a:ext cx="3035808" cy="932688"/>
          </a:xfrm>
          <a:prstGeom prst="rect">
            <a:avLst/>
          </a:prstGeom>
          <a:solidFill>
            <a:srgbClr val="1B2028"/>
          </a:solidFill>
          <a:ln w="12700">
            <a:solidFill>
              <a:srgbClr val="1B2028"/>
            </a:solidFill>
            <a:prstDash val="solid"/>
          </a:ln>
        </p:spPr>
      </p:sp>
      <p:sp>
        <p:nvSpPr>
          <p:cNvPr id="14" name="Text 12"/>
          <p:cNvSpPr/>
          <p:nvPr/>
        </p:nvSpPr>
        <p:spPr>
          <a:xfrm>
            <a:off x="10991088" y="5532120"/>
            <a:ext cx="3035808" cy="932688"/>
          </a:xfrm>
          <a:prstGeom prst="rect">
            <a:avLst/>
          </a:prstGeom>
          <a:noFill/>
          <a:ln/>
        </p:spPr>
        <p:txBody>
          <a:bodyPr wrap="square" lIns="0" tIns="0" rIns="0" bIns="0" rtlCol="0" anchor="ctr"/>
          <a:lstStyle/>
          <a:p>
            <a:pPr rtl="1" algn="ctr" indent="0" marL="0">
              <a:buNone/>
            </a:pPr>
            <a:r>
              <a:rPr lang="ar-JO" altLang="en-US" sz="2100" dirty="0">
                <a:solidFill>
                  <a:srgbClr val="6DD5C1"/>
                </a:solidFill>
                <a:latin typeface="Noto Sans Arabic" pitchFamily="34" charset="0"/>
                <a:ea typeface="Noto Sans Arabic" pitchFamily="34" charset="-122"/>
                <a:cs typeface="Noto Sans Arabic" pitchFamily="34" charset="-120"/>
              </a:rPr>
              <a:t>أمن</a:t>
            </a:r>
            <a:endParaRPr lang="ar-JO" sz="2100" dirty="0"/>
          </a:p>
        </p:txBody>
      </p:sp>
      <p:sp>
        <p:nvSpPr>
          <p:cNvPr id="15" name="Shape 13"/>
          <p:cNvSpPr/>
          <p:nvPr/>
        </p:nvSpPr>
        <p:spPr>
          <a:xfrm>
            <a:off x="7525512" y="5532120"/>
            <a:ext cx="3035808" cy="932688"/>
          </a:xfrm>
          <a:prstGeom prst="rect">
            <a:avLst/>
          </a:prstGeom>
          <a:solidFill>
            <a:srgbClr val="1B2028"/>
          </a:solidFill>
          <a:ln w="12700">
            <a:solidFill>
              <a:srgbClr val="1B2028"/>
            </a:solidFill>
            <a:prstDash val="solid"/>
          </a:ln>
        </p:spPr>
      </p:sp>
      <p:sp>
        <p:nvSpPr>
          <p:cNvPr id="16" name="Text 14"/>
          <p:cNvSpPr/>
          <p:nvPr/>
        </p:nvSpPr>
        <p:spPr>
          <a:xfrm>
            <a:off x="7525512" y="5532120"/>
            <a:ext cx="3035808" cy="932688"/>
          </a:xfrm>
          <a:prstGeom prst="rect">
            <a:avLst/>
          </a:prstGeom>
          <a:noFill/>
          <a:ln/>
        </p:spPr>
        <p:txBody>
          <a:bodyPr wrap="square" lIns="0" tIns="0" rIns="0" bIns="0" rtlCol="0" anchor="ctr"/>
          <a:lstStyle/>
          <a:p>
            <a:pPr rtl="1" algn="ctr" indent="0" marL="0">
              <a:buNone/>
            </a:pPr>
            <a:r>
              <a:rPr lang="ar-JO" altLang="en-US" sz="2100" dirty="0">
                <a:solidFill>
                  <a:srgbClr val="6DD5C1"/>
                </a:solidFill>
                <a:latin typeface="Noto Sans Arabic" pitchFamily="34" charset="0"/>
                <a:ea typeface="Noto Sans Arabic" pitchFamily="34" charset="-122"/>
                <a:cs typeface="Noto Sans Arabic" pitchFamily="34" charset="-120"/>
              </a:rPr>
              <a:t>حرية</a:t>
            </a:r>
            <a:endParaRPr lang="ar-JO" sz="2100" dirty="0"/>
          </a:p>
        </p:txBody>
      </p:sp>
      <p:sp>
        <p:nvSpPr>
          <p:cNvPr id="17" name="Shape 15"/>
          <p:cNvSpPr/>
          <p:nvPr/>
        </p:nvSpPr>
        <p:spPr>
          <a:xfrm>
            <a:off x="4059936" y="5532120"/>
            <a:ext cx="3035808" cy="932688"/>
          </a:xfrm>
          <a:prstGeom prst="rect">
            <a:avLst/>
          </a:prstGeom>
          <a:solidFill>
            <a:srgbClr val="1B2028"/>
          </a:solidFill>
          <a:ln w="12700">
            <a:solidFill>
              <a:srgbClr val="1B2028"/>
            </a:solidFill>
            <a:prstDash val="solid"/>
          </a:ln>
        </p:spPr>
      </p:sp>
      <p:sp>
        <p:nvSpPr>
          <p:cNvPr id="18" name="Text 16"/>
          <p:cNvSpPr/>
          <p:nvPr/>
        </p:nvSpPr>
        <p:spPr>
          <a:xfrm>
            <a:off x="4059936" y="5532120"/>
            <a:ext cx="3035808" cy="932688"/>
          </a:xfrm>
          <a:prstGeom prst="rect">
            <a:avLst/>
          </a:prstGeom>
          <a:noFill/>
          <a:ln/>
        </p:spPr>
        <p:txBody>
          <a:bodyPr wrap="square" lIns="0" tIns="0" rIns="0" bIns="0" rtlCol="0" anchor="ctr"/>
          <a:lstStyle/>
          <a:p>
            <a:pPr rtl="1" algn="ctr" indent="0" marL="0">
              <a:buNone/>
            </a:pPr>
            <a:r>
              <a:rPr lang="ar-JO" altLang="en-US" sz="2100" dirty="0">
                <a:solidFill>
                  <a:srgbClr val="6DD5C1"/>
                </a:solidFill>
                <a:latin typeface="Noto Sans Arabic" pitchFamily="34" charset="0"/>
                <a:ea typeface="Noto Sans Arabic" pitchFamily="34" charset="-122"/>
                <a:cs typeface="Noto Sans Arabic" pitchFamily="34" charset="-120"/>
              </a:rPr>
              <a:t>ازدهار</a:t>
            </a:r>
            <a:endParaRPr lang="ar-JO" sz="2100" dirty="0"/>
          </a:p>
        </p:txBody>
      </p:sp>
      <p:sp>
        <p:nvSpPr>
          <p:cNvPr id="19" name="Shape 17"/>
          <p:cNvSpPr/>
          <p:nvPr/>
        </p:nvSpPr>
        <p:spPr>
          <a:xfrm>
            <a:off x="594360" y="5532120"/>
            <a:ext cx="3035808" cy="932688"/>
          </a:xfrm>
          <a:prstGeom prst="rect">
            <a:avLst/>
          </a:prstGeom>
          <a:solidFill>
            <a:srgbClr val="1B2028"/>
          </a:solidFill>
          <a:ln w="12700">
            <a:solidFill>
              <a:srgbClr val="1B2028"/>
            </a:solidFill>
            <a:prstDash val="solid"/>
          </a:ln>
        </p:spPr>
      </p:sp>
      <p:sp>
        <p:nvSpPr>
          <p:cNvPr id="20" name="Text 18"/>
          <p:cNvSpPr/>
          <p:nvPr/>
        </p:nvSpPr>
        <p:spPr>
          <a:xfrm>
            <a:off x="594360" y="5532120"/>
            <a:ext cx="3035808" cy="932688"/>
          </a:xfrm>
          <a:prstGeom prst="rect">
            <a:avLst/>
          </a:prstGeom>
          <a:noFill/>
          <a:ln/>
        </p:spPr>
        <p:txBody>
          <a:bodyPr wrap="square" lIns="0" tIns="0" rIns="0" bIns="0" rtlCol="0" anchor="ctr"/>
          <a:lstStyle/>
          <a:p>
            <a:pPr rtl="1" algn="ctr" indent="0" marL="0">
              <a:buNone/>
            </a:pPr>
            <a:r>
              <a:rPr lang="ar-JO" altLang="en-US" sz="2100" dirty="0">
                <a:solidFill>
                  <a:srgbClr val="6DD5C1"/>
                </a:solidFill>
                <a:latin typeface="Noto Sans Arabic" pitchFamily="34" charset="0"/>
                <a:ea typeface="Noto Sans Arabic" pitchFamily="34" charset="-122"/>
                <a:cs typeface="Noto Sans Arabic" pitchFamily="34" charset="-120"/>
              </a:rPr>
              <a:t>حياة كريمة</a:t>
            </a:r>
            <a:endParaRPr lang="ar-JO"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الثاني · المصالح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المصلحة الحيوية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٢ | ٢/ب/١</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04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629295" cy="32004"/>
          </a:xfrm>
          <a:prstGeom prst="rect">
            <a:avLst/>
          </a:prstGeom>
          <a:solidFill>
            <a:srgbClr val="6DD5C1"/>
          </a:solidFill>
          <a:ln w="12700">
            <a:solidFill>
              <a:srgbClr val="6DD5C1"/>
            </a:solidFill>
            <a:prstDash val="solid"/>
          </a:ln>
        </p:spPr>
      </p:sp>
      <p:sp>
        <p:nvSpPr>
          <p:cNvPr id="12" name="Text 10"/>
          <p:cNvSpPr/>
          <p:nvPr/>
        </p:nvSpPr>
        <p:spPr>
          <a:xfrm>
            <a:off x="960120" y="2377440"/>
            <a:ext cx="12710160" cy="457200"/>
          </a:xfrm>
          <a:prstGeom prst="rect">
            <a:avLst/>
          </a:prstGeom>
          <a:noFill/>
          <a:ln/>
        </p:spPr>
        <p:txBody>
          <a:bodyPr wrap="square" lIns="0" tIns="0" rIns="0" bIns="0" rtlCol="0" anchor="ctr"/>
          <a:lstStyle/>
          <a:p>
            <a:pPr rtl="1" algn="r" indent="0" marL="0">
              <a:buNone/>
            </a:pPr>
            <a:r>
              <a:rPr lang="ar-JO" altLang="en-US" sz="1700" b="1" dirty="0">
                <a:solidFill>
                  <a:srgbClr val="6DD5C1"/>
                </a:solidFill>
                <a:latin typeface="Noto Sans Arabic" pitchFamily="34" charset="0"/>
                <a:ea typeface="Noto Sans Arabic" pitchFamily="34" charset="-122"/>
                <a:cs typeface="Noto Sans Arabic" pitchFamily="34" charset="-120"/>
              </a:rPr>
              <a:t>الأولوية الحيوية</a:t>
            </a:r>
            <a:endParaRPr lang="ar-JO" sz="1700" dirty="0"/>
          </a:p>
        </p:txBody>
      </p:sp>
      <p:sp>
        <p:nvSpPr>
          <p:cNvPr id="13" name="Text 11"/>
          <p:cNvSpPr/>
          <p:nvPr/>
        </p:nvSpPr>
        <p:spPr>
          <a:xfrm>
            <a:off x="960120" y="3017520"/>
            <a:ext cx="12710160" cy="2194560"/>
          </a:xfrm>
          <a:prstGeom prst="rect">
            <a:avLst/>
          </a:prstGeom>
          <a:noFill/>
          <a:ln/>
        </p:spPr>
        <p:txBody>
          <a:bodyPr wrap="square" lIns="0" tIns="0" rIns="0" bIns="0" rtlCol="0" anchor="ctr"/>
          <a:lstStyle/>
          <a:p>
            <a:pPr rtl="1" algn="r" indent="0" marL="0">
              <a:lnSpc>
                <a:spcPct val="112000"/>
              </a:lnSpc>
              <a:buNone/>
            </a:pPr>
            <a:r>
              <a:rPr lang="ar-JO" altLang="en-US" sz="3100" dirty="0">
                <a:solidFill>
                  <a:srgbClr val="F2F4F6"/>
                </a:solidFill>
                <a:latin typeface="Noto Sans Arabic" pitchFamily="34" charset="0"/>
                <a:ea typeface="Noto Sans Arabic" pitchFamily="34" charset="-122"/>
                <a:cs typeface="Noto Sans Arabic" pitchFamily="34" charset="-120"/>
              </a:rPr>
              <a:t>صون أمن الدولة الأردنية وسلامتها وسيادتها، وضمان استقرار نظامها السياسي والاقتصادي والاجتماعي، والمحافظة على أمنها المائي.</a:t>
            </a:r>
            <a:endParaRPr lang="ar-JO" sz="3100" dirty="0"/>
          </a:p>
        </p:txBody>
      </p:sp>
      <p:sp>
        <p:nvSpPr>
          <p:cNvPr id="14" name="Text 12"/>
          <p:cNvSpPr/>
          <p:nvPr/>
        </p:nvSpPr>
        <p:spPr>
          <a:xfrm>
            <a:off x="960120" y="6080760"/>
            <a:ext cx="12710160" cy="502920"/>
          </a:xfrm>
          <a:prstGeom prst="rect">
            <a:avLst/>
          </a:prstGeom>
          <a:noFill/>
          <a:ln/>
        </p:spPr>
        <p:txBody>
          <a:bodyPr wrap="square" lIns="0" tIns="0" rIns="0" bIns="0" rtlCol="0" anchor="ctr"/>
          <a:lstStyle/>
          <a:p>
            <a:pPr rtl="1" algn="r" indent="0" marL="0">
              <a:buNone/>
            </a:pPr>
            <a:r>
              <a:rPr lang="ar-JO" altLang="en-US" sz="2100" dirty="0">
                <a:solidFill>
                  <a:srgbClr val="E9BD79"/>
                </a:solidFill>
                <a:latin typeface="Noto Sans Arabic" pitchFamily="34" charset="0"/>
                <a:ea typeface="Noto Sans Arabic" pitchFamily="34" charset="-122"/>
                <a:cs typeface="Noto Sans Arabic" pitchFamily="34" charset="-120"/>
              </a:rPr>
              <a:t>السيادة · الاستقرار · الأمن المائي</a:t>
            </a:r>
            <a:endParaRPr lang="ar-JO"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الثاني · المصالح الأساسية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فلسطين والقدرات الوطنية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٢–٣ | ٢/ب/٢</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05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2036618"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أ</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تسوية القضية الفلسطينية في الضفة الغربية وقطاع غزة بوصفهما قضية واحدة، وصولاً إلى إقامة دولة فلسطينية مستقلة على خطوط الرابع من حزيران 1967، تكون القدس الشرقية عاصمتها.</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ب</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تنمية القدرات الدفاعية والأمنية ذات الجاهزية العالية لتبقى الحصن المنيع وسياج الوطن ودرعه في مواجهة التهديدات المختلفة.</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جـ</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جعل تنمية القدرات الوطنية وتطويرها مشروعاً مستقبلياً للدولة، بما يعزز جاهزيتها وقدرتها على تحقيق أهدافها.</a:t>
            </a:r>
            <a:endParaRPr lang="ar-JO" sz="2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الثاني · المصالح الأساسية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الجبهة الداخلية والتحديث والعمل العربي</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٢–٣ | ٢/ب/٢</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06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2443942"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د</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إدامة وحدة الجبهة الداخلية وصلابتها، وصون النسيج الوطني القائم على الوسطية والاعتدال واحترام حرية الأديان.</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هـ</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مواصلة تنفيذ رؤية التحديث الاقتصادي الشاملة، بالاستناد إلى مسارات التحديث السياسي والاقتصادي والاجتماعي والإداري، حتى بلوغ النتائج المستهدفة.</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و</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توثيق العمل العربي المشترك وتعزيز الروابط مع دول الإقليم لمواجهة التهديدات الإقليمية، مع توظيف مكانة الأردن مركزاً للتجارة والصناعة والتكنولوجيا.</a:t>
            </a:r>
            <a:endParaRPr lang="ar-JO" sz="2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الثاني · المصالح الأساسية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سوريا والمنعة الاقتصادية وسيادة القانون</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٢–٣ | ٢/ب/٢</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07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2851265"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ز</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بلورة موقف دولي مساند لأمن سوريا وسيادتها ووحدة أراضيها، وبما يتيح عودة اللاجئين بصورة طوعية.</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ح</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الحفاظ على الاستقرار الاقتصادي وحماية المنعة الاقتصادية وتسريع التنمية والنمو.</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ط</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العمل على تعزيز القيم الوطنية والمجتمعية واحترام سيادة القانون ضمن الدولة المدنية.</a:t>
            </a:r>
            <a:endParaRPr lang="ar-JO" sz="2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الثاني · المصالح الأساسية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العدالة والوصاية والشراكات الاستراتيجية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٢–٣ | ٢/ب/٢</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08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3258589"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ي</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ترسيخ أسس العدالة والنزاهة وصيانة الحقوق في مختلف مؤسسات الدولة.</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ك</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مواصلة حمل أمانة الوصاية الهاشمية، وصون الوضع التاريخي والقانوني للمقدسات الإسلامية والمسيحية في القدس.</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ل</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توسيع قاعدة الشراكات الاستراتيجية والمحافظة على استدامتها مع التكتلات الاقتصادية الكبرى، وفي مقدمتها جمهورية الصين الشعبية.</a:t>
            </a:r>
            <a:endParaRPr lang="ar-JO" sz="2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الثاني · المصالح الأساسية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العلاقات الاستراتيجية والانفتاح الدولي</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٢–٣ | ٢/ب/٢</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09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3665913"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23774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23774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م</a:t>
            </a:r>
            <a:endParaRPr lang="ar-JO" sz="1800" dirty="0"/>
          </a:p>
        </p:txBody>
      </p:sp>
      <p:sp>
        <p:nvSpPr>
          <p:cNvPr id="16" name="Text 14"/>
          <p:cNvSpPr/>
          <p:nvPr/>
        </p:nvSpPr>
        <p:spPr>
          <a:xfrm>
            <a:off x="932688" y="2240280"/>
            <a:ext cx="11612880" cy="21031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المحافظة على ديمومة العلاقات الاستراتيجية مع الولايات المتحدة الأمريكية وتطوير التعاون معها في مختلف المجالات.</a:t>
            </a:r>
            <a:endParaRPr lang="ar-JO" sz="2300" dirty="0"/>
          </a:p>
        </p:txBody>
      </p:sp>
      <p:sp>
        <p:nvSpPr>
          <p:cNvPr id="17" name="Shape 15"/>
          <p:cNvSpPr/>
          <p:nvPr/>
        </p:nvSpPr>
        <p:spPr>
          <a:xfrm>
            <a:off x="594360" y="4617720"/>
            <a:ext cx="13441680" cy="2377440"/>
          </a:xfrm>
          <a:prstGeom prst="rect">
            <a:avLst/>
          </a:prstGeom>
          <a:solidFill>
            <a:srgbClr val="1B2028"/>
          </a:solidFill>
          <a:ln w="12700">
            <a:solidFill>
              <a:srgbClr val="1B2028"/>
            </a:solidFill>
            <a:prstDash val="solid"/>
          </a:ln>
        </p:spPr>
      </p:sp>
      <p:sp>
        <p:nvSpPr>
          <p:cNvPr id="18" name="Shape 16"/>
          <p:cNvSpPr/>
          <p:nvPr/>
        </p:nvSpPr>
        <p:spPr>
          <a:xfrm>
            <a:off x="13962888" y="4617720"/>
            <a:ext cx="73152" cy="2377440"/>
          </a:xfrm>
          <a:prstGeom prst="rect">
            <a:avLst/>
          </a:prstGeom>
          <a:solidFill>
            <a:srgbClr val="6DD5C1"/>
          </a:solidFill>
          <a:ln w="12700">
            <a:solidFill>
              <a:srgbClr val="6DD5C1"/>
            </a:solidFill>
            <a:prstDash val="solid"/>
          </a:ln>
        </p:spPr>
      </p:sp>
      <p:sp>
        <p:nvSpPr>
          <p:cNvPr id="19" name="Shape 17"/>
          <p:cNvSpPr/>
          <p:nvPr/>
        </p:nvSpPr>
        <p:spPr>
          <a:xfrm>
            <a:off x="12938760" y="48188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48188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ن</a:t>
            </a:r>
            <a:endParaRPr lang="ar-JO" sz="1800" dirty="0"/>
          </a:p>
        </p:txBody>
      </p:sp>
      <p:sp>
        <p:nvSpPr>
          <p:cNvPr id="21" name="Text 19"/>
          <p:cNvSpPr/>
          <p:nvPr/>
        </p:nvSpPr>
        <p:spPr>
          <a:xfrm>
            <a:off x="932688" y="4754880"/>
            <a:ext cx="11612880" cy="21031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توسيع آفاق الانفتاح السياسي واستعداد الأردن والتزامه بمواقفه للتفاعل مع جميع دول العالم والمنظمات الدولية للوصول إلى الأمن والسلم الدوليين.</a:t>
            </a:r>
            <a:endParaRPr lang="ar-JO" sz="2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الثاني · المصالح الثانوية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الاستثمار والإدارة العامة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٣–٤ | ٢/ب/٣</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10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4073236"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أ</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زيادة كثافة الجهود وتهيئة البيئة الحاضنة والممكنة للاستثمار ليكون الأساس لتمويل المشاريع والبنى الاقتصادية.</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ب</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جعل الأردن مركزاً إقليمياً ودولياً متقدماً ومنافساً في المنطقة عبر الاستثمارات الدولية والعربية.</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ج</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السعي إلى تطوير الإدارة العامة لتحسين الخدمات ومواكبة الحداثة والتطوير، وترسيخ ثقافة الإنجاز والتميز في المؤسسات الحكومية.</a:t>
            </a:r>
            <a:endParaRPr lang="ar-JO" sz="2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الثاني · المصالح الثانوية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البيانات والثقافة وتبادل الخبرات</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٣–٤ | ٢/ب/٣</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11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4480560"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د</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تطوير قدرات دائرة الإحصاءات العامة لتكون مرجعاً وطنياً شاملاً للبيانات والمعلومات، يدعم القرار الحكومي الفاعل والشفاف في تحقيق الأهداف.</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هـ</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إظهار التنوع الثقافي والانفتاح الأردني، مع احتضان المواهب الأدبية والفكرية ورعاية إبداعها.</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و</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توسيع آفاق الانفتاح على دول العالم والمنظمات الدولية، والتفاعل معها وتبادل الخبرات والتعاون في ميادين شتى لتطوير قدرات الدولة الأردنية وتقديم الخدمات الفضلى للأردنيين في الوطن وحول العالم.</a:t>
            </a:r>
            <a:endParaRPr lang="ar-JO" sz="2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الثاني · المصالح الثانوية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الأسواق والأمن الغذائي والاستقرار الإقليمي</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٣–٤ | ٢/ب/٣</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12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4887884"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ز</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فتح أسواق جديدة أمام القطاع الصناعي، وتوظيف الاتفاقيات الاقتصادية والتجارية التي تربط الأردن مع دول العالم، ومن المهم استكشاف الأسواق الناشئة لتعزيز تصدير المنتجات والخدمات الأردنية.</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ح</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العمل من أجل منطقة شرق أوسط خالية من أسلحة الدمار الشامل.</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ط</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السعي نحو تدعيم الأمن الغذائي ومواجهة التغيرات المناخية.</a:t>
            </a:r>
            <a:endParaRPr lang="ar-JO" sz="2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الثالث</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الأهداف الوطنية · المفهوم العام</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٤ | ٣/أ</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13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5295207" cy="32004"/>
          </a:xfrm>
          <a:prstGeom prst="rect">
            <a:avLst/>
          </a:prstGeom>
          <a:solidFill>
            <a:srgbClr val="6DD5C1"/>
          </a:solidFill>
          <a:ln w="12700">
            <a:solidFill>
              <a:srgbClr val="6DD5C1"/>
            </a:solidFill>
            <a:prstDash val="solid"/>
          </a:ln>
        </p:spPr>
      </p:sp>
      <p:sp>
        <p:nvSpPr>
          <p:cNvPr id="12" name="Text 10"/>
          <p:cNvSpPr/>
          <p:nvPr/>
        </p:nvSpPr>
        <p:spPr>
          <a:xfrm>
            <a:off x="960120" y="2304288"/>
            <a:ext cx="12664440" cy="2240280"/>
          </a:xfrm>
          <a:prstGeom prst="rect">
            <a:avLst/>
          </a:prstGeom>
          <a:noFill/>
          <a:ln/>
        </p:spPr>
        <p:txBody>
          <a:bodyPr wrap="square" lIns="0" tIns="0" rIns="0" bIns="0" rtlCol="0" anchor="ctr"/>
          <a:lstStyle/>
          <a:p>
            <a:pPr rtl="1" algn="r" indent="0" marL="0">
              <a:lnSpc>
                <a:spcPct val="115000"/>
              </a:lnSpc>
              <a:buNone/>
            </a:pPr>
            <a:r>
              <a:rPr lang="ar-JO" altLang="en-US" sz="2700" dirty="0">
                <a:solidFill>
                  <a:srgbClr val="F2F4F6"/>
                </a:solidFill>
                <a:latin typeface="Noto Sans Arabic" pitchFamily="34" charset="0"/>
                <a:ea typeface="Noto Sans Arabic" pitchFamily="34" charset="-122"/>
                <a:cs typeface="Noto Sans Arabic" pitchFamily="34" charset="-120"/>
              </a:rPr>
              <a:t>تُترجم المصالح الوطنية إلى أهداف وطنية ذات مضمون سياسي واستراتيجي قابل للتنفيذ والتقييم. وترتبط هذه الأهداف بطبيعة المرحلة ومتطلباتها وبسقوف زمنية وأولويات واضحة، بما يحول المصالح من غايات عامة إلى نتائج عملية مستهدفة.</a:t>
            </a:r>
            <a:endParaRPr lang="ar-JO" sz="2700" dirty="0"/>
          </a:p>
        </p:txBody>
      </p:sp>
      <p:sp>
        <p:nvSpPr>
          <p:cNvPr id="13" name="Shape 11"/>
          <p:cNvSpPr/>
          <p:nvPr/>
        </p:nvSpPr>
        <p:spPr>
          <a:xfrm>
            <a:off x="9784080" y="5257800"/>
            <a:ext cx="3803904" cy="1216152"/>
          </a:xfrm>
          <a:prstGeom prst="rect">
            <a:avLst/>
          </a:prstGeom>
          <a:solidFill>
            <a:srgbClr val="1B2028"/>
          </a:solidFill>
          <a:ln w="12700">
            <a:solidFill>
              <a:srgbClr val="1B2028"/>
            </a:solidFill>
            <a:prstDash val="solid"/>
          </a:ln>
        </p:spPr>
      </p:sp>
      <p:sp>
        <p:nvSpPr>
          <p:cNvPr id="14" name="Text 12"/>
          <p:cNvSpPr/>
          <p:nvPr/>
        </p:nvSpPr>
        <p:spPr>
          <a:xfrm>
            <a:off x="9966960" y="5449824"/>
            <a:ext cx="3438144" cy="822960"/>
          </a:xfrm>
          <a:prstGeom prst="rect">
            <a:avLst/>
          </a:prstGeom>
          <a:noFill/>
          <a:ln/>
        </p:spPr>
        <p:txBody>
          <a:bodyPr wrap="square" lIns="0" tIns="0" rIns="0" bIns="0" rtlCol="0" anchor="ctr"/>
          <a:lstStyle/>
          <a:p>
            <a:pPr rtl="1" algn="ctr" indent="0" marL="0">
              <a:buNone/>
            </a:pPr>
            <a:r>
              <a:rPr lang="ar-JO" altLang="en-US" sz="2100" b="1" dirty="0">
                <a:solidFill>
                  <a:srgbClr val="6DD5C1"/>
                </a:solidFill>
                <a:latin typeface="Noto Sans Arabic" pitchFamily="34" charset="0"/>
                <a:ea typeface="Noto Sans Arabic" pitchFamily="34" charset="-122"/>
                <a:cs typeface="Noto Sans Arabic" pitchFamily="34" charset="-120"/>
              </a:rPr>
              <a:t>قابلية التنفيذ والتقييم</a:t>
            </a:r>
            <a:endParaRPr lang="ar-JO" sz="2100" dirty="0"/>
          </a:p>
        </p:txBody>
      </p:sp>
      <p:sp>
        <p:nvSpPr>
          <p:cNvPr id="15" name="Shape 13"/>
          <p:cNvSpPr/>
          <p:nvPr/>
        </p:nvSpPr>
        <p:spPr>
          <a:xfrm>
            <a:off x="5623560" y="5257800"/>
            <a:ext cx="3803904" cy="1216152"/>
          </a:xfrm>
          <a:prstGeom prst="rect">
            <a:avLst/>
          </a:prstGeom>
          <a:solidFill>
            <a:srgbClr val="1B2028"/>
          </a:solidFill>
          <a:ln w="12700">
            <a:solidFill>
              <a:srgbClr val="1B2028"/>
            </a:solidFill>
            <a:prstDash val="solid"/>
          </a:ln>
        </p:spPr>
      </p:sp>
      <p:sp>
        <p:nvSpPr>
          <p:cNvPr id="16" name="Text 14"/>
          <p:cNvSpPr/>
          <p:nvPr/>
        </p:nvSpPr>
        <p:spPr>
          <a:xfrm>
            <a:off x="5806440" y="5449824"/>
            <a:ext cx="3438144" cy="822960"/>
          </a:xfrm>
          <a:prstGeom prst="rect">
            <a:avLst/>
          </a:prstGeom>
          <a:noFill/>
          <a:ln/>
        </p:spPr>
        <p:txBody>
          <a:bodyPr wrap="square" lIns="0" tIns="0" rIns="0" bIns="0" rtlCol="0" anchor="ctr"/>
          <a:lstStyle/>
          <a:p>
            <a:pPr rtl="1" algn="ctr" indent="0" marL="0">
              <a:buNone/>
            </a:pPr>
            <a:r>
              <a:rPr lang="ar-JO" altLang="en-US" sz="2100" b="1" dirty="0">
                <a:solidFill>
                  <a:srgbClr val="6DD5C1"/>
                </a:solidFill>
                <a:latin typeface="Noto Sans Arabic" pitchFamily="34" charset="0"/>
                <a:ea typeface="Noto Sans Arabic" pitchFamily="34" charset="-122"/>
                <a:cs typeface="Noto Sans Arabic" pitchFamily="34" charset="-120"/>
              </a:rPr>
              <a:t>سقوف زمنية</a:t>
            </a:r>
            <a:endParaRPr lang="ar-JO" sz="2100" dirty="0"/>
          </a:p>
        </p:txBody>
      </p:sp>
      <p:sp>
        <p:nvSpPr>
          <p:cNvPr id="17" name="Shape 15"/>
          <p:cNvSpPr/>
          <p:nvPr/>
        </p:nvSpPr>
        <p:spPr>
          <a:xfrm>
            <a:off x="1463040" y="5257800"/>
            <a:ext cx="3803904" cy="1216152"/>
          </a:xfrm>
          <a:prstGeom prst="rect">
            <a:avLst/>
          </a:prstGeom>
          <a:solidFill>
            <a:srgbClr val="1B2028"/>
          </a:solidFill>
          <a:ln w="12700">
            <a:solidFill>
              <a:srgbClr val="1B2028"/>
            </a:solidFill>
            <a:prstDash val="solid"/>
          </a:ln>
        </p:spPr>
      </p:sp>
      <p:sp>
        <p:nvSpPr>
          <p:cNvPr id="18" name="Text 16"/>
          <p:cNvSpPr/>
          <p:nvPr/>
        </p:nvSpPr>
        <p:spPr>
          <a:xfrm>
            <a:off x="1645920" y="5449824"/>
            <a:ext cx="3438144" cy="822960"/>
          </a:xfrm>
          <a:prstGeom prst="rect">
            <a:avLst/>
          </a:prstGeom>
          <a:noFill/>
          <a:ln/>
        </p:spPr>
        <p:txBody>
          <a:bodyPr wrap="square" lIns="0" tIns="0" rIns="0" bIns="0" rtlCol="0" anchor="ctr"/>
          <a:lstStyle/>
          <a:p>
            <a:pPr rtl="1" algn="ctr" indent="0" marL="0">
              <a:buNone/>
            </a:pPr>
            <a:r>
              <a:rPr lang="ar-JO" altLang="en-US" sz="2100" b="1" dirty="0">
                <a:solidFill>
                  <a:srgbClr val="6DD5C1"/>
                </a:solidFill>
                <a:latin typeface="Noto Sans Arabic" pitchFamily="34" charset="0"/>
                <a:ea typeface="Noto Sans Arabic" pitchFamily="34" charset="-122"/>
                <a:cs typeface="Noto Sans Arabic" pitchFamily="34" charset="-120"/>
              </a:rPr>
              <a:t>أولويات واضحة</a:t>
            </a:r>
            <a:endParaRPr lang="ar-JO"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فلسطين والجاهزية والتحديث الوطني</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4 | ٣/ب | الأهداف 1–3</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14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5702531"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1</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تقديم مختلف أشكال الدعم والمساندة لأشقائنا في فلسطين حتى الحصول على كامل حقوقهم المشروعة عبر التوصل إلى تسوية سلمية للصراع العربي الإسرائيلي.</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2</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رفع كفاءة وتحديث جاهزية القوات المسلحة الأردنية والأجهزة الأمنية بما يواكب التطورات الجديدة.</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3</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استكمال برامج التحديث الوطنية المختلفة من أجل صون الأمن الوطني.</a:t>
            </a:r>
            <a:endParaRPr lang="ar-JO" sz="2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المواطن والأمن المائي والغذائي</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4–5 | ٣/ب | الأهداف 4–6</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15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6109855"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4</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زيادة كثافة التواصل الميداني المباشر مع المواطنين والاطلاع على قضاياهم وأولوياتهم، والاستماع إلى آرائهم ومشاركتهم التوجهات والرؤى، بحيث يتم التعامل مع التحديات والاحتياجات والتطلعات وإيجاد الحلول الممكنة والبناء على الفرص المتاحة.</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5</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تعزيز الأمن المائي عبر إطلاق تنفيذ مشروع الناقل الوطني للمياه، وخفض الفاقد المائي، والحد من الاعتداءات على خطوط المياه ومحاسبة المعتدين.</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6</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استدامة الجهود لتدعيم الأمن الغذائي ضمن أطر مؤسسية، وبما يدعم الاعتماد على الذات ومواجهة تقلبات الأسعار والأزمات الإقليمية والدولية.</a:t>
            </a:r>
            <a:endParaRPr lang="ar-JO" sz="2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تنفيذ التحديث وتعميق المشاركة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5 | ٣/ب | الأهداف 7–9</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16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6517178"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7</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استكمال البرامج والمشاريع الأساسية المنبثقة عن الرؤية الشاملة للتحديث، وتسريع إنجازها وإبقاؤها على مسارها التنفيذي المقرر.</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8</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التنسيق مع مجلس النواب لتعميق الممارسة الديمقراطية وترسيخ المشاركة السياسية وتطوير المؤسسات الدستورية.</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9</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إشراك المواطنين في ترتيب الأولويات التنموية المحلية، وربطها بأولويات رؤية التحديث الاقتصادي، بما يضمن التوزيع الأمثل والعادل لمكتسبات التنمية.</a:t>
            </a:r>
            <a:endParaRPr lang="ar-JO" sz="2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النمو والمشاريع الكبرى وإدارة الأزمات</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5 | ٣/ب | الأهداف 10–12</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17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6924502"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10</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تنفيذ رؤية التحديث الاقتصادي وفق برامج معلنة ومحددة زمنياً تخضع للتقييم والمتابعة، بما يطلق الإمكانات ويحقق نمواً شاملاً مستداماً ويضاعف الاستثمار ويخفض البطالة ويوفر حياة فضلى للمواطنين.</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11</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إعطاء المشاريع الاستراتيجية الكبرى أولوية حكومية، ولا سيما في قطاعات المياه والنقل والطاقة والقطاعات الاقتصادية الواعدة.</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12</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تحديث منظومة إدارة الأزمات والكوارث الوطنية لتحقيق الاستجابة المثلى للأزمات والكوارث وتخفيف آثارها.</a:t>
            </a:r>
            <a:endParaRPr lang="ar-JO" sz="2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تكنولوجيا المستقبل والتحول الرقمي</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5 | ٣/ب | الأهداف 13–15</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18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7331825"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13</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توظيف تكنولوجيا المستقبل، عبر الشراكة والتعاون مع القطاع الخاص والجامعات وجميع الجهات المعنية محلياً وعالمياً وضمن أطر زمنية واضحة.</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14</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200" dirty="0">
                <a:solidFill>
                  <a:srgbClr val="F2F4F6"/>
                </a:solidFill>
                <a:latin typeface="Noto Sans Arabic" pitchFamily="34" charset="0"/>
                <a:ea typeface="Noto Sans Arabic" pitchFamily="34" charset="-122"/>
                <a:cs typeface="Noto Sans Arabic" pitchFamily="34" charset="-120"/>
              </a:rPr>
              <a:t>التقيد ببرامج التحول الرقمي وجداولها الزمنية في مؤسسات الدولة، وتوظيف الابتكار والتقنيات الحديثة، مع دعم المركز الوطني للأمن السيبراني في إعداد وتنفيذ البرنامج المنبثق عن الاستراتيجية الوطنية للأمن السيبراني 2024–2028، لبناء منظومة متكاملة ومستدامة للرصد المبكر والاستجابة للحوادث والتهديدات السيبرانية.</a:t>
            </a:r>
            <a:endParaRPr lang="ar-JO" sz="22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15</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استدامة أعمال مراكز الخدمات الحكومية، التي تعد تجربة متقدمة في توفير خدمات نوعية للمواطنين.</a:t>
            </a:r>
            <a:endParaRPr lang="ar-JO" sz="2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الأسواق المالية والتنمية الحضرية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6 | ٣/ب | الأهداف 16–18</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19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7739149"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16</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الاستمرار في تطوير قطاع الخدمات والأسواق المالية، ليكون ممكناً للنمو الاقتصادي ومبنياً على أسس حصيفة، ويكون رافعاً للقطاع الخاص والصناديق الاستثمارية.</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17</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تحسين سبل العيش للمواطنين في مدنهم والوصول إلى خيارات أفضل من الخدمات عبر التنمية الحضرية، مع الحرص على زيادة الرقعة الخضراء وانتشار الحدائق العامة.</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18</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متابعة التحضير لمشروع المدينة الجديدة بالشراكة مع القطاع الخاص، لتخفيف الضغط الحضري على عمان والزرقاء وتعظيم عوائده الاستثمارية والاجتماعية والاقتصادية.</a:t>
            </a:r>
            <a:endParaRPr lang="ar-JO" sz="2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التعدين والصناعة والسياحة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6 | ٣/ب | الأهداف 19–21</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20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8146473"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19</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إيلاء اهتمام بقطاع التعدين كأحد القطاعات الواعدة في النمو الاقتصادي.</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20</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تمكين القطاع الصناعي ليكون منافساً في الأسواق الوطنية والخارجية.</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21</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العمل على تعزيز منعة قطاع السياحة وإعداد خطط واضحة للتعامل مع التحديات التي تواجهه، وتفعيل نظام صندوق تنمية وتطوير القطاع السياحي.</a:t>
            </a:r>
            <a:endParaRPr lang="ar-JO" sz="2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الحماية الاجتماعية والتعليم والنزاهة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6 | ٣/ب | الأهداف 22–24</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21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8553796"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22</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مراجعة الاستراتيجية الوطنية للحماية الاجتماعية وتحديثها وإطلاق تنفيذها بما يتوافق مع رؤية التحديث الاقتصادي وبرنامجها التنفيذي.</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23</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استكمال تحديث التعليم وتطويره والعمل ليكون التعليم والتدريب المهني والتقني أولوية في المدارس والمراكز والجامعات.</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24</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مكافحة الفساد وحماية المال العام والمقدرات الوطنية من التعدي، وترسيخ قيم العدالة والمساواة والمساءلة.</a:t>
            </a:r>
            <a:endParaRPr lang="ar-JO" sz="2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النقل والسياحة والطاقة المستدامة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6 | ٣/ب | الأهداف 25–27</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22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8961120"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25</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توظيف تجربة حافلات التردد السريع في عمان والزرقاء لتشمل مناطق أوسع، تسهيلاً على المواطنين ولتمكينهم من تجاوز عقبات انخراطهم بسوق العمل.</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26</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إبراز المملكة وجهة سياحية آمنة طوال العام رغم الاضطرابات الإقليمية، ورفع جودة الخدمات والمرافق في المواقع السياحية، وتحسين تجربة الزائر وتنويع المنتج السياحي.</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27</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تعظيم الاستفادة من الموارد الطبيعية والغاز الطبيعي بتوجيه الاستثمار إليها وتوسيع الاستخدام الصناعي والتجاري لها، مع التوسع في الطاقة المتجددة والهيدروجين الأخضر للتحول نحو طاقة نظيفة ومستدامة.</a:t>
            </a:r>
            <a:endParaRPr lang="ar-JO" sz="2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القيم الوطنية والصحة والخدمة العامة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6–7 | ٣/ب | الأهداف 28–30</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23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9368444"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28</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ترسيخ القيم الوطنية والمجتمعية والعمل التطوعي والمشاركة والمسؤولية واحترام سيادة القانون عبر المؤسسات التعليمية، وتعزيز تماسك المجتمع ونهضته ضمن الدولة المدنية.</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29</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مواصلة حوسبة المستشفيات والمراكز الطبية، وتحسين جودة الخدمات الصحية والإدارة الحصيفة للمرافق والبنية الصحية في المملكة.</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30</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تكريس مساءلة المقصرين في واجباتهم تجاه المواطنين، وإعلاء مفهوم الخدمة العامة القائمة على الحلول وإزالة العراقيل.</a:t>
            </a:r>
            <a:endParaRPr lang="ar-JO" sz="2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تمكين المرأة والشباب ودعم الرياضة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7 | ٣/ب | الأهداف 31–33</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24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9775767"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31</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استكمال دعم المرأة الأردنية وتمكينها لتعزيز انخراطها في سوق العمل، وذلك بإزالة العقبات التي تحول دون مشاركتها الفاعلة، ما يكفل الارتقاء بمستوى مساهمتها في الاقتصاد الوطني.</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32</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تحمل الحكومة مسؤولية تمكين الشباب والشابات وتوجيه طاقاتهم نحو البناء والتطوير، وتوسيع دور المراكز الشبابية وحاضنات الريادة.</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33</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دعم المنتخب الوطني لكرة القدم واستدامة الشراكات مع القطاع الخاص لتوفير المنشآت والتجهيزات الرياضية وتطويرها.</a:t>
            </a:r>
            <a:endParaRPr lang="ar-JO" sz="2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التوعية والإدارة المحلية والبيانات</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7 | ٣/ب | الأهداف 34–36</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25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0183091"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34</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تكثيف برامج التوعية والتثقيف وتوفير الحواضن الشبابية في المؤسسات التعليمية والثقافية والشبابية، وتشديد ملاحقة مهربي المخدرات ومروجيها وإنفاذ القانون بحقهم.</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35</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تحديث الإطار التشريعي الناظم للانتخابات المحلية المقبلة، وتمكين هياكل الإدارة المحلية من أداء أدوارها التنموية والخدمية، وتعزيز الرقابة والمساءلة وبناء القدرات والتحول الرقمي.</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36</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تمكين دائرة الإحصاءات العامة من أداء دورها مرجعاً وطنياً للبيانات والمعلومات الشاملة، بما يدعم اتخاذ قرارات حكومية شفافة وأكثر فعالية.</a:t>
            </a:r>
            <a:endParaRPr lang="ar-JO" sz="2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التعليم والإعلام والبنية الأساسية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7 | ٣/ب | الأهداف 37–39</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26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0590415"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37</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تقليص الفجوة بين مخرجات التعليم ومتطلبات سوق العمل، وتأهيل المعلمين وتطوير المناهج، والتوسع في التدريس الذكي وتهيئة مدارس آمنة ومحفزة وبناء المدارس ورياض الأطفال.</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38</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مواكبة الثورة التكنولوجية بالعالم تستوجب العمل على تشجيع وسائل الإعلام على تطوير أدواتها للتحول الرقمي.</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39</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السعي إلى تطوير قطاع الطاقة والمياه والنقل وإيجاد حلول مناسبة لمشكلتي المياه والطاقة وتوفير البدائل.</a:t>
            </a:r>
            <a:endParaRPr lang="ar-JO" sz="2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الرابع</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الاتجاهات العامة للسياسة الوطنية الأردنية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٨ | مقدمة المحور الرابع</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27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0997738" cy="32004"/>
          </a:xfrm>
          <a:prstGeom prst="rect">
            <a:avLst/>
          </a:prstGeom>
          <a:solidFill>
            <a:srgbClr val="6DD5C1"/>
          </a:solidFill>
          <a:ln w="12700">
            <a:solidFill>
              <a:srgbClr val="6DD5C1"/>
            </a:solidFill>
            <a:prstDash val="solid"/>
          </a:ln>
        </p:spPr>
      </p:sp>
      <p:sp>
        <p:nvSpPr>
          <p:cNvPr id="12" name="Text 10"/>
          <p:cNvSpPr/>
          <p:nvPr/>
        </p:nvSpPr>
        <p:spPr>
          <a:xfrm>
            <a:off x="960120" y="2432304"/>
            <a:ext cx="12710160" cy="3017520"/>
          </a:xfrm>
          <a:prstGeom prst="rect">
            <a:avLst/>
          </a:prstGeom>
          <a:noFill/>
          <a:ln/>
        </p:spPr>
        <p:txBody>
          <a:bodyPr wrap="square" lIns="0" tIns="0" rIns="0" bIns="0" rtlCol="0" anchor="ctr"/>
          <a:lstStyle/>
          <a:p>
            <a:pPr rtl="1" algn="r" indent="0" marL="0">
              <a:lnSpc>
                <a:spcPct val="115000"/>
              </a:lnSpc>
              <a:buNone/>
            </a:pPr>
            <a:r>
              <a:rPr lang="ar-JO" altLang="en-US" sz="3000" dirty="0">
                <a:solidFill>
                  <a:srgbClr val="F2F4F6"/>
                </a:solidFill>
                <a:latin typeface="Noto Sans Arabic" pitchFamily="34" charset="0"/>
                <a:ea typeface="Noto Sans Arabic" pitchFamily="34" charset="-122"/>
                <a:cs typeface="Noto Sans Arabic" pitchFamily="34" charset="-120"/>
              </a:rPr>
              <a:t>في ظل التحولات والتوترات الإقليمية والدولية التي تؤثر في البيئة الاستراتيجية للمملكة، تحدد السياسة الوطنية الاتجاهات الحاكمة لتوظيف عناصر القوة الوطنية وحماية أمن الدولة واستقرارها وتحقيق مصالحها.</a:t>
            </a:r>
            <a:endParaRPr lang="ar-JO" sz="3000" dirty="0"/>
          </a:p>
        </p:txBody>
      </p:sp>
      <p:sp>
        <p:nvSpPr>
          <p:cNvPr id="13" name="Text 11"/>
          <p:cNvSpPr/>
          <p:nvPr/>
        </p:nvSpPr>
        <p:spPr>
          <a:xfrm>
            <a:off x="960120" y="6217920"/>
            <a:ext cx="12710160" cy="548640"/>
          </a:xfrm>
          <a:prstGeom prst="rect">
            <a:avLst/>
          </a:prstGeom>
          <a:noFill/>
          <a:ln/>
        </p:spPr>
        <p:txBody>
          <a:bodyPr wrap="square" lIns="0" tIns="0" rIns="0" bIns="0" rtlCol="0" anchor="ctr"/>
          <a:lstStyle/>
          <a:p>
            <a:pPr rtl="1" algn="r" indent="0" marL="0">
              <a:buNone/>
            </a:pPr>
            <a:r>
              <a:rPr lang="ar-JO" altLang="en-US" sz="2100" dirty="0">
                <a:solidFill>
                  <a:srgbClr val="6DD5C1"/>
                </a:solidFill>
                <a:latin typeface="Noto Sans Arabic" pitchFamily="34" charset="0"/>
                <a:ea typeface="Noto Sans Arabic" pitchFamily="34" charset="-122"/>
                <a:cs typeface="Noto Sans Arabic" pitchFamily="34" charset="-120"/>
              </a:rPr>
              <a:t>حماية الأمن والاستقرار وتحقيق المصالح</a:t>
            </a:r>
            <a:endParaRPr lang="ar-JO" sz="2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الرابع · الاتجاهات العامة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ثبات الغايات ومرجعية الاستراتيجية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٨–٩ | ٤ | أ–جـ</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28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1405062"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أ</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تبقى أهداف السياسة الوطنية ثابتة في أوقات السلم والحرب، وخلال مراحل الانتقال بينهما، مع تكييف وسائل التنفيذ وفق الظروف.</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ب</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تشكل السياسة الوطنية مرجعية توجيهية للاستراتيجية الوطنية، ويتعين أن تتسق الخطط الاستراتيجية معها ضمن تفاعل دائم يضمن وحدة الغايات وتكامل التنفيذ.</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جـ</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يتقدم هدف صون أمن الدولة الأردنية واستقرارها وسلامتها، ونظامها السياسي والاقتصادي والاجتماعي، سائر الأولويات الوطنية، في إطار الأمن الوطني بمفهومه الشامل.</a:t>
            </a:r>
            <a:endParaRPr lang="ar-JO" sz="2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الرابع · الاتجاهات العامة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الجاهزية والشرعية والبيئة الاستراتيجية</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٨–٩ | ٤ | د–و</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29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1812385"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د</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تُعد القوات المسلحة الأردنية والأجهزة الأمنية ركيزة وطنية أساسية لحماية الأمن الوطني، وتلتزم الدولة بدعم جاهزيتها وقدراتها ورعاية منتسبيها كي تنهض بواجباتها.</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هـ</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تستمد السياسة الوطنية شرعيتها من الدستور الأردني والتشريعات والأعراف الوطنية، وتراعي الالتزامات والمواثيق الدولية ذات الصلة.</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و</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تراعي السياسة الوطنية معطيات البيئة الإقليمية والدولية وتطوراتها عند تحديد الأولويات وسبل حماية الأمن الوطني الشامل.</a:t>
            </a:r>
            <a:endParaRPr lang="ar-JO" sz="2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الرابع · الاتجاهات العامة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التنمية وفلسطين والعمل العربي</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٨–٩ | ٤ | ز–ط</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30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2219709"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ز</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تهيئ السياسة بيئة داعمة للتنمية السياسية والاقتصادية والاجتماعية المتوازنة، بما يعزز النمو والرعاية الاجتماعية ومستوى معيشة المواطنين.</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ح</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تشكل القضية الفلسطينية محوراً أساسياً في علاقات الأردن الإقليمية والدولية، لارتباطها المباشر بمصالحه الوطنية.</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ط</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تدعم السياسة الوطنية بناء موقف عربي مشترك وتطوير تكتل عربي قادر على التأثير في القضايا الإقليمية والدولية.</a:t>
            </a:r>
            <a:endParaRPr lang="ar-JO" sz="2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الرابع · الاتجاهات العامة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توظيف القوة وترتيب السياسات</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٨–٩ | ٤ | ي–ل</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31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2627033"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5392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5392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ي</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تتدرج أولوية توظيف عناصر القوة الوطنية من السياسي، فالاقتصادي، فالاجتماعي، فالإعلامي، فالمعلوماتي والتقني، ثم الأمني والدفاعي؛ ويظل الاستخدام العسكري خياراً أخيراً ما لم تتعرض المصالح الحيوية لتهديد فعلي يستوجب القرار السياسي.</a:t>
            </a:r>
            <a:endParaRPr lang="ar-JO" sz="2300" dirty="0"/>
          </a:p>
        </p:txBody>
      </p:sp>
      <p:sp>
        <p:nvSpPr>
          <p:cNvPr id="17" name="Shape 15"/>
          <p:cNvSpPr/>
          <p:nvPr/>
        </p:nvSpPr>
        <p:spPr>
          <a:xfrm>
            <a:off x="594360" y="3779520"/>
            <a:ext cx="13441680" cy="1539240"/>
          </a:xfrm>
          <a:prstGeom prst="rect">
            <a:avLst/>
          </a:prstGeom>
          <a:solidFill>
            <a:srgbClr val="1B2028"/>
          </a:solidFill>
          <a:ln w="12700">
            <a:solidFill>
              <a:srgbClr val="1B2028"/>
            </a:solidFill>
            <a:prstDash val="solid"/>
          </a:ln>
        </p:spPr>
      </p:sp>
      <p:sp>
        <p:nvSpPr>
          <p:cNvPr id="18" name="Shape 16"/>
          <p:cNvSpPr/>
          <p:nvPr/>
        </p:nvSpPr>
        <p:spPr>
          <a:xfrm>
            <a:off x="13962888" y="3779520"/>
            <a:ext cx="73152" cy="1539240"/>
          </a:xfrm>
          <a:prstGeom prst="rect">
            <a:avLst/>
          </a:prstGeom>
          <a:solidFill>
            <a:srgbClr val="6DD5C1"/>
          </a:solidFill>
          <a:ln w="12700">
            <a:solidFill>
              <a:srgbClr val="6DD5C1"/>
            </a:solidFill>
            <a:prstDash val="solid"/>
          </a:ln>
        </p:spPr>
      </p:sp>
      <p:sp>
        <p:nvSpPr>
          <p:cNvPr id="19" name="Shape 17"/>
          <p:cNvSpPr/>
          <p:nvPr/>
        </p:nvSpPr>
        <p:spPr>
          <a:xfrm>
            <a:off x="12938760" y="39806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ك</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تُعطى السياسات التخصصية الأولوية بحسب هذا التسلسل: الخارجية، الدفاعية، الاقتصادية، الأمن الداخلي، الاجتماعية، الإعلامية والمعلوماتية، العلمية والتقنية، ثم مكافحة الإرهاب، مع التكامل في التنفيذ.</a:t>
            </a:r>
            <a:endParaRPr lang="ar-JO" sz="2300" dirty="0"/>
          </a:p>
        </p:txBody>
      </p:sp>
      <p:sp>
        <p:nvSpPr>
          <p:cNvPr id="22" name="Shape 20"/>
          <p:cNvSpPr/>
          <p:nvPr/>
        </p:nvSpPr>
        <p:spPr>
          <a:xfrm>
            <a:off x="594360" y="5455920"/>
            <a:ext cx="13441680" cy="1539240"/>
          </a:xfrm>
          <a:prstGeom prst="rect">
            <a:avLst/>
          </a:prstGeom>
          <a:solidFill>
            <a:srgbClr val="1B2028"/>
          </a:solidFill>
          <a:ln w="12700">
            <a:solidFill>
              <a:srgbClr val="1B2028"/>
            </a:solidFill>
            <a:prstDash val="solid"/>
          </a:ln>
        </p:spPr>
      </p:sp>
      <p:sp>
        <p:nvSpPr>
          <p:cNvPr id="23" name="Shape 21"/>
          <p:cNvSpPr/>
          <p:nvPr/>
        </p:nvSpPr>
        <p:spPr>
          <a:xfrm>
            <a:off x="13962888" y="5455920"/>
            <a:ext cx="73152" cy="1539240"/>
          </a:xfrm>
          <a:prstGeom prst="rect">
            <a:avLst/>
          </a:prstGeom>
          <a:solidFill>
            <a:srgbClr val="6DD5C1"/>
          </a:solidFill>
          <a:ln w="12700">
            <a:solidFill>
              <a:srgbClr val="6DD5C1"/>
            </a:solidFill>
            <a:prstDash val="solid"/>
          </a:ln>
        </p:spPr>
      </p:sp>
      <p:sp>
        <p:nvSpPr>
          <p:cNvPr id="24" name="Shape 22"/>
          <p:cNvSpPr/>
          <p:nvPr/>
        </p:nvSpPr>
        <p:spPr>
          <a:xfrm>
            <a:off x="12938760" y="56570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ل</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F2F4F6"/>
                </a:solidFill>
                <a:latin typeface="Noto Sans Arabic" pitchFamily="34" charset="0"/>
                <a:ea typeface="Noto Sans Arabic" pitchFamily="34" charset="-122"/>
                <a:cs typeface="Noto Sans Arabic" pitchFamily="34" charset="-120"/>
              </a:rPr>
              <a:t>تتبنى الدولة إصلاحاً متدرجاً وشاملاً في المجالات السياسية والاقتصادية والإدارية، وتراجع التشريعات والبرامج وفق الأولويات الوطنية ومتطلبات التطوير.</a:t>
            </a:r>
            <a:endParaRPr lang="ar-JO" sz="2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المحور الرابع · الاتجاهات العامة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المشاركة وسيادة القانون والتكنولوجيا والسلام</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ص ٨–٩ | ٤ | م–ع</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32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3034356"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1201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1201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م</a:t>
            </a:r>
            <a:endParaRPr lang="ar-JO" sz="1800" dirty="0"/>
          </a:p>
        </p:txBody>
      </p:sp>
      <p:sp>
        <p:nvSpPr>
          <p:cNvPr id="16" name="Text 14"/>
          <p:cNvSpPr/>
          <p:nvPr/>
        </p:nvSpPr>
        <p:spPr>
          <a:xfrm>
            <a:off x="932688" y="2240280"/>
            <a:ext cx="11612880" cy="845820"/>
          </a:xfrm>
          <a:prstGeom prst="rect">
            <a:avLst/>
          </a:prstGeom>
          <a:noFill/>
          <a:ln/>
        </p:spPr>
        <p:txBody>
          <a:bodyPr wrap="square" lIns="0" tIns="0" rIns="0" bIns="0" rtlCol="0" anchor="ctr"/>
          <a:lstStyle/>
          <a:p>
            <a:pPr rtl="1" algn="r" indent="0" marL="0">
              <a:lnSpc>
                <a:spcPct val="112000"/>
              </a:lnSpc>
              <a:buNone/>
            </a:pPr>
            <a:r>
              <a:rPr lang="ar-JO" altLang="en-US" sz="2050" dirty="0">
                <a:solidFill>
                  <a:srgbClr val="F2F4F6"/>
                </a:solidFill>
                <a:latin typeface="Noto Sans Arabic" pitchFamily="34" charset="0"/>
                <a:ea typeface="Noto Sans Arabic" pitchFamily="34" charset="-122"/>
                <a:cs typeface="Noto Sans Arabic" pitchFamily="34" charset="-120"/>
              </a:rPr>
              <a:t>توسع الدولة المشاركة الديمقراطية، وتمكن المرأة والشباب ومؤسسات المجتمع المدني من المشاركة في صنع القرار وتحمل المسؤولية.</a:t>
            </a:r>
            <a:endParaRPr lang="ar-JO" sz="2050" dirty="0"/>
          </a:p>
        </p:txBody>
      </p:sp>
      <p:sp>
        <p:nvSpPr>
          <p:cNvPr id="17" name="Shape 15"/>
          <p:cNvSpPr/>
          <p:nvPr/>
        </p:nvSpPr>
        <p:spPr>
          <a:xfrm>
            <a:off x="594360" y="3360420"/>
            <a:ext cx="13441680" cy="1120140"/>
          </a:xfrm>
          <a:prstGeom prst="rect">
            <a:avLst/>
          </a:prstGeom>
          <a:solidFill>
            <a:srgbClr val="1B2028"/>
          </a:solidFill>
          <a:ln w="12700">
            <a:solidFill>
              <a:srgbClr val="1B2028"/>
            </a:solidFill>
            <a:prstDash val="solid"/>
          </a:ln>
        </p:spPr>
      </p:sp>
      <p:sp>
        <p:nvSpPr>
          <p:cNvPr id="18" name="Shape 16"/>
          <p:cNvSpPr/>
          <p:nvPr/>
        </p:nvSpPr>
        <p:spPr>
          <a:xfrm>
            <a:off x="13962888" y="3360420"/>
            <a:ext cx="73152" cy="1120140"/>
          </a:xfrm>
          <a:prstGeom prst="rect">
            <a:avLst/>
          </a:prstGeom>
          <a:solidFill>
            <a:srgbClr val="6DD5C1"/>
          </a:solidFill>
          <a:ln w="12700">
            <a:solidFill>
              <a:srgbClr val="6DD5C1"/>
            </a:solidFill>
            <a:prstDash val="solid"/>
          </a:ln>
        </p:spPr>
      </p:sp>
      <p:sp>
        <p:nvSpPr>
          <p:cNvPr id="19" name="Shape 17"/>
          <p:cNvSpPr/>
          <p:nvPr/>
        </p:nvSpPr>
        <p:spPr>
          <a:xfrm>
            <a:off x="12938760" y="35615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5615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ن</a:t>
            </a:r>
            <a:endParaRPr lang="ar-JO" sz="1800" dirty="0"/>
          </a:p>
        </p:txBody>
      </p:sp>
      <p:sp>
        <p:nvSpPr>
          <p:cNvPr id="21" name="Text 19"/>
          <p:cNvSpPr/>
          <p:nvPr/>
        </p:nvSpPr>
        <p:spPr>
          <a:xfrm>
            <a:off x="932688" y="3497580"/>
            <a:ext cx="11612880" cy="845820"/>
          </a:xfrm>
          <a:prstGeom prst="rect">
            <a:avLst/>
          </a:prstGeom>
          <a:noFill/>
          <a:ln/>
        </p:spPr>
        <p:txBody>
          <a:bodyPr wrap="square" lIns="0" tIns="0" rIns="0" bIns="0" rtlCol="0" anchor="ctr"/>
          <a:lstStyle/>
          <a:p>
            <a:pPr rtl="1" algn="r" indent="0" marL="0">
              <a:lnSpc>
                <a:spcPct val="112000"/>
              </a:lnSpc>
              <a:buNone/>
            </a:pPr>
            <a:r>
              <a:rPr lang="ar-JO" altLang="en-US" sz="2050" dirty="0">
                <a:solidFill>
                  <a:srgbClr val="F2F4F6"/>
                </a:solidFill>
                <a:latin typeface="Noto Sans Arabic" pitchFamily="34" charset="0"/>
                <a:ea typeface="Noto Sans Arabic" pitchFamily="34" charset="-122"/>
                <a:cs typeface="Noto Sans Arabic" pitchFamily="34" charset="-120"/>
              </a:rPr>
              <a:t>تؤسس سيادة القانون واستقلال القضاء والتكامل بين السلطات الثلاث لدولة مدنية عادلة وتعزز الثقة بمؤسساتها.</a:t>
            </a:r>
            <a:endParaRPr lang="ar-JO" sz="2050" dirty="0"/>
          </a:p>
        </p:txBody>
      </p:sp>
      <p:sp>
        <p:nvSpPr>
          <p:cNvPr id="22" name="Shape 20"/>
          <p:cNvSpPr/>
          <p:nvPr/>
        </p:nvSpPr>
        <p:spPr>
          <a:xfrm>
            <a:off x="594360" y="4617720"/>
            <a:ext cx="13441680" cy="1120140"/>
          </a:xfrm>
          <a:prstGeom prst="rect">
            <a:avLst/>
          </a:prstGeom>
          <a:solidFill>
            <a:srgbClr val="1B2028"/>
          </a:solidFill>
          <a:ln w="12700">
            <a:solidFill>
              <a:srgbClr val="1B2028"/>
            </a:solidFill>
            <a:prstDash val="solid"/>
          </a:ln>
        </p:spPr>
      </p:sp>
      <p:sp>
        <p:nvSpPr>
          <p:cNvPr id="23" name="Shape 21"/>
          <p:cNvSpPr/>
          <p:nvPr/>
        </p:nvSpPr>
        <p:spPr>
          <a:xfrm>
            <a:off x="13962888" y="4617720"/>
            <a:ext cx="73152" cy="1120140"/>
          </a:xfrm>
          <a:prstGeom prst="rect">
            <a:avLst/>
          </a:prstGeom>
          <a:solidFill>
            <a:srgbClr val="6DD5C1"/>
          </a:solidFill>
          <a:ln w="12700">
            <a:solidFill>
              <a:srgbClr val="6DD5C1"/>
            </a:solidFill>
            <a:prstDash val="solid"/>
          </a:ln>
        </p:spPr>
      </p:sp>
      <p:sp>
        <p:nvSpPr>
          <p:cNvPr id="24" name="Shape 22"/>
          <p:cNvSpPr/>
          <p:nvPr/>
        </p:nvSpPr>
        <p:spPr>
          <a:xfrm>
            <a:off x="12938760" y="48188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48188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س</a:t>
            </a:r>
            <a:endParaRPr lang="ar-JO" sz="1800" dirty="0"/>
          </a:p>
        </p:txBody>
      </p:sp>
      <p:sp>
        <p:nvSpPr>
          <p:cNvPr id="26" name="Text 24"/>
          <p:cNvSpPr/>
          <p:nvPr/>
        </p:nvSpPr>
        <p:spPr>
          <a:xfrm>
            <a:off x="932688" y="4754880"/>
            <a:ext cx="11612880" cy="845820"/>
          </a:xfrm>
          <a:prstGeom prst="rect">
            <a:avLst/>
          </a:prstGeom>
          <a:noFill/>
          <a:ln/>
        </p:spPr>
        <p:txBody>
          <a:bodyPr wrap="square" lIns="0" tIns="0" rIns="0" bIns="0" rtlCol="0" anchor="ctr"/>
          <a:lstStyle/>
          <a:p>
            <a:pPr rtl="1" algn="r" indent="0" marL="0">
              <a:lnSpc>
                <a:spcPct val="112000"/>
              </a:lnSpc>
              <a:buNone/>
            </a:pPr>
            <a:r>
              <a:rPr lang="ar-JO" altLang="en-US" sz="2050" dirty="0">
                <a:solidFill>
                  <a:srgbClr val="F2F4F6"/>
                </a:solidFill>
                <a:latin typeface="Noto Sans Arabic" pitchFamily="34" charset="0"/>
                <a:ea typeface="Noto Sans Arabic" pitchFamily="34" charset="-122"/>
                <a:cs typeface="Noto Sans Arabic" pitchFamily="34" charset="-120"/>
              </a:rPr>
              <a:t>تستثمر الدولة التكنولوجيا والاتصال الحديثين في تطوير الأداء وإطلاق المبادرات والطاقات الشبابية.</a:t>
            </a:r>
            <a:endParaRPr lang="ar-JO" sz="2050" dirty="0"/>
          </a:p>
        </p:txBody>
      </p:sp>
      <p:sp>
        <p:nvSpPr>
          <p:cNvPr id="27" name="Shape 25"/>
          <p:cNvSpPr/>
          <p:nvPr/>
        </p:nvSpPr>
        <p:spPr>
          <a:xfrm>
            <a:off x="594360" y="5875020"/>
            <a:ext cx="13441680" cy="1120140"/>
          </a:xfrm>
          <a:prstGeom prst="rect">
            <a:avLst/>
          </a:prstGeom>
          <a:solidFill>
            <a:srgbClr val="1B2028"/>
          </a:solidFill>
          <a:ln w="12700">
            <a:solidFill>
              <a:srgbClr val="1B2028"/>
            </a:solidFill>
            <a:prstDash val="solid"/>
          </a:ln>
        </p:spPr>
      </p:sp>
      <p:sp>
        <p:nvSpPr>
          <p:cNvPr id="28" name="Shape 26"/>
          <p:cNvSpPr/>
          <p:nvPr/>
        </p:nvSpPr>
        <p:spPr>
          <a:xfrm>
            <a:off x="13962888" y="5875020"/>
            <a:ext cx="73152" cy="1120140"/>
          </a:xfrm>
          <a:prstGeom prst="rect">
            <a:avLst/>
          </a:prstGeom>
          <a:solidFill>
            <a:srgbClr val="6DD5C1"/>
          </a:solidFill>
          <a:ln w="12700">
            <a:solidFill>
              <a:srgbClr val="6DD5C1"/>
            </a:solidFill>
            <a:prstDash val="solid"/>
          </a:ln>
        </p:spPr>
      </p:sp>
      <p:sp>
        <p:nvSpPr>
          <p:cNvPr id="29" name="Shape 27"/>
          <p:cNvSpPr/>
          <p:nvPr/>
        </p:nvSpPr>
        <p:spPr>
          <a:xfrm>
            <a:off x="12938760" y="6076188"/>
            <a:ext cx="713232" cy="484632"/>
          </a:xfrm>
          <a:prstGeom prst="rect">
            <a:avLst/>
          </a:prstGeom>
          <a:solidFill>
            <a:srgbClr val="6DD5C1"/>
          </a:solidFill>
          <a:ln w="12700">
            <a:solidFill>
              <a:srgbClr val="6DD5C1"/>
            </a:solidFill>
            <a:prstDash val="solid"/>
          </a:ln>
        </p:spPr>
      </p:sp>
      <p:sp>
        <p:nvSpPr>
          <p:cNvPr id="30" name="Text 28"/>
          <p:cNvSpPr/>
          <p:nvPr/>
        </p:nvSpPr>
        <p:spPr>
          <a:xfrm>
            <a:off x="12938760" y="60761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ع</a:t>
            </a:r>
            <a:endParaRPr lang="ar-JO" sz="1800" dirty="0"/>
          </a:p>
        </p:txBody>
      </p:sp>
      <p:sp>
        <p:nvSpPr>
          <p:cNvPr id="31" name="Text 29"/>
          <p:cNvSpPr/>
          <p:nvPr/>
        </p:nvSpPr>
        <p:spPr>
          <a:xfrm>
            <a:off x="932688" y="6012180"/>
            <a:ext cx="11612880" cy="845820"/>
          </a:xfrm>
          <a:prstGeom prst="rect">
            <a:avLst/>
          </a:prstGeom>
          <a:noFill/>
          <a:ln/>
        </p:spPr>
        <p:txBody>
          <a:bodyPr wrap="square" lIns="0" tIns="0" rIns="0" bIns="0" rtlCol="0" anchor="ctr"/>
          <a:lstStyle/>
          <a:p>
            <a:pPr rtl="1" algn="r" indent="0" marL="0">
              <a:lnSpc>
                <a:spcPct val="112000"/>
              </a:lnSpc>
              <a:buNone/>
            </a:pPr>
            <a:r>
              <a:rPr lang="ar-JO" altLang="en-US" sz="2050" dirty="0">
                <a:solidFill>
                  <a:srgbClr val="F2F4F6"/>
                </a:solidFill>
                <a:latin typeface="Noto Sans Arabic" pitchFamily="34" charset="0"/>
                <a:ea typeface="Noto Sans Arabic" pitchFamily="34" charset="-122"/>
                <a:cs typeface="Noto Sans Arabic" pitchFamily="34" charset="-120"/>
              </a:rPr>
              <a:t>ترجح الدولة التسويات والوسائل السلمية في التعامل مع الأزمات الإقليمية والدولية.</a:t>
            </a:r>
            <a:endParaRPr lang="ar-JO" sz="2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01318"/>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6DD5C1"/>
          </a:solidFill>
          <a:ln w="12700">
            <a:solidFill>
              <a:srgbClr val="6DD5C1"/>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6DD5C1"/>
                </a:solidFill>
                <a:latin typeface="Noto Sans Arabic" pitchFamily="34" charset="0"/>
                <a:ea typeface="Noto Sans Arabic" pitchFamily="34" charset="-122"/>
                <a:cs typeface="Noto Sans Arabic" pitchFamily="34" charset="-120"/>
              </a:rPr>
              <a:t>ختام العرض</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F2F4F6"/>
                </a:solidFill>
                <a:latin typeface="Noto Sans Arabic" pitchFamily="34" charset="0"/>
                <a:ea typeface="Noto Sans Arabic" pitchFamily="34" charset="-122"/>
                <a:cs typeface="Noto Sans Arabic" pitchFamily="34" charset="-120"/>
              </a:rPr>
              <a:t>من المطلب إلى توجيه العمل الوطني</a:t>
            </a:r>
            <a:endParaRPr lang="ar-JO" sz="3000" dirty="0"/>
          </a:p>
        </p:txBody>
      </p:sp>
      <p:sp>
        <p:nvSpPr>
          <p:cNvPr id="5" name="Shape 3"/>
          <p:cNvSpPr/>
          <p:nvPr/>
        </p:nvSpPr>
        <p:spPr>
          <a:xfrm>
            <a:off x="594360" y="1847088"/>
            <a:ext cx="13441680" cy="13716"/>
          </a:xfrm>
          <a:prstGeom prst="rect">
            <a:avLst/>
          </a:prstGeom>
          <a:solidFill>
            <a:srgbClr val="303744"/>
          </a:solidFill>
          <a:ln w="12700">
            <a:solidFill>
              <a:srgbClr val="303744"/>
            </a:solidFill>
            <a:prstDash val="solid"/>
          </a:ln>
        </p:spPr>
      </p:sp>
      <p:sp>
        <p:nvSpPr>
          <p:cNvPr id="6" name="Shape 4"/>
          <p:cNvSpPr/>
          <p:nvPr/>
        </p:nvSpPr>
        <p:spPr>
          <a:xfrm>
            <a:off x="594360" y="7671816"/>
            <a:ext cx="13441680" cy="10973"/>
          </a:xfrm>
          <a:prstGeom prst="rect">
            <a:avLst/>
          </a:prstGeom>
          <a:solidFill>
            <a:srgbClr val="303744"/>
          </a:solidFill>
          <a:ln w="12700">
            <a:solidFill>
              <a:srgbClr val="303744"/>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المصدر: السياسة الوطنية — الحكومة (ج)، ص ٢–٩</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A8B1BF"/>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33 / 33</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A8B1BF"/>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3441680" cy="32004"/>
          </a:xfrm>
          <a:prstGeom prst="rect">
            <a:avLst/>
          </a:prstGeom>
          <a:solidFill>
            <a:srgbClr val="6DD5C1"/>
          </a:solidFill>
          <a:ln w="12700">
            <a:solidFill>
              <a:srgbClr val="6DD5C1"/>
            </a:solidFill>
            <a:prstDash val="solid"/>
          </a:ln>
        </p:spPr>
      </p:sp>
      <p:sp>
        <p:nvSpPr>
          <p:cNvPr id="12" name="Shape 10"/>
          <p:cNvSpPr/>
          <p:nvPr/>
        </p:nvSpPr>
        <p:spPr>
          <a:xfrm>
            <a:off x="594360" y="2103120"/>
            <a:ext cx="13441680" cy="1120140"/>
          </a:xfrm>
          <a:prstGeom prst="rect">
            <a:avLst/>
          </a:prstGeom>
          <a:solidFill>
            <a:srgbClr val="1B2028"/>
          </a:solidFill>
          <a:ln w="12700">
            <a:solidFill>
              <a:srgbClr val="1B2028"/>
            </a:solidFill>
            <a:prstDash val="solid"/>
          </a:ln>
        </p:spPr>
      </p:sp>
      <p:sp>
        <p:nvSpPr>
          <p:cNvPr id="13" name="Shape 11"/>
          <p:cNvSpPr/>
          <p:nvPr/>
        </p:nvSpPr>
        <p:spPr>
          <a:xfrm>
            <a:off x="13962888" y="2103120"/>
            <a:ext cx="73152" cy="1120140"/>
          </a:xfrm>
          <a:prstGeom prst="rect">
            <a:avLst/>
          </a:prstGeom>
          <a:solidFill>
            <a:srgbClr val="6DD5C1"/>
          </a:solidFill>
          <a:ln w="12700">
            <a:solidFill>
              <a:srgbClr val="6DD5C1"/>
            </a:solidFill>
            <a:prstDash val="solid"/>
          </a:ln>
        </p:spPr>
      </p:sp>
      <p:sp>
        <p:nvSpPr>
          <p:cNvPr id="14" name="Shape 12"/>
          <p:cNvSpPr/>
          <p:nvPr/>
        </p:nvSpPr>
        <p:spPr>
          <a:xfrm>
            <a:off x="12938760" y="2304288"/>
            <a:ext cx="713232" cy="484632"/>
          </a:xfrm>
          <a:prstGeom prst="rect">
            <a:avLst/>
          </a:prstGeom>
          <a:solidFill>
            <a:srgbClr val="6DD5C1"/>
          </a:solidFill>
          <a:ln w="12700">
            <a:solidFill>
              <a:srgbClr val="6DD5C1"/>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١</a:t>
            </a:r>
            <a:endParaRPr lang="ar-JO" sz="1800" dirty="0"/>
          </a:p>
        </p:txBody>
      </p:sp>
      <p:sp>
        <p:nvSpPr>
          <p:cNvPr id="16" name="Text 14"/>
          <p:cNvSpPr/>
          <p:nvPr/>
        </p:nvSpPr>
        <p:spPr>
          <a:xfrm>
            <a:off x="932688" y="2240280"/>
            <a:ext cx="11612880" cy="845820"/>
          </a:xfrm>
          <a:prstGeom prst="rect">
            <a:avLst/>
          </a:prstGeom>
          <a:noFill/>
          <a:ln/>
        </p:spPr>
        <p:txBody>
          <a:bodyPr wrap="square" lIns="0" tIns="0" rIns="0" bIns="0" rtlCol="0" anchor="ctr"/>
          <a:lstStyle/>
          <a:p>
            <a:pPr rtl="1" algn="r" indent="0" marL="0">
              <a:lnSpc>
                <a:spcPct val="112000"/>
              </a:lnSpc>
              <a:buNone/>
            </a:pPr>
            <a:r>
              <a:rPr lang="ar-JO" altLang="en-US" sz="2050" dirty="0">
                <a:solidFill>
                  <a:srgbClr val="F2F4F6"/>
                </a:solidFill>
                <a:latin typeface="Noto Sans Arabic" pitchFamily="34" charset="0"/>
                <a:ea typeface="Noto Sans Arabic" pitchFamily="34" charset="-122"/>
                <a:cs typeface="Noto Sans Arabic" pitchFamily="34" charset="-120"/>
              </a:rPr>
              <a:t>المطلب الوطني: الغاية التي تستهدف أمن المواطن وحريته وازدهاره وحياته الكريمة.</a:t>
            </a:r>
            <a:endParaRPr lang="ar-JO" sz="2050" dirty="0"/>
          </a:p>
        </p:txBody>
      </p:sp>
      <p:sp>
        <p:nvSpPr>
          <p:cNvPr id="17" name="Shape 15"/>
          <p:cNvSpPr/>
          <p:nvPr/>
        </p:nvSpPr>
        <p:spPr>
          <a:xfrm>
            <a:off x="594360" y="3360420"/>
            <a:ext cx="13441680" cy="1120140"/>
          </a:xfrm>
          <a:prstGeom prst="rect">
            <a:avLst/>
          </a:prstGeom>
          <a:solidFill>
            <a:srgbClr val="1B2028"/>
          </a:solidFill>
          <a:ln w="12700">
            <a:solidFill>
              <a:srgbClr val="1B2028"/>
            </a:solidFill>
            <a:prstDash val="solid"/>
          </a:ln>
        </p:spPr>
      </p:sp>
      <p:sp>
        <p:nvSpPr>
          <p:cNvPr id="18" name="Shape 16"/>
          <p:cNvSpPr/>
          <p:nvPr/>
        </p:nvSpPr>
        <p:spPr>
          <a:xfrm>
            <a:off x="13962888" y="3360420"/>
            <a:ext cx="73152" cy="1120140"/>
          </a:xfrm>
          <a:prstGeom prst="rect">
            <a:avLst/>
          </a:prstGeom>
          <a:solidFill>
            <a:srgbClr val="6DD5C1"/>
          </a:solidFill>
          <a:ln w="12700">
            <a:solidFill>
              <a:srgbClr val="6DD5C1"/>
            </a:solidFill>
            <a:prstDash val="solid"/>
          </a:ln>
        </p:spPr>
      </p:sp>
      <p:sp>
        <p:nvSpPr>
          <p:cNvPr id="19" name="Shape 17"/>
          <p:cNvSpPr/>
          <p:nvPr/>
        </p:nvSpPr>
        <p:spPr>
          <a:xfrm>
            <a:off x="12938760" y="3561588"/>
            <a:ext cx="713232" cy="484632"/>
          </a:xfrm>
          <a:prstGeom prst="rect">
            <a:avLst/>
          </a:prstGeom>
          <a:solidFill>
            <a:srgbClr val="6DD5C1"/>
          </a:solidFill>
          <a:ln w="12700">
            <a:solidFill>
              <a:srgbClr val="6DD5C1"/>
            </a:solidFill>
            <a:prstDash val="solid"/>
          </a:ln>
        </p:spPr>
      </p:sp>
      <p:sp>
        <p:nvSpPr>
          <p:cNvPr id="20" name="Text 18"/>
          <p:cNvSpPr/>
          <p:nvPr/>
        </p:nvSpPr>
        <p:spPr>
          <a:xfrm>
            <a:off x="12938760" y="35615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٢</a:t>
            </a:r>
            <a:endParaRPr lang="ar-JO" sz="1800" dirty="0"/>
          </a:p>
        </p:txBody>
      </p:sp>
      <p:sp>
        <p:nvSpPr>
          <p:cNvPr id="21" name="Text 19"/>
          <p:cNvSpPr/>
          <p:nvPr/>
        </p:nvSpPr>
        <p:spPr>
          <a:xfrm>
            <a:off x="932688" y="3497580"/>
            <a:ext cx="11612880" cy="845820"/>
          </a:xfrm>
          <a:prstGeom prst="rect">
            <a:avLst/>
          </a:prstGeom>
          <a:noFill/>
          <a:ln/>
        </p:spPr>
        <p:txBody>
          <a:bodyPr wrap="square" lIns="0" tIns="0" rIns="0" bIns="0" rtlCol="0" anchor="ctr"/>
          <a:lstStyle/>
          <a:p>
            <a:pPr rtl="1" algn="r" indent="0" marL="0">
              <a:lnSpc>
                <a:spcPct val="112000"/>
              </a:lnSpc>
              <a:buNone/>
            </a:pPr>
            <a:r>
              <a:rPr lang="ar-JO" altLang="en-US" sz="2050" dirty="0">
                <a:solidFill>
                  <a:srgbClr val="F2F4F6"/>
                </a:solidFill>
                <a:latin typeface="Noto Sans Arabic" pitchFamily="34" charset="0"/>
                <a:ea typeface="Noto Sans Arabic" pitchFamily="34" charset="-122"/>
                <a:cs typeface="Noto Sans Arabic" pitchFamily="34" charset="-120"/>
              </a:rPr>
              <a:t>المصالح الوطنية: مصلحة حيوية واحدة، وأربع عشرة مصلحة أساسية، وتسع مصالح ثانوية.</a:t>
            </a:r>
            <a:endParaRPr lang="ar-JO" sz="2050" dirty="0"/>
          </a:p>
        </p:txBody>
      </p:sp>
      <p:sp>
        <p:nvSpPr>
          <p:cNvPr id="22" name="Shape 20"/>
          <p:cNvSpPr/>
          <p:nvPr/>
        </p:nvSpPr>
        <p:spPr>
          <a:xfrm>
            <a:off x="594360" y="4617720"/>
            <a:ext cx="13441680" cy="1120140"/>
          </a:xfrm>
          <a:prstGeom prst="rect">
            <a:avLst/>
          </a:prstGeom>
          <a:solidFill>
            <a:srgbClr val="1B2028"/>
          </a:solidFill>
          <a:ln w="12700">
            <a:solidFill>
              <a:srgbClr val="1B2028"/>
            </a:solidFill>
            <a:prstDash val="solid"/>
          </a:ln>
        </p:spPr>
      </p:sp>
      <p:sp>
        <p:nvSpPr>
          <p:cNvPr id="23" name="Shape 21"/>
          <p:cNvSpPr/>
          <p:nvPr/>
        </p:nvSpPr>
        <p:spPr>
          <a:xfrm>
            <a:off x="13962888" y="4617720"/>
            <a:ext cx="73152" cy="1120140"/>
          </a:xfrm>
          <a:prstGeom prst="rect">
            <a:avLst/>
          </a:prstGeom>
          <a:solidFill>
            <a:srgbClr val="6DD5C1"/>
          </a:solidFill>
          <a:ln w="12700">
            <a:solidFill>
              <a:srgbClr val="6DD5C1"/>
            </a:solidFill>
            <a:prstDash val="solid"/>
          </a:ln>
        </p:spPr>
      </p:sp>
      <p:sp>
        <p:nvSpPr>
          <p:cNvPr id="24" name="Shape 22"/>
          <p:cNvSpPr/>
          <p:nvPr/>
        </p:nvSpPr>
        <p:spPr>
          <a:xfrm>
            <a:off x="12938760" y="4818888"/>
            <a:ext cx="713232" cy="484632"/>
          </a:xfrm>
          <a:prstGeom prst="rect">
            <a:avLst/>
          </a:prstGeom>
          <a:solidFill>
            <a:srgbClr val="6DD5C1"/>
          </a:solidFill>
          <a:ln w="12700">
            <a:solidFill>
              <a:srgbClr val="6DD5C1"/>
            </a:solidFill>
            <a:prstDash val="solid"/>
          </a:ln>
        </p:spPr>
      </p:sp>
      <p:sp>
        <p:nvSpPr>
          <p:cNvPr id="25" name="Text 23"/>
          <p:cNvSpPr/>
          <p:nvPr/>
        </p:nvSpPr>
        <p:spPr>
          <a:xfrm>
            <a:off x="12938760" y="48188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٣</a:t>
            </a:r>
            <a:endParaRPr lang="ar-JO" sz="1800" dirty="0"/>
          </a:p>
        </p:txBody>
      </p:sp>
      <p:sp>
        <p:nvSpPr>
          <p:cNvPr id="26" name="Text 24"/>
          <p:cNvSpPr/>
          <p:nvPr/>
        </p:nvSpPr>
        <p:spPr>
          <a:xfrm>
            <a:off x="932688" y="4754880"/>
            <a:ext cx="11612880" cy="845820"/>
          </a:xfrm>
          <a:prstGeom prst="rect">
            <a:avLst/>
          </a:prstGeom>
          <a:noFill/>
          <a:ln/>
        </p:spPr>
        <p:txBody>
          <a:bodyPr wrap="square" lIns="0" tIns="0" rIns="0" bIns="0" rtlCol="0" anchor="ctr"/>
          <a:lstStyle/>
          <a:p>
            <a:pPr rtl="1" algn="r" indent="0" marL="0">
              <a:lnSpc>
                <a:spcPct val="112000"/>
              </a:lnSpc>
              <a:buNone/>
            </a:pPr>
            <a:r>
              <a:rPr lang="ar-JO" altLang="en-US" sz="2050" dirty="0">
                <a:solidFill>
                  <a:srgbClr val="F2F4F6"/>
                </a:solidFill>
                <a:latin typeface="Noto Sans Arabic" pitchFamily="34" charset="0"/>
                <a:ea typeface="Noto Sans Arabic" pitchFamily="34" charset="-122"/>
                <a:cs typeface="Noto Sans Arabic" pitchFamily="34" charset="-120"/>
              </a:rPr>
              <a:t>الأهداف الوطنية: تسعة وثلاثون هدفاً، مع المفهوم العام الوارد في الوثيقة.</a:t>
            </a:r>
            <a:endParaRPr lang="ar-JO" sz="2050" dirty="0"/>
          </a:p>
        </p:txBody>
      </p:sp>
      <p:sp>
        <p:nvSpPr>
          <p:cNvPr id="27" name="Shape 25"/>
          <p:cNvSpPr/>
          <p:nvPr/>
        </p:nvSpPr>
        <p:spPr>
          <a:xfrm>
            <a:off x="594360" y="5875020"/>
            <a:ext cx="13441680" cy="1120140"/>
          </a:xfrm>
          <a:prstGeom prst="rect">
            <a:avLst/>
          </a:prstGeom>
          <a:solidFill>
            <a:srgbClr val="1B2028"/>
          </a:solidFill>
          <a:ln w="12700">
            <a:solidFill>
              <a:srgbClr val="1B2028"/>
            </a:solidFill>
            <a:prstDash val="solid"/>
          </a:ln>
        </p:spPr>
      </p:sp>
      <p:sp>
        <p:nvSpPr>
          <p:cNvPr id="28" name="Shape 26"/>
          <p:cNvSpPr/>
          <p:nvPr/>
        </p:nvSpPr>
        <p:spPr>
          <a:xfrm>
            <a:off x="13962888" y="5875020"/>
            <a:ext cx="73152" cy="1120140"/>
          </a:xfrm>
          <a:prstGeom prst="rect">
            <a:avLst/>
          </a:prstGeom>
          <a:solidFill>
            <a:srgbClr val="6DD5C1"/>
          </a:solidFill>
          <a:ln w="12700">
            <a:solidFill>
              <a:srgbClr val="6DD5C1"/>
            </a:solidFill>
            <a:prstDash val="solid"/>
          </a:ln>
        </p:spPr>
      </p:sp>
      <p:sp>
        <p:nvSpPr>
          <p:cNvPr id="29" name="Shape 27"/>
          <p:cNvSpPr/>
          <p:nvPr/>
        </p:nvSpPr>
        <p:spPr>
          <a:xfrm>
            <a:off x="12938760" y="6076188"/>
            <a:ext cx="713232" cy="484632"/>
          </a:xfrm>
          <a:prstGeom prst="rect">
            <a:avLst/>
          </a:prstGeom>
          <a:solidFill>
            <a:srgbClr val="6DD5C1"/>
          </a:solidFill>
          <a:ln w="12700">
            <a:solidFill>
              <a:srgbClr val="6DD5C1"/>
            </a:solidFill>
            <a:prstDash val="solid"/>
          </a:ln>
        </p:spPr>
      </p:sp>
      <p:sp>
        <p:nvSpPr>
          <p:cNvPr id="30" name="Text 28"/>
          <p:cNvSpPr/>
          <p:nvPr/>
        </p:nvSpPr>
        <p:spPr>
          <a:xfrm>
            <a:off x="12938760" y="60761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101318"/>
                </a:solidFill>
                <a:latin typeface="Noto Sans Arabic" pitchFamily="34" charset="0"/>
                <a:ea typeface="Noto Sans Arabic" pitchFamily="34" charset="-122"/>
                <a:cs typeface="Noto Sans Arabic" pitchFamily="34" charset="-120"/>
              </a:rPr>
              <a:t>٤</a:t>
            </a:r>
            <a:endParaRPr lang="ar-JO" sz="1800" dirty="0"/>
          </a:p>
        </p:txBody>
      </p:sp>
      <p:sp>
        <p:nvSpPr>
          <p:cNvPr id="31" name="Text 29"/>
          <p:cNvSpPr/>
          <p:nvPr/>
        </p:nvSpPr>
        <p:spPr>
          <a:xfrm>
            <a:off x="932688" y="6012180"/>
            <a:ext cx="11612880" cy="845820"/>
          </a:xfrm>
          <a:prstGeom prst="rect">
            <a:avLst/>
          </a:prstGeom>
          <a:noFill/>
          <a:ln/>
        </p:spPr>
        <p:txBody>
          <a:bodyPr wrap="square" lIns="0" tIns="0" rIns="0" bIns="0" rtlCol="0" anchor="ctr"/>
          <a:lstStyle/>
          <a:p>
            <a:pPr rtl="1" algn="r" indent="0" marL="0">
              <a:lnSpc>
                <a:spcPct val="112000"/>
              </a:lnSpc>
              <a:buNone/>
            </a:pPr>
            <a:r>
              <a:rPr lang="ar-JO" altLang="en-US" sz="2050" dirty="0">
                <a:solidFill>
                  <a:srgbClr val="F2F4F6"/>
                </a:solidFill>
                <a:latin typeface="Noto Sans Arabic" pitchFamily="34" charset="0"/>
                <a:ea typeface="Noto Sans Arabic" pitchFamily="34" charset="-122"/>
                <a:cs typeface="Noto Sans Arabic" pitchFamily="34" charset="-120"/>
              </a:rPr>
              <a:t>الاتجاهات العامة: ستة عشر اتجاهاً تحكم السياسة الوطنية وتكامل تنفيذها.</a:t>
            </a:r>
            <a:endParaRPr lang="ar-JO" sz="2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Arab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Arab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عرض تدريبي</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السياسة الوطنية | عرض تفصيلي لمدة ثلاثين دقيقة</dc:title>
  <dc:subject>المحاور الأربعة الأولى من وثيقة السياسة الوطنية — الحكومة (ج)</dc:subject>
  <dc:creator>إعداد من الوثيقة المرفقة</dc:creator>
  <cp:lastModifiedBy>إعداد من الوثيقة المرفقة</cp:lastModifiedBy>
  <cp:revision>1</cp:revision>
  <dcterms:created xsi:type="dcterms:W3CDTF">2026-10-18T17:16:17Z</dcterms:created>
  <dcterms:modified xsi:type="dcterms:W3CDTF">2026-10-18T17:16:17Z</dcterms:modified>
</cp:coreProperties>
</file>