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4807472b-b140-f87f-72da-f42173bee056}">
          <p14:sldIdLst>
            <p14:sldId id="256"/>
            <p14:sldId id="257"/>
          </p14:sldIdLst>
        </p14:section>
        <p14:section name="1. المطلب الوطني" id="{7547bc71-2aa5-5c6d-aea2-0718d5594d35}">
          <p14:sldIdLst>
            <p14:sldId id="258"/>
            <p14:sldId id="259"/>
          </p14:sldIdLst>
        </p14:section>
        <p14:section name="2. المصالح الوطنية" id="{4c5e87bc-50bd-5334-b75b-5e19cbbccbb4}">
          <p14:sldIdLst>
            <p14:sldId id="260"/>
            <p14:sldId id="261"/>
            <p14:sldId id="262"/>
            <p14:sldId id="263"/>
            <p14:sldId id="264"/>
            <p14:sldId id="265"/>
            <p14:sldId id="266"/>
            <p14:sldId id="267"/>
            <p14:sldId id="268"/>
          </p14:sldIdLst>
        </p14:section>
        <p14:section name="3. الأهداف الوطنية" id="{46233a13-d5ff-6ff1-0f2f-9529e0b841de}">
          <p14:sldIdLst>
            <p14:sldId id="269"/>
            <p14:sldId id="270"/>
            <p14:sldId id="271"/>
            <p14:sldId id="272"/>
            <p14:sldId id="273"/>
            <p14:sldId id="274"/>
            <p14:sldId id="275"/>
            <p14:sldId id="276"/>
            <p14:sldId id="277"/>
            <p14:sldId id="278"/>
            <p14:sldId id="279"/>
            <p14:sldId id="280"/>
          </p14:sldIdLst>
        </p14:section>
        <p14:section name="4. الاتجاهات العامة للسياسة الوطنية الأردنية" id="{42dd3fe0-2858-6607-3744-7b6ca0ded4a8}">
          <p14:sldIdLst>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0.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 من 56</a:t>
            </a:r>
          </a:p>
          <a:p>
            <a:r>
              <a:t>التوقيت الإرشادي: 00:00–00:45 (45 ثانية).</a:t>
            </a:r>
          </a:p>
          <a:p>
            <a:r>
              <a:t>توزيع الثلاثين دقيقة تقديري ويتطلب الالتزام بالتوقيت أثناء التدريب على الإلقاء.</a:t>
            </a:r>
          </a:p>
          <a:p>
            <a:r>
              <a:t>الصفحة الافتتاحية وجدول الأسماء والمسميات محفوظان من الملف المرفق دون تغيير.</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30 من 56</a:t>
            </a:r>
          </a:p>
          <a:p>
            <a:r>
              <a:t>التوقيت الإرشادي: 17:35–17:40 (5 ثانية).</a:t>
            </a:r>
          </a:p>
          <a:p>
            <a:r>
              <a:t>توزيع الثلاثين دقيقة تقديري ويتطلب الالتزام بالتوقيت أثناء التدريب على الإلقاء.</a:t>
            </a:r>
          </a:p>
          <a:p>
            <a:r>
              <a:t>المحور 5: السياسة الخارجية. يتبعه أول ستة أهداف فرعية من الوثيقة الأصلية بنصها الكامل وترتيبها. المرجع: السياسة الوطنية — الحكومة (ج)، ص ٩–١٠.</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 من 56</a:t>
            </a:r>
          </a:p>
          <a:p>
            <a:r>
              <a:t>التوقيت الإرشادي: 00:45–00:50 (5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3 من 56</a:t>
            </a:r>
          </a:p>
          <a:p>
            <a:r>
              <a:t>التوقيت الإرشادي: 00:50–01:15 (25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4 من 56</a:t>
            </a:r>
          </a:p>
          <a:p>
            <a:r>
              <a:t>التوقيت الإرشادي: 01:15–01:20 (5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5 من 56</a:t>
            </a:r>
          </a:p>
          <a:p>
            <a:r>
              <a:t>التوقيت الإرشادي: 01:20–01:48 (28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6 من 56</a:t>
            </a:r>
          </a:p>
          <a:p>
            <a:r>
              <a:t>التوقيت الإرشادي: 01:48–02:29 (41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7 من 56</a:t>
            </a:r>
          </a:p>
          <a:p>
            <a:r>
              <a:t>التوقيت الإرشادي: 02:29–03:08 (39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8 من 56</a:t>
            </a:r>
          </a:p>
          <a:p>
            <a:r>
              <a:t>التوقيت الإرشادي: 03:08–03:50 (42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9 من 56</a:t>
            </a:r>
          </a:p>
          <a:p>
            <a:r>
              <a:t>التوقيت الإرشادي: 03:50–04:29 (39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10 من 56</a:t>
            </a:r>
          </a:p>
          <a:p>
            <a:r>
              <a:t>التوقيت الإرشادي: 04:29–05:06 (37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11 من 56</a:t>
            </a:r>
          </a:p>
          <a:p>
            <a:r>
              <a:t>التوقيت الإرشادي: 05:06–05:47 (41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12 من 56</a:t>
            </a:r>
          </a:p>
          <a:p>
            <a:r>
              <a:t>التوقيت الإرشادي: 05:47–06:24 (37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13 من 56</a:t>
            </a:r>
          </a:p>
          <a:p>
            <a:r>
              <a:t>التوقيت الإرشادي: 06:24–06:29 (5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14 من 56</a:t>
            </a:r>
          </a:p>
          <a:p>
            <a:r>
              <a:t>التوقيت الإرشادي: 06:29–07:01 (32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15 من 56</a:t>
            </a:r>
          </a:p>
          <a:p>
            <a:r>
              <a:t>التوقيت الإرشادي: 07:01–07:46 (45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16 من 56</a:t>
            </a:r>
          </a:p>
          <a:p>
            <a:r>
              <a:t>التوقيت الإرشادي: 07:46–08:29 (43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17 من 56</a:t>
            </a:r>
          </a:p>
          <a:p>
            <a:r>
              <a:t>التوقيت الإرشادي: 08:29–09:10 (41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18 من 56</a:t>
            </a:r>
          </a:p>
          <a:p>
            <a:r>
              <a:t>التوقيت الإرشادي: 09:10–09:54 (44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19 من 56</a:t>
            </a:r>
          </a:p>
          <a:p>
            <a:r>
              <a:t>التوقيت الإرشادي: 09:54–10:40 (46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20 من 56</a:t>
            </a:r>
          </a:p>
          <a:p>
            <a:r>
              <a:t>التوقيت الإرشادي: 10:40–11:24 (44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21 من 56</a:t>
            </a:r>
          </a:p>
          <a:p>
            <a:r>
              <a:t>التوقيت الإرشادي: 11:24–12:11 (47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22 من 56</a:t>
            </a:r>
          </a:p>
          <a:p>
            <a:r>
              <a:t>التوقيت الإرشادي: 12:11–12:57 (46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23 من 56</a:t>
            </a:r>
          </a:p>
          <a:p>
            <a:r>
              <a:t>التوقيت الإرشادي: 12:57–13:42 (45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24 من 56</a:t>
            </a:r>
          </a:p>
          <a:p>
            <a:r>
              <a:t>التوقيت الإرشادي: 13:42–14:26 (44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25 من 56</a:t>
            </a:r>
          </a:p>
          <a:p>
            <a:r>
              <a:t>التوقيت الإرشادي: 14:26–14:31 (5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26 من 56</a:t>
            </a:r>
          </a:p>
          <a:p>
            <a:r>
              <a:t>التوقيت الإرشادي: 14:31–15:19 (48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27 من 56</a:t>
            </a:r>
          </a:p>
          <a:p>
            <a:r>
              <a:t>التوقيت الإرشادي: 15:19–16:03 (44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28 من 56</a:t>
            </a:r>
          </a:p>
          <a:p>
            <a:r>
              <a:t>التوقيت الإرشادي: 16:03–16:51 (48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الشريحة 29 من 56</a:t>
            </a:r>
          </a:p>
          <a:p>
            <a:r>
              <a:t>التوقيت الإرشادي: 16:51–17:35 (44 ثانية).</a:t>
            </a:r>
          </a:p>
          <a:p>
            <a:r>
              <a:t>توزيع الثلاثين دقيقة تقديري ويتطلب الالتزام بالتوقيت أثناء التدريب على الإلقاء.</a:t>
            </a:r>
          </a:p>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31 من 56</a:t>
            </a:r>
          </a:p>
          <a:p>
            <a:r>
              <a:t>التوقيت الإرشادي: 17:40–18:20 (40 ثانية).</a:t>
            </a:r>
          </a:p>
          <a:p>
            <a:r>
              <a:t>توزيع الثلاثين دقيقة تقديري ويتطلب الالتزام بالتوقيت أثناء التدريب على الإلقاء.</a:t>
            </a:r>
          </a:p>
          <a:p>
            <a:r>
              <a:t>المحور 5: السياسة الخارجية</a:t>
            </a:r>
          </a:p>
          <a:p>
            <a:r>
              <a:t>أول ستة أهداف من المصدر، الجزء الأول: ١–٣.</a:t>
            </a:r>
          </a:p>
          <a:p>
            <a:r>
              <a:t>المرجع: السياسة الوطنية — الحكومة (ج)، ص ٩–١٠.</a:t>
            </a:r>
          </a:p>
          <a:p>
            <a:r>
              <a:t>اعرض النقاط بالنص الكامل وبالترتيب. يتناول هذا الجزء الأهداف الستة الأولى فقط وفق طلب المستخدم.</a:t>
            </a:r>
          </a:p>
          <a:p/>
          <a:p>
            <a:r>
              <a:t>(1) ممارسة السياسة الخارجية عبر إدامة العلاقات وتنميتها مع القوى الدولية الكبرى والمنظمات الإقليمية والدولية بدبلوماسية نشطة فاعلة مع القوى المؤثرة في المجتمع الدولي.</a:t>
            </a:r>
          </a:p>
          <a:p/>
          <a:p>
            <a:r>
              <a:t>(2) ترسيخ موقف الأردن بأن أمن الشرق الأوسط واستقراره يتطلبان حلاً عادلاً للقضية الفلسطينية يفضي إلى إقامة الدولة الفلسطينية المستقلة وعاصمتها القدس الشرقية.</a:t>
            </a:r>
          </a:p>
          <a:p/>
          <a:p>
            <a:r>
              <a:t>(3) الإسهام في حماية الأمن الوطني وصون المصالح الوطنية من الآثار المحتملة لتطورات الإقليم.</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32 من 56</a:t>
            </a:r>
          </a:p>
          <a:p>
            <a:r>
              <a:t>التوقيت الإرشادي: 18:20–19:03 (43 ثانية).</a:t>
            </a:r>
          </a:p>
          <a:p>
            <a:r>
              <a:t>توزيع الثلاثين دقيقة تقديري ويتطلب الالتزام بالتوقيت أثناء التدريب على الإلقاء.</a:t>
            </a:r>
          </a:p>
          <a:p>
            <a:r>
              <a:t>المحور 5: السياسة الخارجية</a:t>
            </a:r>
          </a:p>
          <a:p>
            <a:r>
              <a:t>أول ستة أهداف من المصدر، الجزء الثاني: ٤–٦.</a:t>
            </a:r>
          </a:p>
          <a:p>
            <a:r>
              <a:t>المرجع: السياسة الوطنية — الحكومة (ج)، ص ٩–١٠.</a:t>
            </a:r>
          </a:p>
          <a:p>
            <a:r>
              <a:t>اعرض النقاط بالنص الكامل وبالترتيب. يتناول هذا الجزء الأهداف الستة الأولى فقط وفق طلب المستخدم.</a:t>
            </a:r>
          </a:p>
          <a:p/>
          <a:p>
            <a:r>
              <a:t>(4) اعتماد السياسة الخارجية الأردنية مبادئ الاعتدال والواقعية والفهم العميق لمجمل الأوضاع الدولية والإقليمية وقدرتها على المواءمة بين المصلحة الوطنية والمصلحة القومية والتوجهات الدولية الحميدة وآليات العمل المشترك.</a:t>
            </a:r>
          </a:p>
          <a:p/>
          <a:p>
            <a:r>
              <a:t>(5) تثبيت الموقف الأردني الرافض لأي تسوية للقضية الفلسطينية على حساب الأردن، ولمحاولات التهجير القسري أو ضم الأراضي الفلسطينية، باعتبارها مساساً بالأمن الوطني الأردني.</a:t>
            </a:r>
          </a:p>
          <a:p/>
          <a:p>
            <a:r>
              <a:t>(6) توسيع مساهمة الأردن في عمليات حفظ السلام الأممية، وتعزيز حضوره الإنساني في إدارة الأزمات والإغاثة عند وقوع الكوارث.</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33 من 56</a:t>
            </a:r>
          </a:p>
          <a:p>
            <a:r>
              <a:t>التوقيت الإرشادي: 19:03–19:08 (5 ثانية).</a:t>
            </a:r>
          </a:p>
          <a:p>
            <a:r>
              <a:t>توزيع الثلاثين دقيقة تقديري ويتطلب الالتزام بالتوقيت أثناء التدريب على الإلقاء.</a:t>
            </a:r>
          </a:p>
          <a:p>
            <a:r>
              <a:t>المحور 6: السياسة الدفاعية. يتبعه أول ستة أهداف فرعية من الوثيقة الأصلية بنصها الكامل وترتيبها. المرجع: السياسة الوطنية — الحكومة (ج)، ص ١١–١٢.</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34 من 56</a:t>
            </a:r>
          </a:p>
          <a:p>
            <a:r>
              <a:t>التوقيت الإرشادي: 19:08–19:48 (40 ثانية).</a:t>
            </a:r>
          </a:p>
          <a:p>
            <a:r>
              <a:t>توزيع الثلاثين دقيقة تقديري ويتطلب الالتزام بالتوقيت أثناء التدريب على الإلقاء.</a:t>
            </a:r>
          </a:p>
          <a:p>
            <a:r>
              <a:t>المحور 6: السياسة الدفاعية</a:t>
            </a:r>
          </a:p>
          <a:p>
            <a:r>
              <a:t>أول ستة أهداف من المصدر، الجزء الأول: ١–٣.</a:t>
            </a:r>
          </a:p>
          <a:p>
            <a:r>
              <a:t>المرجع: السياسة الوطنية — الحكومة (ج)، ص ١١–١٢.</a:t>
            </a:r>
          </a:p>
          <a:p>
            <a:r>
              <a:t>اعرض النقاط بالنص الكامل وبالترتيب. يتناول هذا الجزء الأهداف الستة الأولى فقط وفق طلب المستخدم.</a:t>
            </a:r>
          </a:p>
          <a:p/>
          <a:p>
            <a:r>
              <a:t>(1) حماية الأمن الوطني الأردني وإدامة الاستقرار ببعديه الدفاعي والأمني، والتصدي التدريجي والمتناسب للتحديات والتهديدات الداخلية والخارجية وفق مستوياتها.</a:t>
            </a:r>
          </a:p>
          <a:p/>
          <a:p>
            <a:r>
              <a:t>(2) التأسيس لحالة ردع عملياتي عبر تعزيز وتنمية القدرات الدفاعية للقوات المسلحة الأردنية، وبما يحافظ على أمن واستقرار وسيادة المملكة الأردنية الهاشمية وسلامة ووحدة أراضيها (المصلحة الحيوية).</a:t>
            </a:r>
          </a:p>
          <a:p/>
          <a:p>
            <a:r>
              <a:t>(3) المساهمة بفعالية في محاربة الإرهاب بمختلف أشكاله وأنواعه محلياً وإقليمياً ودولياً، ومحاربة الغلو والفكر المتطرف.</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35 من 56</a:t>
            </a:r>
          </a:p>
          <a:p>
            <a:r>
              <a:t>التوقيت الإرشادي: 19:48–20:37 (49 ثانية).</a:t>
            </a:r>
          </a:p>
          <a:p>
            <a:r>
              <a:t>توزيع الثلاثين دقيقة تقديري ويتطلب الالتزام بالتوقيت أثناء التدريب على الإلقاء.</a:t>
            </a:r>
          </a:p>
          <a:p>
            <a:r>
              <a:t>المحور 6: السياسة الدفاعية</a:t>
            </a:r>
          </a:p>
          <a:p>
            <a:r>
              <a:t>أول ستة أهداف من المصدر، الجزء الثاني: ٤–٦.</a:t>
            </a:r>
          </a:p>
          <a:p>
            <a:r>
              <a:t>المرجع: السياسة الوطنية — الحكومة (ج)، ص ١١–١٢.</a:t>
            </a:r>
          </a:p>
          <a:p>
            <a:r>
              <a:t>اعرض النقاط بالنص الكامل وبالترتيب. يتناول هذا الجزء الأهداف الستة الأولى فقط وفق طلب المستخدم.</a:t>
            </a:r>
          </a:p>
          <a:p/>
          <a:p>
            <a:r>
              <a:t>(4) إرساء وتطوير قاعدة صناعات دفاعية حديثة ومتطورة، والاهتمام بالصناعات الدفاعية، وضرورة تطوير وإقامة بعض الصناعات العسكرية التي تلبي احتياجات القوات المسلحة الأردنية، واستخدام التكنولوجيا الحديثة في القوات المسلحة في مختلف المجالات لمواكبة التطورات الحديثة في مسارح العمليات.</a:t>
            </a:r>
          </a:p>
          <a:p/>
          <a:p>
            <a:r>
              <a:t>(5) العمل على إعداد وتهيئة مسرح العمليات وبما يتلاءم مع خطط الدفاع على جميع الاتجاهات الاستراتيجية للدولة الأردنية وخاصة الاتجاه الغربي والشمالي، مع تطوير خطط العمليات وبشكل متدرج بطريقة تحاكي التطور المستمر في المجال التقني والتركيز على العمليات غير التقليدية.</a:t>
            </a:r>
          </a:p>
          <a:p/>
          <a:p>
            <a:r>
              <a:t>(6) إسناد برامج التنمية المستدامة وطنياً في القطاعات التعليمية والتشغيلية والتدريبية والاقتصادية والزراعية والاجتماعية والصحية.</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36 من 56</a:t>
            </a:r>
          </a:p>
          <a:p>
            <a:r>
              <a:t>التوقيت الإرشادي: 20:37–20:42 (5 ثانية).</a:t>
            </a:r>
          </a:p>
          <a:p>
            <a:r>
              <a:t>توزيع الثلاثين دقيقة تقديري ويتطلب الالتزام بالتوقيت أثناء التدريب على الإلقاء.</a:t>
            </a:r>
          </a:p>
          <a:p>
            <a:r>
              <a:t>المحور 7: السياسة الاقتصادية. يتبعه أول ستة أهداف فرعية من الوثيقة الأصلية بنصها الكامل وترتيبها. المرجع: السياسة الوطنية — الحكومة (ج)، ص ١٣–١٤.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37 من 56</a:t>
            </a:r>
          </a:p>
          <a:p>
            <a:r>
              <a:t>التوقيت الإرشادي: 20:42–21:16 (34 ثانية).</a:t>
            </a:r>
          </a:p>
          <a:p>
            <a:r>
              <a:t>توزيع الثلاثين دقيقة تقديري ويتطلب الالتزام بالتوقيت أثناء التدريب على الإلقاء.</a:t>
            </a:r>
          </a:p>
          <a:p>
            <a:r>
              <a:t>المحور 7: السياسة الاقتصادية</a:t>
            </a:r>
          </a:p>
          <a:p>
            <a:r>
              <a:t>أول ستة أهداف من المصدر، الجزء الأول: ١–٣.</a:t>
            </a:r>
          </a:p>
          <a:p>
            <a:r>
              <a:t>المرجع: السياسة الوطنية — الحكومة (ج)، ص ١٣–١٤.</a:t>
            </a:r>
          </a:p>
          <a:p>
            <a:r>
              <a:t>اعرض النقاط بالنص الكامل وبالترتيب. يتناول هذا الجزء الأهداف الستة الأولى فقط وفق طلب المستخدم.</a:t>
            </a:r>
          </a:p>
          <a:p/>
          <a:p>
            <a:r>
              <a:t>(1) مواصلة إنجاز برامج رؤية التحديث الاقتصادي للأعوام 2023–2033 ومتابعة تنفيذها.</a:t>
            </a:r>
          </a:p>
          <a:p/>
          <a:p>
            <a:r>
              <a:t>(2) الارتقاء بمعدلات النمو الاقتصادي والوصول إلى التنمية المستدامة بأعلى من معدلات النمو السكاني.</a:t>
            </a:r>
          </a:p>
          <a:p/>
          <a:p>
            <a:r>
              <a:t>(3) المضي في تعزيز نهج الاعتماد على الذات وتمكين الموارد البشرية الواعدة وتوسيع فرص تشغيل المواطنين.</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38 من 56</a:t>
            </a:r>
          </a:p>
          <a:p>
            <a:r>
              <a:t>التوقيت الإرشادي: 21:16–22:00 (44 ثانية).</a:t>
            </a:r>
          </a:p>
          <a:p>
            <a:r>
              <a:t>توزيع الثلاثين دقيقة تقديري ويتطلب الالتزام بالتوقيت أثناء التدريب على الإلقاء.</a:t>
            </a:r>
          </a:p>
          <a:p>
            <a:r>
              <a:t>المحور 7: السياسة الاقتصادية</a:t>
            </a:r>
          </a:p>
          <a:p>
            <a:r>
              <a:t>أول ستة أهداف من المصدر، الجزء الثاني: ٤–٦.</a:t>
            </a:r>
          </a:p>
          <a:p>
            <a:r>
              <a:t>المرجع: السياسة الوطنية — الحكومة (ج)، ص ١٣–١٤.</a:t>
            </a:r>
          </a:p>
          <a:p>
            <a:r>
              <a:t>اعرض النقاط بالنص الكامل وبالترتيب. يتناول هذا الجزء الأهداف الستة الأولى فقط وفق طلب المستخدم.</a:t>
            </a:r>
          </a:p>
          <a:p/>
          <a:p>
            <a:r>
              <a:t>(4) إعطاء الأولوية للاقتصاد الإنتاجي في مختلف القطاعات وخصوصاً الزراعي وإنشاء مراكز تدريب زراعية في مختلف مناطق المملكة لرفع قدرات المزارعين وتمكينهم تكنولوجياً وضمان الاستغلال الأمثل للموارد.</a:t>
            </a:r>
          </a:p>
          <a:p/>
          <a:p>
            <a:r>
              <a:t>(5) السعي إلى تحقيق الأمن الغذائي والدوائي وأمن الطاقة وذلك بضمان دوام واستمرار توفرهما للمواطن بتوظيف المصادر البديلة المتوفرة.</a:t>
            </a:r>
          </a:p>
          <a:p/>
          <a:p>
            <a:r>
              <a:t>(6) المضي في استكمال نهج التصحيح الاقتصادي وتحديث التشريعات الاقتصادية بما يشجع عملية الاستثمار وبما يدعم بيئة الأعمال وتنافسية الأردن إقليمياً وعالمياً وبما يسهم في الارتقاء بمستوى التنمية الوطنية المستدامة الشاملة.</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39 من 56</a:t>
            </a:r>
          </a:p>
          <a:p>
            <a:r>
              <a:t>التوقيت الإرشادي: 22:00–22:05 (5 ثانية).</a:t>
            </a:r>
          </a:p>
          <a:p>
            <a:r>
              <a:t>توزيع الثلاثين دقيقة تقديري ويتطلب الالتزام بالتوقيت أثناء التدريب على الإلقاء.</a:t>
            </a:r>
          </a:p>
          <a:p>
            <a:r>
              <a:t>المحور 8: سياسة الأمن الداخلي. يتبعه أول ستة أهداف فرعية من الوثيقة الأصلية بنصها الكامل وترتيبها. المرجع: السياسة الوطنية — الحكومة (ج)، ص ١٧.</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40 من 56</a:t>
            </a:r>
          </a:p>
          <a:p>
            <a:r>
              <a:t>التوقيت الإرشادي: 22:05–22:42 (37 ثانية).</a:t>
            </a:r>
          </a:p>
          <a:p>
            <a:r>
              <a:t>توزيع الثلاثين دقيقة تقديري ويتطلب الالتزام بالتوقيت أثناء التدريب على الإلقاء.</a:t>
            </a:r>
          </a:p>
          <a:p>
            <a:r>
              <a:t>المحور 8: سياسة الأمن الداخلي</a:t>
            </a:r>
          </a:p>
          <a:p>
            <a:r>
              <a:t>أول ستة أهداف من المصدر، الجزء الأول: ١–٣.</a:t>
            </a:r>
          </a:p>
          <a:p>
            <a:r>
              <a:t>المرجع: السياسة الوطنية — الحكومة (ج)، ص ١٧.</a:t>
            </a:r>
          </a:p>
          <a:p>
            <a:r>
              <a:t>اعرض النقاط بالنص الكامل وبالترتيب. يتناول هذا الجزء الأهداف الستة الأولى فقط وفق طلب المستخدم.</a:t>
            </a:r>
          </a:p>
          <a:p/>
          <a:p>
            <a:r>
              <a:t>(1) السعي إلى تطوير الجهاز القضائي وتعزيز سيادة القانون لتحقيق التنمية السياسية والإدارية والتعليمية والاقتصادية.</a:t>
            </a:r>
          </a:p>
          <a:p/>
          <a:p>
            <a:r>
              <a:t>(2) السعي إلى تحقيق الأمن والاستقرار الداخلي وتوفير المساندة اللازمة للأجهزة الأمنية لتكون قادرة على إنفاذ القانون وفرض هيبة الدولة ومكافحة الجريمة وآفة المخدرات.</a:t>
            </a:r>
          </a:p>
          <a:p/>
          <a:p>
            <a:r>
              <a:t>(3) إدامة متطلبات الحكم المحلي اللامركزي للمحافظات ضمن إطار ديمقراطي منفتح.</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41 من 56</a:t>
            </a:r>
          </a:p>
          <a:p>
            <a:r>
              <a:t>التوقيت الإرشادي: 22:42–23:19 (37 ثانية).</a:t>
            </a:r>
          </a:p>
          <a:p>
            <a:r>
              <a:t>توزيع الثلاثين دقيقة تقديري ويتطلب الالتزام بالتوقيت أثناء التدريب على الإلقاء.</a:t>
            </a:r>
          </a:p>
          <a:p>
            <a:r>
              <a:t>المحور 8: سياسة الأمن الداخلي</a:t>
            </a:r>
          </a:p>
          <a:p>
            <a:r>
              <a:t>أول ستة أهداف من المصدر، الجزء الثاني: ٤–٦.</a:t>
            </a:r>
          </a:p>
          <a:p>
            <a:r>
              <a:t>المرجع: السياسة الوطنية — الحكومة (ج)، ص ١٧.</a:t>
            </a:r>
          </a:p>
          <a:p>
            <a:r>
              <a:t>اعرض النقاط بالنص الكامل وبالترتيب. يتناول هذا الجزء الأهداف الستة الأولى فقط وفق طلب المستخدم.</a:t>
            </a:r>
          </a:p>
          <a:p/>
          <a:p>
            <a:r>
              <a:t>(4) توسيع صلاحيات المحافظات وقدراتها في إدارة التنمية الاقتصادية والاجتماعية والسياسية ضمن نهج اللامركزية.</a:t>
            </a:r>
          </a:p>
          <a:p/>
          <a:p>
            <a:r>
              <a:t>(5) تحديث منظومة إدارة الأزمات والكوارث الوطنية لتحقيق الاستجابة المثلى للأزمات والكوارث وتخفيف آثارها.</a:t>
            </a:r>
          </a:p>
          <a:p/>
          <a:p>
            <a:r>
              <a:t>(6) الحفاظ على الحريات العامة وحفظ الأمن وتحقيق التوازن بينهما في حدود الدستور والقوانين والأنظمة العامة والعمل على تعميق الانتماء والولاء للوطن.</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42 من 56</a:t>
            </a:r>
          </a:p>
          <a:p>
            <a:r>
              <a:t>التوقيت الإرشادي: 23:19–23:24 (5 ثانية).</a:t>
            </a:r>
          </a:p>
          <a:p>
            <a:r>
              <a:t>توزيع الثلاثين دقيقة تقديري ويتطلب الالتزام بالتوقيت أثناء التدريب على الإلقاء.</a:t>
            </a:r>
          </a:p>
          <a:p>
            <a:r>
              <a:t>المحور 9: السياسة الاجتماعية. يتبعه أول ستة أهداف فرعية من الوثيقة الأصلية بنصها الكامل وترتيبها. المرجع: السياسة الوطنية — الحكومة (ج)، ص ١٨.</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43 من 56</a:t>
            </a:r>
          </a:p>
          <a:p>
            <a:r>
              <a:t>التوقيت الإرشادي: 23:24–24:11 (47 ثانية).</a:t>
            </a:r>
          </a:p>
          <a:p>
            <a:r>
              <a:t>توزيع الثلاثين دقيقة تقديري ويتطلب الالتزام بالتوقيت أثناء التدريب على الإلقاء.</a:t>
            </a:r>
          </a:p>
          <a:p>
            <a:r>
              <a:t>المحور 9: السياسة الاجتماعية</a:t>
            </a:r>
          </a:p>
          <a:p>
            <a:r>
              <a:t>أول ستة أهداف من المصدر، الجزء الأول: ١–٣.</a:t>
            </a:r>
          </a:p>
          <a:p>
            <a:r>
              <a:t>المرجع: السياسة الوطنية — الحكومة (ج)، ص ١٨.</a:t>
            </a:r>
          </a:p>
          <a:p>
            <a:r>
              <a:t>اعرض النقاط بالنص الكامل وبالترتيب. يتناول هذا الجزء الأهداف الستة الأولى فقط وفق طلب المستخدم.</a:t>
            </a:r>
          </a:p>
          <a:p/>
          <a:p>
            <a:r>
              <a:t>(1) تضع السياسة الاجتماعية رفاه المواطن في صدارة الأولويات، وتعمل على تحسين مستوى دخله وظروفه المعيشية بما ينعكس على استقراره الاجتماعي.</a:t>
            </a:r>
          </a:p>
          <a:p/>
          <a:p>
            <a:r>
              <a:t>(2) وضع برامج لتحسين مستوى حياة المواطنين محدودي الدخل والفقراء، عبر شبكة الأمان الاجتماعي، وتشييد المساكن للشرائح الاجتماعية المستهدفة، وبرامج تمكين الفقراء (عبر التدريب والتأهيل)، ومساندة الأسر الفقيرة عبر طرود الخير الهاشمية.</a:t>
            </a:r>
          </a:p>
          <a:p/>
          <a:p>
            <a:r>
              <a:t>(3) تأمين حياة أفضل لجميع شرائح المجتمع الأردني عبر تأمين السكن المناسب وفي مقدمتها لأبناء القوات المسلحة الأردنية – الجيش العربي والأجهزة الأمنية، وإسكان المعلمين ومشروع الملك عبدالله الثاني لإسكان الأسر العفيفة.</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44 من 56</a:t>
            </a:r>
          </a:p>
          <a:p>
            <a:r>
              <a:t>التوقيت الإرشادي: 24:11–24:54 (43 ثانية).</a:t>
            </a:r>
          </a:p>
          <a:p>
            <a:r>
              <a:t>توزيع الثلاثين دقيقة تقديري ويتطلب الالتزام بالتوقيت أثناء التدريب على الإلقاء.</a:t>
            </a:r>
          </a:p>
          <a:p>
            <a:r>
              <a:t>المحور 9: السياسة الاجتماعية</a:t>
            </a:r>
          </a:p>
          <a:p>
            <a:r>
              <a:t>أول ستة أهداف من المصدر، الجزء الثاني: ٤–٦.</a:t>
            </a:r>
          </a:p>
          <a:p>
            <a:r>
              <a:t>المرجع: السياسة الوطنية — الحكومة (ج)، ص ١٨.</a:t>
            </a:r>
          </a:p>
          <a:p>
            <a:r>
              <a:t>اعرض النقاط بالنص الكامل وبالترتيب. يتناول هذا الجزء الأهداف الستة الأولى فقط وفق طلب المستخدم.</a:t>
            </a:r>
          </a:p>
          <a:p/>
          <a:p>
            <a:r>
              <a:t>(4) إدامة وتعزيز روح الانتماء الوطني للحفاظ على تماسك الجبهة الداخلية ورفع المستوى الصحي وشمول كافة المواطنين بمظلة التأمين الصحي الشامل وكذلك رفع المستوى التعليمي والتوسع بقبول الطلبة في الجامعات الأردنية وتوفير فرص العمل وتقليص البطالة.</a:t>
            </a:r>
          </a:p>
          <a:p/>
          <a:p>
            <a:r>
              <a:t>(5) العمل على تعزيز منظومة مكافحة الفساد ووضع ميثاق لتعزيز منظومة النزاهة الوطنية بالشراكة مع جميع المؤسسات الرقابية.</a:t>
            </a:r>
          </a:p>
          <a:p/>
          <a:p>
            <a:r>
              <a:t>(6) العمل على تعزيز وحدة المجتمع الأردني وتنظيم العلاقات بين أفراده لضمان تحقيق العدالة والمساواة وتكافؤ الفرص فيما بينهم.</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45 من 56</a:t>
            </a:r>
          </a:p>
          <a:p>
            <a:r>
              <a:t>التوقيت الإرشادي: 24:54–24:59 (5 ثانية).</a:t>
            </a:r>
          </a:p>
          <a:p>
            <a:r>
              <a:t>توزيع الثلاثين دقيقة تقديري ويتطلب الالتزام بالتوقيت أثناء التدريب على الإلقاء.</a:t>
            </a:r>
          </a:p>
          <a:p>
            <a:r>
              <a:t>المحور 10: السياسة الإعلامية. يتبعه أول ستة أهداف فرعية من الوثيقة الأصلية بنصها الكامل وترتيبها. المرجع: السياسة الوطنية — الحكومة (ج)، ص ٢٠.</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46 من 56</a:t>
            </a:r>
          </a:p>
          <a:p>
            <a:r>
              <a:t>التوقيت الإرشادي: 24:59–25:38 (39 ثانية).</a:t>
            </a:r>
          </a:p>
          <a:p>
            <a:r>
              <a:t>توزيع الثلاثين دقيقة تقديري ويتطلب الالتزام بالتوقيت أثناء التدريب على الإلقاء.</a:t>
            </a:r>
          </a:p>
          <a:p>
            <a:r>
              <a:t>المحور 10: السياسة الإعلامية</a:t>
            </a:r>
          </a:p>
          <a:p>
            <a:r>
              <a:t>أول ستة أهداف من المصدر، الجزء الأول: ١–٣.</a:t>
            </a:r>
          </a:p>
          <a:p>
            <a:r>
              <a:t>المرجع: السياسة الوطنية — الحكومة (ج)، ص ٢٠.</a:t>
            </a:r>
          </a:p>
          <a:p>
            <a:r>
              <a:t>اعرض النقاط بالنص الكامل وبالترتيب. يتناول هذا الجزء الأهداف الستة الأولى فقط وفق طلب المستخدم.</a:t>
            </a:r>
          </a:p>
          <a:p/>
          <a:p>
            <a:r>
              <a:t>(1) إسناد الحركة الثقافية والنشر والإبداع والارتقاء بمستوى الخدمة الثقافية وصون الآثار والمعالم التاريخية وصيانتها وإنشاء المتاحف وحماية المخطوطات القديمة وترميمها.</a:t>
            </a:r>
          </a:p>
          <a:p/>
          <a:p>
            <a:r>
              <a:t>(2) ترسيخ الوعي الوطني والقومي المستند إلى مبادئ الإسلام والثورة العربية الكبرى والانتماء للأردن والولاء لقيادته، بعيداً عن التعصب والتحيز.</a:t>
            </a:r>
          </a:p>
          <a:p/>
          <a:p>
            <a:r>
              <a:t>(3) نشر معرفة المواطنين بحقوقهم وواجباتهم، وترسيخ مشاركتهم المسؤولة في حماية قيم الوطن ومصالحه وإنجازاته.</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47 من 56</a:t>
            </a:r>
          </a:p>
          <a:p>
            <a:r>
              <a:t>التوقيت الإرشادي: 25:38–26:11 (33 ثانية).</a:t>
            </a:r>
          </a:p>
          <a:p>
            <a:r>
              <a:t>توزيع الثلاثين دقيقة تقديري ويتطلب الالتزام بالتوقيت أثناء التدريب على الإلقاء.</a:t>
            </a:r>
          </a:p>
          <a:p>
            <a:r>
              <a:t>المحور 10: السياسة الإعلامية</a:t>
            </a:r>
          </a:p>
          <a:p>
            <a:r>
              <a:t>أول ستة أهداف من المصدر، الجزء الثاني: ٤–٦.</a:t>
            </a:r>
          </a:p>
          <a:p>
            <a:r>
              <a:t>المرجع: السياسة الوطنية — الحكومة (ج)، ص ٢٠.</a:t>
            </a:r>
          </a:p>
          <a:p>
            <a:r>
              <a:t>اعرض النقاط بالنص الكامل وبالترتيب. يتناول هذا الجزء الأهداف الستة الأولى فقط وفق طلب المستخدم.</a:t>
            </a:r>
          </a:p>
          <a:p/>
          <a:p>
            <a:r>
              <a:t>(4) تمكين المؤسسات الإعلامية من أداء وظيفتها منابر للإعلام الوطني بما يحفظ الوحدة الوطنية.</a:t>
            </a:r>
          </a:p>
          <a:p/>
          <a:p>
            <a:r>
              <a:t>(5) حشد التأييد لدى الرأي العام المحلي والدولي للقضايا والمواقف الأردنية.</a:t>
            </a:r>
          </a:p>
          <a:p/>
          <a:p>
            <a:r>
              <a:t>(6) تعميق قيم المجتمع الأردني التي تعكس تاريخه وهويته وكفاح شعبه.</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48 من 56</a:t>
            </a:r>
          </a:p>
          <a:p>
            <a:r>
              <a:t>التوقيت الإرشادي: 26:11–26:16 (5 ثانية).</a:t>
            </a:r>
          </a:p>
          <a:p>
            <a:r>
              <a:t>توزيع الثلاثين دقيقة تقديري ويتطلب الالتزام بالتوقيت أثناء التدريب على الإلقاء.</a:t>
            </a:r>
          </a:p>
          <a:p>
            <a:r>
              <a:t>المحور 11: السياسة العلمية والتقنية. يتبعه أول ستة أهداف فرعية من الوثيقة الأصلية بنصها الكامل وترتيبها. المرجع: السياسة الوطنية — الحكومة (ج)، ص ٢١.</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49 من 56</a:t>
            </a:r>
          </a:p>
          <a:p>
            <a:r>
              <a:t>التوقيت الإرشادي: 26:16–26:54 (38 ثانية).</a:t>
            </a:r>
          </a:p>
          <a:p>
            <a:r>
              <a:t>توزيع الثلاثين دقيقة تقديري ويتطلب الالتزام بالتوقيت أثناء التدريب على الإلقاء.</a:t>
            </a:r>
          </a:p>
          <a:p>
            <a:r>
              <a:t>المحور 11: السياسة العلمية والتقنية</a:t>
            </a:r>
          </a:p>
          <a:p>
            <a:r>
              <a:t>أول ستة أهداف من المصدر، الجزء الأول: ١–٣.</a:t>
            </a:r>
          </a:p>
          <a:p>
            <a:r>
              <a:t>المرجع: السياسة الوطنية — الحكومة (ج)، ص ٢١.</a:t>
            </a:r>
          </a:p>
          <a:p>
            <a:r>
              <a:t>اعرض النقاط بالنص الكامل وبالترتيب. يتناول هذا الجزء الأهداف الستة الأولى فقط وفق طلب المستخدم.</a:t>
            </a:r>
          </a:p>
          <a:p/>
          <a:p>
            <a:r>
              <a:t>(1) تحديث منظومة متكاملة للتعليم بمختلف مراحله وقطاعاته لمواكبة أحدث المعايير الدولية.</a:t>
            </a:r>
          </a:p>
          <a:p/>
          <a:p>
            <a:r>
              <a:t>(2) إيلاء اهتمام بالتنمية البشرية عبر بناء قدرات أجيال الحاضر والمستقبل وتسليحهم بأفضل أدوات العلم والمعرفة وبما يحفز ويشجع على التميز والإبداع.</a:t>
            </a:r>
          </a:p>
          <a:p/>
          <a:p>
            <a:r>
              <a:t>(3) الاستمرار في تطبيق استراتيجية تنمية الموارد البشرية للوصول إلى نتائج ملموسة تدعم مسيرة التنمية والتطوير في الأردن.</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50 من 56</a:t>
            </a:r>
          </a:p>
          <a:p>
            <a:r>
              <a:t>التوقيت الإرشادي: 26:54–27:29 (35 ثانية).</a:t>
            </a:r>
          </a:p>
          <a:p>
            <a:r>
              <a:t>توزيع الثلاثين دقيقة تقديري ويتطلب الالتزام بالتوقيت أثناء التدريب على الإلقاء.</a:t>
            </a:r>
          </a:p>
          <a:p>
            <a:r>
              <a:t>المحور 11: السياسة العلمية والتقنية</a:t>
            </a:r>
          </a:p>
          <a:p>
            <a:r>
              <a:t>أول ستة أهداف من المصدر، الجزء الثاني: ٤–٦.</a:t>
            </a:r>
          </a:p>
          <a:p>
            <a:r>
              <a:t>المرجع: السياسة الوطنية — الحكومة (ج)، ص ٢١.</a:t>
            </a:r>
          </a:p>
          <a:p>
            <a:r>
              <a:t>اعرض النقاط بالنص الكامل وبالترتيب. يتناول هذا الجزء الأهداف الستة الأولى فقط وفق طلب المستخدم.</a:t>
            </a:r>
          </a:p>
          <a:p/>
          <a:p>
            <a:r>
              <a:t>(4) توجيه الجهود إلى توطين التكنولوجيا في البيئة الأردنية بما ينسجم والمتطلبات الوطنية.</a:t>
            </a:r>
          </a:p>
          <a:p/>
          <a:p>
            <a:r>
              <a:t>(5) تنمية القدرات الفنية التقنية والعلمية وتوظيفها بصورة تخدم الأمن الوطني.</a:t>
            </a:r>
          </a:p>
          <a:p/>
          <a:p>
            <a:r>
              <a:t>(6) إعداد كفاءات فنية وعلمية أردنية، وتوسيع فرص تأهيلها داخل المملكة وخارجها لتمكينها من توظيف العلوم والتكنولوجيا الحديثة.</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51 من 56</a:t>
            </a:r>
          </a:p>
          <a:p>
            <a:r>
              <a:t>التوقيت الإرشادي: 27:29–27:34 (5 ثانية).</a:t>
            </a:r>
          </a:p>
          <a:p>
            <a:r>
              <a:t>توزيع الثلاثين دقيقة تقديري ويتطلب الالتزام بالتوقيت أثناء التدريب على الإلقاء.</a:t>
            </a:r>
          </a:p>
          <a:p>
            <a:r>
              <a:t>المحور 12: السياسة المعلوماتية. يتبعه أول ستة أهداف فرعية من الوثيقة الأصلية بنصها الكامل وترتيبها. المرجع: السياسة الوطنية — الحكومة (ج)، ص ٢٢.</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52 من 56</a:t>
            </a:r>
          </a:p>
          <a:p>
            <a:r>
              <a:t>التوقيت الإرشادي: 27:34–28:09 (35 ثانية).</a:t>
            </a:r>
          </a:p>
          <a:p>
            <a:r>
              <a:t>توزيع الثلاثين دقيقة تقديري ويتطلب الالتزام بالتوقيت أثناء التدريب على الإلقاء.</a:t>
            </a:r>
          </a:p>
          <a:p>
            <a:r>
              <a:t>المحور 12: السياسة المعلوماتية</a:t>
            </a:r>
          </a:p>
          <a:p>
            <a:r>
              <a:t>أول ستة أهداف من المصدر، الجزء الأول: ١–٣.</a:t>
            </a:r>
          </a:p>
          <a:p>
            <a:r>
              <a:t>المرجع: السياسة الوطنية — الحكومة (ج)، ص ٢٢.</a:t>
            </a:r>
          </a:p>
          <a:p>
            <a:r>
              <a:t>اعرض النقاط بالنص الكامل وبالترتيب. يتناول هذا الجزء الأهداف الستة الأولى فقط وفق طلب المستخدم.</a:t>
            </a:r>
          </a:p>
          <a:p/>
          <a:p>
            <a:r>
              <a:t>(1) تطوير شبكة مراكز المعلومات الوطنية والتخصصية وربطها باحتياجات القطاعات السياسية والاقتصادية والتعليمية والاجتماعية والإدارية.</a:t>
            </a:r>
          </a:p>
          <a:p/>
          <a:p>
            <a:r>
              <a:t>(2) تنشيط دور مراكز البحث والدراسات الوطنية وبناء قاعدة معلومات وطنية تسهم في تحقيق التنمية الشاملة.</a:t>
            </a:r>
          </a:p>
          <a:p/>
          <a:p>
            <a:r>
              <a:t>(3) السعي إلى تطوير مشروع الحكومة الإلكترونية لخدمة المواطن ومؤسسات الدولة.</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53 من 56</a:t>
            </a:r>
          </a:p>
          <a:p>
            <a:r>
              <a:t>التوقيت الإرشادي: 28:09–28:43 (34 ثانية).</a:t>
            </a:r>
          </a:p>
          <a:p>
            <a:r>
              <a:t>توزيع الثلاثين دقيقة تقديري ويتطلب الالتزام بالتوقيت أثناء التدريب على الإلقاء.</a:t>
            </a:r>
          </a:p>
          <a:p>
            <a:r>
              <a:t>المحور 12: السياسة المعلوماتية</a:t>
            </a:r>
          </a:p>
          <a:p>
            <a:r>
              <a:t>أول ستة أهداف من المصدر، الجزء الثاني: ٤–٦.</a:t>
            </a:r>
          </a:p>
          <a:p>
            <a:r>
              <a:t>المرجع: السياسة الوطنية — الحكومة (ج)، ص ٢٢.</a:t>
            </a:r>
          </a:p>
          <a:p>
            <a:r>
              <a:t>اعرض النقاط بالنص الكامل وبالترتيب. يتناول هذا الجزء الأهداف الستة الأولى فقط وفق طلب المستخدم.</a:t>
            </a:r>
          </a:p>
          <a:p/>
          <a:p>
            <a:r>
              <a:t>(4) تأمين حماية أنظمة المعلومات الوطنية من الاختراقات والاعتداءات.</a:t>
            </a:r>
          </a:p>
          <a:p/>
          <a:p>
            <a:r>
              <a:t>(5) تسخير المعلومات في دعم السياسات الوطنية، والانفتاح المعلوماتي على العالم باستخدام وسائل الاتصالات الحديثة.</a:t>
            </a:r>
          </a:p>
          <a:p/>
          <a:p>
            <a:r>
              <a:t>(6) الارتقاء بقطاع الاتصالات وتكنولوجيا المعلومات للمحافظة على قدرته التنافسية واستيعاب الكفاءات الوطنية ومجاراة التطور العالمي.</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54 من 56</a:t>
            </a:r>
          </a:p>
          <a:p>
            <a:r>
              <a:t>التوقيت الإرشادي: 28:43–28:48 (5 ثانية).</a:t>
            </a:r>
          </a:p>
          <a:p>
            <a:r>
              <a:t>توزيع الثلاثين دقيقة تقديري ويتطلب الالتزام بالتوقيت أثناء التدريب على الإلقاء.</a:t>
            </a:r>
          </a:p>
          <a:p>
            <a:r>
              <a:t>المحور 13: سياسة مكافحة الإرهاب. يتبعه أول ستة أهداف فرعية من الوثيقة الأصلية بنصها الكامل وترتيبها. المرجع: السياسة الوطنية — الحكومة (ج)، ص ٢٣.</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55 من 56</a:t>
            </a:r>
          </a:p>
          <a:p>
            <a:r>
              <a:t>التوقيت الإرشادي: 28:48–29:27 (39 ثانية).</a:t>
            </a:r>
          </a:p>
          <a:p>
            <a:r>
              <a:t>توزيع الثلاثين دقيقة تقديري ويتطلب الالتزام بالتوقيت أثناء التدريب على الإلقاء.</a:t>
            </a:r>
          </a:p>
          <a:p>
            <a:r>
              <a:t>المحور 13: سياسة مكافحة الإرهاب</a:t>
            </a:r>
          </a:p>
          <a:p>
            <a:r>
              <a:t>أول ستة أهداف من المصدر، الجزء الأول: ١–٣.</a:t>
            </a:r>
          </a:p>
          <a:p>
            <a:r>
              <a:t>المرجع: السياسة الوطنية — الحكومة (ج)، ص ٢٣.</a:t>
            </a:r>
          </a:p>
          <a:p>
            <a:r>
              <a:t>اعرض النقاط بالنص الكامل وبالترتيب. يتناول هذا الجزء الأهداف الستة الأولى فقط وفق طلب المستخدم.</a:t>
            </a:r>
          </a:p>
          <a:p/>
          <a:p>
            <a:r>
              <a:t>(1) اعتبار مكافحة الإرهاب مكوناً أصيلاً في السياسة الوطنية، مع رفض تقديم أي تنازلات سياسية للإرهابيين والجماعات الإرهابية وتعزيز القدرات الاستخبارية للتعامل مع تهديداتهم.</a:t>
            </a:r>
          </a:p>
          <a:p/>
          <a:p>
            <a:r>
              <a:t>(2) إيلاء اهتمام بتطوير وتحديث الأجهزة الأمنية والارتقاء بمستوى كفاءتها لضمان قدرتها في مكافحة الإرهاب.</a:t>
            </a:r>
          </a:p>
          <a:p/>
          <a:p>
            <a:r>
              <a:t>(3) المحافظة على استدامة برامج الإصلاح والتنمية السياسية والاقتصادية والاجتماعية باعتبارها أحد مكونات الوقاية من التطرف.</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الشريحة 56 من 56</a:t>
            </a:r>
          </a:p>
          <a:p>
            <a:r>
              <a:t>التوقيت الإرشادي: 29:27–30:00 (33 ثانية).</a:t>
            </a:r>
          </a:p>
          <a:p>
            <a:r>
              <a:t>توزيع الثلاثين دقيقة تقديري ويتطلب الالتزام بالتوقيت أثناء التدريب على الإلقاء.</a:t>
            </a:r>
          </a:p>
          <a:p>
            <a:r>
              <a:t>المحور 13: سياسة مكافحة الإرهاب</a:t>
            </a:r>
          </a:p>
          <a:p>
            <a:r>
              <a:t>أول ستة أهداف من المصدر، الجزء الثاني: ٤–٦.</a:t>
            </a:r>
          </a:p>
          <a:p>
            <a:r>
              <a:t>المرجع: السياسة الوطنية — الحكومة (ج)، ص ٢٣.</a:t>
            </a:r>
          </a:p>
          <a:p>
            <a:r>
              <a:t>اعرض النقاط بالنص الكامل وبالترتيب. يتناول هذا الجزء الأهداف الستة الأولى فقط وفق طلب المستخدم.</a:t>
            </a:r>
          </a:p>
          <a:p/>
          <a:p>
            <a:r>
              <a:t>(4) تفعيل المشاركة الأردنية في التحالف الدولي لمكافحة الإرهاب ومساندة جهوده.</a:t>
            </a:r>
          </a:p>
          <a:p/>
          <a:p>
            <a:r>
              <a:t>(5) منع المنظمات والجماعات الإرهابية من استخدام الأراضي الأردنية منطلقاً لعملياتها.</a:t>
            </a:r>
          </a:p>
          <a:p/>
          <a:p>
            <a:r>
              <a:t>(6) التصدي بحزم لتداعيات الوضع الأمني الإقليمي وما ينتج عنه من تهديدات.</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267505" y="73152"/>
            <a:ext cx="3657600" cy="274320"/>
          </a:xfrm>
          <a:prstGeom prst="rect">
            <a:avLst/>
          </a:prstGeom>
          <a:noFill/>
          <a:ln/>
        </p:spPr>
        <p:txBody>
          <a:bodyPr wrap="square" lIns="0" tIns="0" rIns="0" bIns="0" rtlCol="0" anchor="ctr"/>
          <a:lstStyle/>
          <a:p>
            <a:pPr algn="ctr" indent="0" marL="0">
              <a:buNone/>
            </a:pPr>
            <a:r>
              <a:rPr lang="ar-JO" altLang="en-US" sz="1200" b="1" dirty="0">
                <a:solidFill>
                  <a:srgbClr val="000000"/>
                </a:solidFill>
                <a:latin typeface="Segoe UI" pitchFamily="34" charset="0"/>
                <a:ea typeface="Segoe UI" pitchFamily="34" charset="-122"/>
                <a:cs typeface="Segoe UI" pitchFamily="34" charset="-120"/>
              </a:rPr>
              <a:t>سري لأغراض التمرين</a:t>
            </a:r>
            <a:endParaRPr lang="ar-JO" sz="1200" dirty="0"/>
          </a:p>
        </p:txBody>
      </p:sp>
      <p:sp>
        <p:nvSpPr>
          <p:cNvPr id="3" name="Text 1"/>
          <p:cNvSpPr txBox="1"/>
          <p:nvPr/>
        </p:nvSpPr>
        <p:spPr>
          <a:xfrm>
            <a:off x="4267505" y="6510528"/>
            <a:ext cx="3657600" cy="274320"/>
          </a:xfrm>
          <a:prstGeom prst="rect">
            <a:avLst/>
          </a:prstGeom>
          <a:noFill/>
          <a:ln/>
        </p:spPr>
        <p:txBody>
          <a:bodyPr wrap="square" lIns="0" tIns="0" rIns="0" bIns="0" rtlCol="0" anchor="ctr"/>
          <a:lstStyle/>
          <a:p>
            <a:pPr algn="ctr" indent="0" marL="0">
              <a:buNone/>
            </a:pPr>
            <a:r>
              <a:rPr lang="ar-JO" altLang="en-US" sz="1200" b="1" dirty="0">
                <a:solidFill>
                  <a:srgbClr val="000000"/>
                </a:solidFill>
                <a:latin typeface="Segoe UI" pitchFamily="34" charset="0"/>
                <a:ea typeface="Segoe UI" pitchFamily="34" charset="-122"/>
                <a:cs typeface="Segoe UI" pitchFamily="34" charset="-120"/>
              </a:rPr>
              <a:t>سري لأغراض التمرين</a:t>
            </a:r>
            <a:endParaRPr lang="ar-JO" sz="1200" dirty="0"/>
          </a:p>
        </p:txBody>
      </p:sp>
      <p:sp>
        <p:nvSpPr>
          <p:cNvPr id="4" name="Text 2"/>
          <p:cNvSpPr txBox="1"/>
          <p:nvPr/>
        </p:nvSpPr>
        <p:spPr>
          <a:xfrm>
            <a:off x="7985455" y="6510528"/>
            <a:ext cx="3657600" cy="274320"/>
          </a:xfrm>
          <a:prstGeom prst="rect">
            <a:avLst/>
          </a:prstGeom>
          <a:noFill/>
          <a:ln/>
        </p:spPr>
        <p:txBody>
          <a:bodyPr wrap="square" lIns="0" tIns="0" rIns="0" bIns="0" rtlCol="0" anchor="ctr"/>
          <a:lstStyle/>
          <a:p>
            <a:pPr algn="r" indent="0" marL="0">
              <a:buNone/>
            </a:pPr>
            <a:r>
              <a:rPr lang="ar-JO" altLang="en-US" sz="1100" dirty="0">
                <a:solidFill>
                  <a:srgbClr val="000000"/>
                </a:solidFill>
                <a:latin typeface="Segoe UI" pitchFamily="34" charset="0"/>
                <a:ea typeface="Segoe UI" pitchFamily="34" charset="-122"/>
                <a:cs typeface="Segoe UI" pitchFamily="34" charset="-120"/>
              </a:rPr>
              <a:t>السياسة الوطنية</a:t>
            </a:r>
            <a:endParaRPr lang="ar-JO" sz="1100" dirty="0"/>
          </a:p>
        </p:txBody>
      </p:sp>
      <p:sp>
        <p:nvSpPr>
          <p:cNvPr id="5" name="Text 3"/>
          <p:cNvSpPr/>
          <p:nvPr>
            <p:ph idx="103" type="body" hasCustomPrompt="1"/>
          </p:nvPr>
        </p:nvSpPr>
        <p:spPr>
          <a:xfrm>
            <a:off x="548640" y="384048"/>
            <a:ext cx="11094415" cy="320040"/>
          </a:xfrm>
          <a:prstGeom prst="rect">
            <a:avLst/>
          </a:prstGeom>
          <a:noFill/>
          <a:ln/>
        </p:spPr>
        <p:txBody>
          <a:bodyPr wrap="square" rtlCol="0"/>
          <a:lstStyle>
            <a:lvl1pPr algn="r" indent="0" marL="0">
              <a:buNone/>
              <a:defRPr lang="en-US" sz="1500" b="1" dirty="0">
                <a:solidFill>
                  <a:schemeClr val="accent3"/>
                </a:solidFill>
                <a:latin typeface="Segoe UI" pitchFamily="34" charset="0"/>
                <a:ea typeface="Segoe UI" pitchFamily="34" charset="-122"/>
                <a:cs typeface="Segoe UI" pitchFamily="34" charset="-120"/>
              </a:defRPr>
            </a:lvl1pPr>
          </a:lstStyle>
          <a:p>
            <a:pPr algn="r" indent="0" marL="0">
              <a:buNone/>
            </a:pPr>
            <a:endParaRPr lang="en-US" sz="1500" dirty="0"/>
          </a:p>
        </p:txBody>
      </p:sp>
      <p:sp>
        <p:nvSpPr>
          <p:cNvPr id="6" name="Text 3"/>
          <p:cNvSpPr/>
          <p:nvPr>
            <p:ph idx="104" type="title" hasCustomPrompt="1"/>
          </p:nvPr>
        </p:nvSpPr>
        <p:spPr>
          <a:xfrm>
            <a:off x="548640" y="713232"/>
            <a:ext cx="11094415" cy="640080"/>
          </a:xfrm>
          <a:prstGeom prst="rect">
            <a:avLst/>
          </a:prstGeom>
          <a:noFill/>
          <a:ln/>
        </p:spPr>
        <p:txBody>
          <a:bodyPr wrap="square" rtlCol="0"/>
          <a:lstStyle>
            <a:lvl1pPr algn="r" indent="0" marL="0">
              <a:buNone/>
              <a:defRPr lang="en-US" sz="3200" b="1" dirty="0">
                <a:solidFill>
                  <a:schemeClr val="tx2"/>
                </a:solidFill>
                <a:latin typeface="Segoe UI" pitchFamily="34" charset="0"/>
                <a:ea typeface="Segoe UI" pitchFamily="34" charset="-122"/>
                <a:cs typeface="Segoe UI" pitchFamily="34" charset="-120"/>
              </a:defRPr>
            </a:lvl1pPr>
          </a:lstStyle>
          <a:p>
            <a:pPr algn="r" indent="0" marL="0">
              <a:buNone/>
            </a:pPr>
            <a:endParaRPr lang="en-US" sz="3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267505" y="73152"/>
            <a:ext cx="3657600" cy="274320"/>
          </a:xfrm>
          <a:prstGeom prst="rect">
            <a:avLst/>
          </a:prstGeom>
          <a:noFill/>
          <a:ln/>
        </p:spPr>
        <p:txBody>
          <a:bodyPr wrap="square" lIns="0" tIns="0" rIns="0" bIns="0" rtlCol="0" anchor="ctr"/>
          <a:lstStyle/>
          <a:p>
            <a:pPr algn="ctr" indent="0" marL="0">
              <a:buNone/>
            </a:pPr>
            <a:r>
              <a:rPr lang="ar-JO" altLang="en-US" sz="1200" b="1" dirty="0">
                <a:solidFill>
                  <a:srgbClr val="000000"/>
                </a:solidFill>
                <a:latin typeface="Segoe UI" pitchFamily="34" charset="0"/>
                <a:ea typeface="Segoe UI" pitchFamily="34" charset="-122"/>
                <a:cs typeface="Segoe UI" pitchFamily="34" charset="-120"/>
              </a:rPr>
              <a:t>سري لأغراض التمرين</a:t>
            </a:r>
            <a:endParaRPr lang="ar-JO" sz="1200" dirty="0"/>
          </a:p>
        </p:txBody>
      </p:sp>
      <p:sp>
        <p:nvSpPr>
          <p:cNvPr id="3" name="Text 1"/>
          <p:cNvSpPr txBox="1"/>
          <p:nvPr/>
        </p:nvSpPr>
        <p:spPr>
          <a:xfrm>
            <a:off x="4267505" y="6510528"/>
            <a:ext cx="3657600" cy="274320"/>
          </a:xfrm>
          <a:prstGeom prst="rect">
            <a:avLst/>
          </a:prstGeom>
          <a:noFill/>
          <a:ln/>
        </p:spPr>
        <p:txBody>
          <a:bodyPr wrap="square" lIns="0" tIns="0" rIns="0" bIns="0" rtlCol="0" anchor="ctr"/>
          <a:lstStyle/>
          <a:p>
            <a:pPr algn="ctr" indent="0" marL="0">
              <a:buNone/>
            </a:pPr>
            <a:r>
              <a:rPr lang="ar-JO" altLang="en-US" sz="1200" b="1" dirty="0">
                <a:solidFill>
                  <a:srgbClr val="000000"/>
                </a:solidFill>
                <a:latin typeface="Segoe UI" pitchFamily="34" charset="0"/>
                <a:ea typeface="Segoe UI" pitchFamily="34" charset="-122"/>
                <a:cs typeface="Segoe UI" pitchFamily="34" charset="-120"/>
              </a:rPr>
              <a:t>سري لأغراض التمرين</a:t>
            </a:r>
            <a:endParaRPr lang="ar-JO" sz="1200" dirty="0"/>
          </a:p>
        </p:txBody>
      </p:sp>
      <p:sp>
        <p:nvSpPr>
          <p:cNvPr id="4" name="Text 2"/>
          <p:cNvSpPr/>
          <p:nvPr>
            <p:ph idx="102" type="body" hasCustomPrompt="1"/>
          </p:nvPr>
        </p:nvSpPr>
        <p:spPr>
          <a:xfrm>
            <a:off x="548640" y="1463040"/>
            <a:ext cx="11094415" cy="1737360"/>
          </a:xfrm>
          <a:prstGeom prst="rect">
            <a:avLst/>
          </a:prstGeom>
          <a:noFill/>
          <a:ln/>
        </p:spPr>
        <p:txBody>
          <a:bodyPr wrap="square" rtlCol="0"/>
          <a:lstStyle>
            <a:lvl1pPr algn="ctr" indent="0" marL="0">
              <a:buNone/>
              <a:defRPr lang="en-US" sz="11000" b="1" dirty="0">
                <a:solidFill>
                  <a:schemeClr val="tx1"/>
                </a:solidFill>
                <a:latin typeface="Segoe UI" pitchFamily="34" charset="0"/>
                <a:ea typeface="Segoe UI" pitchFamily="34" charset="-122"/>
                <a:cs typeface="Segoe UI" pitchFamily="34" charset="-120"/>
              </a:defRPr>
            </a:lvl1pPr>
          </a:lstStyle>
          <a:p>
            <a:pPr algn="ctr" indent="0" marL="0">
              <a:buNone/>
            </a:pPr>
            <a:endParaRPr lang="en-US" sz="11000" dirty="0"/>
          </a:p>
        </p:txBody>
      </p:sp>
      <p:sp>
        <p:nvSpPr>
          <p:cNvPr id="5" name="Text 2"/>
          <p:cNvSpPr/>
          <p:nvPr>
            <p:ph idx="103" type="title" hasCustomPrompt="1"/>
          </p:nvPr>
        </p:nvSpPr>
        <p:spPr>
          <a:xfrm>
            <a:off x="548640" y="3383280"/>
            <a:ext cx="11094415" cy="1463040"/>
          </a:xfrm>
          <a:prstGeom prst="rect">
            <a:avLst/>
          </a:prstGeom>
          <a:noFill/>
          <a:ln/>
        </p:spPr>
        <p:txBody>
          <a:bodyPr wrap="square" rtlCol="0"/>
          <a:lstStyle>
            <a:lvl1pPr algn="ctr" indent="0" marL="0">
              <a:buNone/>
              <a:defRPr lang="en-US" sz="4800" b="1" dirty="0">
                <a:solidFill>
                  <a:schemeClr val="tx1"/>
                </a:solidFill>
                <a:latin typeface="Segoe UI" pitchFamily="34" charset="0"/>
                <a:ea typeface="Segoe UI" pitchFamily="34" charset="-122"/>
                <a:cs typeface="Segoe UI" pitchFamily="34" charset="-120"/>
              </a:defRPr>
            </a:lvl1pPr>
          </a:lstStyle>
          <a:p>
            <a:pPr algn="ctr" indent="0" marL="0">
              <a:buNone/>
            </a:pPr>
            <a:endParaRPr lang="en-US"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2438705" y="137160"/>
            <a:ext cx="7315200" cy="1188720"/>
          </a:xfrm>
          <a:prstGeom prst="rect">
            <a:avLst/>
          </a:prstGeom>
          <a:noFill/>
          <a:ln/>
        </p:spPr>
        <p:txBody>
          <a:bodyPr wrap="square" lIns="0" tIns="0" rIns="0" bIns="0" rtlCol="0" anchor="ctr"/>
          <a:lstStyle/>
          <a:p>
            <a:pPr rtl="1" algn="ctr" indent="0" marL="0">
              <a:lnSpc>
                <a:spcPct val="100000"/>
              </a:lnSpc>
              <a:buNone/>
            </a:pPr>
            <a:r>
              <a:rPr lang="ar-JO" altLang="en-US" sz="1800" b="1" u="sng" dirty="0">
                <a:solidFill>
                  <a:schemeClr val="tx1"/>
                </a:solidFill>
                <a:latin typeface="Segoe UI" pitchFamily="34" charset="0"/>
                <a:ea typeface="Segoe UI" pitchFamily="34" charset="-122"/>
                <a:cs typeface="Segoe UI" pitchFamily="34" charset="-120"/>
              </a:rPr>
              <a:t>بسم الله الرحمن الرحيم</a:t>
            </a:r>
            <a:endParaRPr lang="ar-JO" sz="1800" dirty="0"/>
          </a:p>
          <a:p>
            <a:pPr rtl="1" algn="ctr" indent="0" marL="0">
              <a:lnSpc>
                <a:spcPct val="100000"/>
              </a:lnSpc>
              <a:buNone/>
            </a:pPr>
            <a:r>
              <a:rPr lang="ar-JO" altLang="en-US" sz="1800" b="1" u="sng" dirty="0">
                <a:solidFill>
                  <a:schemeClr val="tx1"/>
                </a:solidFill>
                <a:latin typeface="Segoe UI" pitchFamily="34" charset="0"/>
                <a:ea typeface="Segoe UI" pitchFamily="34" charset="-122"/>
                <a:cs typeface="Segoe UI" pitchFamily="34" charset="-120"/>
              </a:rPr>
              <a:t>سري لأغراض التمرين</a:t>
            </a:r>
            <a:endParaRPr lang="ar-JO" sz="1800" dirty="0"/>
          </a:p>
          <a:p>
            <a:pPr rtl="1" algn="ctr" indent="0" marL="0">
              <a:lnSpc>
                <a:spcPct val="100000"/>
              </a:lnSpc>
              <a:buNone/>
            </a:pPr>
            <a:r>
              <a:rPr lang="ar-JO" altLang="en-US" sz="1800" b="1" u="sng" dirty="0">
                <a:solidFill>
                  <a:schemeClr val="tx1"/>
                </a:solidFill>
                <a:latin typeface="Segoe UI" pitchFamily="34" charset="0"/>
                <a:ea typeface="Segoe UI" pitchFamily="34" charset="-122"/>
                <a:cs typeface="Segoe UI" pitchFamily="34" charset="-120"/>
              </a:rPr>
              <a:t>السياسة الوطنية</a:t>
            </a:r>
            <a:endParaRPr lang="ar-JO" sz="1800" dirty="0"/>
          </a:p>
          <a:p>
            <a:pPr rtl="1" algn="ctr" indent="0" marL="0">
              <a:lnSpc>
                <a:spcPct val="100000"/>
              </a:lnSpc>
              <a:buNone/>
            </a:pPr>
            <a:r>
              <a:rPr lang="ar-JO" altLang="en-US" sz="1800" b="1" u="sng" dirty="0">
                <a:solidFill>
                  <a:schemeClr val="tx1"/>
                </a:solidFill>
                <a:latin typeface="Segoe UI" pitchFamily="34" charset="0"/>
                <a:ea typeface="Segoe UI" pitchFamily="34" charset="-122"/>
                <a:cs typeface="Segoe UI" pitchFamily="34" charset="-120"/>
              </a:rPr>
              <a:t>الحكومة (ج)</a:t>
            </a:r>
            <a:endParaRPr lang="ar-JO"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975665" y="1417320"/>
          <a:ext cx="10241280" cy="914400"/>
        </p:xfrm>
        <a:graphic>
          <a:graphicData uri="http://schemas.openxmlformats.org/drawingml/2006/table">
            <a:tbl>
              <a:tblPr/>
              <a:tblGrid>
                <a:gridCol w="4206240"/>
                <a:gridCol w="6035040"/>
              </a:tblGrid>
              <a:tr h="256032">
                <a:tc>
                  <a:txBody>
                    <a:bodyPr/>
                    <a:lstStyle/>
                    <a:p>
                      <a:pPr rtl="1" algn="r" indent="0" marL="0">
                        <a:buNone/>
                      </a:pPr>
                      <a:r>
                        <a:rPr lang="ar-JO" altLang="en-US" sz="1400" b="1" dirty="0">
                          <a:solidFill>
                            <a:schemeClr val="tx1"/>
                          </a:solidFill>
                          <a:latin typeface="Segoe UI" pitchFamily="34" charset="0"/>
                          <a:ea typeface="Segoe UI" pitchFamily="34" charset="-122"/>
                          <a:cs typeface="Segoe UI" pitchFamily="34" charset="-120"/>
                        </a:rPr>
                        <a:t>الاسم – الفرضية الأولى</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b="1" dirty="0">
                          <a:solidFill>
                            <a:schemeClr val="tx1"/>
                          </a:solidFill>
                          <a:latin typeface="Segoe UI" pitchFamily="34" charset="0"/>
                          <a:ea typeface="Segoe UI" pitchFamily="34" charset="-122"/>
                          <a:cs typeface="Segoe UI" pitchFamily="34" charset="-120"/>
                        </a:rPr>
                        <a:t>المسمى الوظيفي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صالح عاشق صباح كريشان</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رئيس الوزراء / وزير الدفاع</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صقر بن علي العريني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الخارجية وشؤون المغتربين</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عبدالله صالح أبو الزينات</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نائب الرئيس للشؤون الاقتصادية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علي إسماعيل الشرعة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الداخلية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علي محمود الدهامشة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الشؤون السياسية والبرلمانية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أحمد علي الرعود</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الإدارة المحلية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عمر محمد الخرابشة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الصناعة والتجارة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عاصم محمد الزغول</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الطاقة والثروة المعدنية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خالد وليد الشطي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التخطيط والتعاون الدولي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أحمد محمد عبيدات</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التربية والتعليم وتنمية الموارد البشرية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محمد بن إبراهيم الملحم</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البيئة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عبدالله عبدالرحمن الشبانات</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الاتصال الحكومي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أنس هاني عبدالله القرالة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نائب سمو رئيس المركز الوطني للأمن وإدارة الأزمات</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سعد بن ظافر القرني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مساعد رئيس هيئة الأركان المشتركة للإدارة والقوة البشرية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مفلح بن ناصر القحطاني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الاقتصاد الرقمي والريادة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عمر بن صالح الدهام</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الصحة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وليد بن سفر العتيبي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العمل</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أحمد بن سعيد العسيري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الثقافة</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256032">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سعود بن ماجد الدوسري</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rtl="1" algn="r" indent="0" marL="0">
                        <a:buNone/>
                      </a:pPr>
                      <a:r>
                        <a:rPr lang="ar-JO" altLang="en-US" sz="1400" dirty="0">
                          <a:solidFill>
                            <a:schemeClr val="tx1"/>
                          </a:solidFill>
                          <a:latin typeface="Segoe UI" pitchFamily="34" charset="0"/>
                          <a:ea typeface="Segoe UI" pitchFamily="34" charset="-122"/>
                          <a:cs typeface="Segoe UI" pitchFamily="34" charset="-120"/>
                        </a:rPr>
                        <a:t>وزير الشباب</a:t>
                      </a:r>
                      <a:endParaRPr lang="ar-JO" sz="1400" dirty="0">
                        <a:latin typeface="Segoe UI" charset="0"/>
                        <a:ea typeface="Segoe UI" charset="0"/>
                        <a:cs typeface="Segoe UI" charset="0"/>
                      </a:endParaRPr>
                    </a:p>
                  </a:txBody>
                  <a:tcPr marL="91440" marR="91440" marT="9144" marB="914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1</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المطلب الوطني</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 المطلب الوطني</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ctr"/>
          <a:lstStyle/>
          <a:p>
            <a:pPr rtl="1" algn="r" marL="521208" indent="-521208">
              <a:lnSpc>
                <a:spcPct val="112000"/>
              </a:lnSpc>
              <a:spcAft>
                <a:spcPts val="1650"/>
              </a:spcAft>
              <a:buClr>
                <a:schemeClr val="tx1"/>
              </a:buClr>
              <a:buSzPct val="100000"/>
              <a:buChar char="◆"/>
            </a:pPr>
            <a:r>
              <a:rPr lang="ar-JO" altLang="en-US" sz="3000" dirty="0">
                <a:solidFill>
                  <a:schemeClr val="tx1"/>
                </a:solidFill>
                <a:latin typeface="Segoe UI" pitchFamily="34" charset="0"/>
                <a:ea typeface="Segoe UI" pitchFamily="34" charset="-122"/>
                <a:cs typeface="Segoe UI" pitchFamily="34" charset="-120"/>
              </a:rPr>
              <a:t>المطلب الوطني: أمن، حرية، ازدهار، وحياة كريمة فضلى للمواطنين في دولة آمنة ومستقرة.</a:t>
            </a:r>
            <a:endParaRPr lang="ar-JO" sz="30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2</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المصالح الوطنية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2. المصالح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540"/>
              </a:spcAft>
              <a:buNone/>
            </a:pPr>
            <a:r>
              <a:rPr lang="ar-JO" altLang="en-US" sz="3000" b="1" dirty="0">
                <a:solidFill>
                  <a:schemeClr val="accent1"/>
                </a:solidFill>
                <a:latin typeface="Segoe UI" pitchFamily="34" charset="0"/>
                <a:ea typeface="Segoe UI" pitchFamily="34" charset="-122"/>
                <a:cs typeface="Segoe UI" pitchFamily="34" charset="-120"/>
              </a:rPr>
              <a:t>تصنيف المصالح الوطنية.</a:t>
            </a:r>
            <a:endParaRPr lang="ar-JO" sz="3000" dirty="0"/>
          </a:p>
          <a:p>
            <a:pPr rtl="1" algn="r" indent="0" marL="0">
              <a:spcAft>
                <a:spcPts val="1540"/>
              </a:spcAft>
              <a:buNone/>
            </a:pPr>
            <a:r>
              <a:rPr lang="ar-JO" altLang="en-US" sz="3000" b="1" dirty="0">
                <a:solidFill>
                  <a:schemeClr val="accent1"/>
                </a:solidFill>
                <a:latin typeface="Segoe UI" pitchFamily="34" charset="0"/>
                <a:ea typeface="Segoe UI" pitchFamily="34" charset="-122"/>
                <a:cs typeface="Segoe UI" pitchFamily="34" charset="-120"/>
              </a:rPr>
              <a:t>(1) المصلحة الحيوية.</a:t>
            </a:r>
            <a:endParaRPr lang="ar-JO" sz="3000" dirty="0"/>
          </a:p>
          <a:p>
            <a:pPr rtl="1" algn="r" marL="486461" indent="-486461">
              <a:lnSpc>
                <a:spcPct val="112000"/>
              </a:lnSpc>
              <a:spcAft>
                <a:spcPts val="1540"/>
              </a:spcAft>
              <a:buClr>
                <a:schemeClr val="tx1"/>
              </a:buClr>
              <a:buSzPct val="100000"/>
              <a:buChar char="◆"/>
            </a:pPr>
            <a:r>
              <a:rPr lang="ar-JO" altLang="en-US" sz="2800" dirty="0">
                <a:solidFill>
                  <a:schemeClr val="tx1"/>
                </a:solidFill>
                <a:latin typeface="Segoe UI" pitchFamily="34" charset="0"/>
                <a:ea typeface="Segoe UI" pitchFamily="34" charset="-122"/>
                <a:cs typeface="Segoe UI" pitchFamily="34" charset="-120"/>
              </a:rPr>
              <a:t>صون أمن الدولة الأردنية وسلامتها وسيادتها، وضمان استقرار نظامها السياسي والاقتصادي والاجتماعي، والمحافظة على أمنها المائي.</a:t>
            </a:r>
            <a:endParaRPr lang="ar-JO" sz="30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2. المصالح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تصنيف المصالح الوطنية.</a:t>
            </a:r>
            <a:endParaRPr lang="ar-JO" sz="2200" dirty="0"/>
          </a:p>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(2) المصالح الأساسية.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(أ)  </a:t>
            </a:r>
            <a:r>
              <a:rPr lang="ar-JO" altLang="en-US" sz="2000" dirty="0">
                <a:solidFill>
                  <a:schemeClr val="tx1"/>
                </a:solidFill>
                <a:latin typeface="Segoe UI" pitchFamily="34" charset="0"/>
                <a:ea typeface="Segoe UI" pitchFamily="34" charset="-122"/>
                <a:cs typeface="Segoe UI" pitchFamily="34" charset="-120"/>
              </a:rPr>
              <a:t>تسوية القضية الفلسطينية في الضفة الغربية وقطاع غزة بوصفهما قضية واحدة، وصولاً إلى إقامة دولة فلسطينية مستقلة على خطوط الرابع من حزيران 1967، تكون القدس الشرقية عاصمتها.</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(ب)  </a:t>
            </a:r>
            <a:r>
              <a:rPr lang="ar-JO" altLang="en-US" sz="2000" dirty="0">
                <a:solidFill>
                  <a:schemeClr val="tx1"/>
                </a:solidFill>
                <a:latin typeface="Segoe UI" pitchFamily="34" charset="0"/>
                <a:ea typeface="Segoe UI" pitchFamily="34" charset="-122"/>
                <a:cs typeface="Segoe UI" pitchFamily="34" charset="-120"/>
              </a:rPr>
              <a:t>تنمية القدرات الدفاعية والأمنية ذات الجاهزية العالية لتبقى الحصن المنيع وسياج الوطن ودرعه في مواجهة التهديدات المختلفة.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(جـ)  </a:t>
            </a:r>
            <a:r>
              <a:rPr lang="ar-JO" altLang="en-US" sz="2000" dirty="0">
                <a:solidFill>
                  <a:schemeClr val="tx1"/>
                </a:solidFill>
                <a:latin typeface="Segoe UI" pitchFamily="34" charset="0"/>
                <a:ea typeface="Segoe UI" pitchFamily="34" charset="-122"/>
                <a:cs typeface="Segoe UI" pitchFamily="34" charset="-120"/>
              </a:rPr>
              <a:t>جعل تنمية القدرات الوطنية وتطويرها مشروعاً مستقبلياً للدولة، بما يعزز جاهزيتها وقدرتها على تحقيق أهدافها.</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2. المصالح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تصنيف المصالح الوطنية.</a:t>
            </a:r>
            <a:endParaRPr lang="ar-JO" sz="2200" dirty="0"/>
          </a:p>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(2) المصالح الأساسية.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(د)  </a:t>
            </a:r>
            <a:r>
              <a:rPr lang="ar-JO" altLang="en-US" sz="2000" dirty="0">
                <a:solidFill>
                  <a:schemeClr val="tx1"/>
                </a:solidFill>
                <a:latin typeface="Segoe UI" pitchFamily="34" charset="0"/>
                <a:ea typeface="Segoe UI" pitchFamily="34" charset="-122"/>
                <a:cs typeface="Segoe UI" pitchFamily="34" charset="-120"/>
              </a:rPr>
              <a:t>إدامة وحدة الجبهة الداخلية وصلابتها، وصون النسيج الوطني القائم على الوسطية والاعتدال واحترام حرية الأديان.</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(هـ)  </a:t>
            </a:r>
            <a:r>
              <a:rPr lang="ar-JO" altLang="en-US" sz="2000" dirty="0">
                <a:solidFill>
                  <a:schemeClr val="tx1"/>
                </a:solidFill>
                <a:latin typeface="Segoe UI" pitchFamily="34" charset="0"/>
                <a:ea typeface="Segoe UI" pitchFamily="34" charset="-122"/>
                <a:cs typeface="Segoe UI" pitchFamily="34" charset="-120"/>
              </a:rPr>
              <a:t>مواصلة تنفيذ رؤية التحديث الاقتصادي الشاملة، بالاستناد إلى مسارات التحديث السياسي والاقتصادي والاجتماعي والإداري، حتى بلوغ النتائج المستهدفة.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(و)  </a:t>
            </a:r>
            <a:r>
              <a:rPr lang="ar-JO" altLang="en-US" sz="2000" dirty="0">
                <a:solidFill>
                  <a:schemeClr val="tx1"/>
                </a:solidFill>
                <a:latin typeface="Segoe UI" pitchFamily="34" charset="0"/>
                <a:ea typeface="Segoe UI" pitchFamily="34" charset="-122"/>
                <a:cs typeface="Segoe UI" pitchFamily="34" charset="-120"/>
              </a:rPr>
              <a:t>توثيق العمل العربي المشترك وتعزيز الروابط مع دول الإقليم لمواجهة التهديدات الإقليمية، مع توظيف مكانة الأردن مركزاً للتجارة والصناعة والتكنولوجيا.</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2. المصالح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تصنيف المصالح الوطنية.</a:t>
            </a:r>
            <a:endParaRPr lang="ar-JO" sz="2200" dirty="0"/>
          </a:p>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(2) المصالح الأساسية.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(ز)  </a:t>
            </a:r>
            <a:r>
              <a:rPr lang="ar-JO" altLang="en-US" sz="2000" dirty="0">
                <a:solidFill>
                  <a:schemeClr val="tx1"/>
                </a:solidFill>
                <a:latin typeface="Segoe UI" pitchFamily="34" charset="0"/>
                <a:ea typeface="Segoe UI" pitchFamily="34" charset="-122"/>
                <a:cs typeface="Segoe UI" pitchFamily="34" charset="-120"/>
              </a:rPr>
              <a:t>بلورة موقف دولي مساند لأمن سوريا وسيادتها ووحدة أراضيها، وبما يتيح عودة اللاجئين بصورة طوعية.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(ح)  </a:t>
            </a:r>
            <a:r>
              <a:rPr lang="ar-JO" altLang="en-US" sz="2000" dirty="0">
                <a:solidFill>
                  <a:schemeClr val="tx1"/>
                </a:solidFill>
                <a:latin typeface="Segoe UI" pitchFamily="34" charset="0"/>
                <a:ea typeface="Segoe UI" pitchFamily="34" charset="-122"/>
                <a:cs typeface="Segoe UI" pitchFamily="34" charset="-120"/>
              </a:rPr>
              <a:t>الحفاظ على الاستقرار الاقتصادي وحماية المنعة الاقتصادية وتسريع التنمية والنمو.</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(ط)  </a:t>
            </a:r>
            <a:r>
              <a:rPr lang="ar-JO" altLang="en-US" sz="2000" dirty="0">
                <a:solidFill>
                  <a:schemeClr val="tx1"/>
                </a:solidFill>
                <a:latin typeface="Segoe UI" pitchFamily="34" charset="0"/>
                <a:ea typeface="Segoe UI" pitchFamily="34" charset="-122"/>
                <a:cs typeface="Segoe UI" pitchFamily="34" charset="-120"/>
              </a:rPr>
              <a:t>العمل على تعزيز القيم الوطنية والمجتمعية واحترام سيادة القانون ضمن الدولة المدنية.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(ي)  </a:t>
            </a:r>
            <a:r>
              <a:rPr lang="ar-JO" altLang="en-US" sz="2000" dirty="0">
                <a:solidFill>
                  <a:schemeClr val="tx1"/>
                </a:solidFill>
                <a:latin typeface="Segoe UI" pitchFamily="34" charset="0"/>
                <a:ea typeface="Segoe UI" pitchFamily="34" charset="-122"/>
                <a:cs typeface="Segoe UI" pitchFamily="34" charset="-120"/>
              </a:rPr>
              <a:t>ترسيخ أسس العدالة والنزاهة وصيانة الحقوق في مختلف مؤسسات الدولة.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(ك)  </a:t>
            </a:r>
            <a:r>
              <a:rPr lang="ar-JO" altLang="en-US" sz="2000" dirty="0">
                <a:solidFill>
                  <a:schemeClr val="tx1"/>
                </a:solidFill>
                <a:latin typeface="Segoe UI" pitchFamily="34" charset="0"/>
                <a:ea typeface="Segoe UI" pitchFamily="34" charset="-122"/>
                <a:cs typeface="Segoe UI" pitchFamily="34" charset="-120"/>
              </a:rPr>
              <a:t>مواصلة حمل أمانة الوصاية الهاشمية، وصون الوضع التاريخي والقانوني للمقدسات الإسلامية والمسيحية في القدس.</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2. المصالح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تصنيف المصالح الوطنية.</a:t>
            </a:r>
            <a:endParaRPr lang="ar-JO" sz="2200" dirty="0"/>
          </a:p>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(2) المصالح الأساسية.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(ل)  </a:t>
            </a:r>
            <a:r>
              <a:rPr lang="ar-JO" altLang="en-US" sz="2000" dirty="0">
                <a:solidFill>
                  <a:schemeClr val="tx1"/>
                </a:solidFill>
                <a:latin typeface="Segoe UI" pitchFamily="34" charset="0"/>
                <a:ea typeface="Segoe UI" pitchFamily="34" charset="-122"/>
                <a:cs typeface="Segoe UI" pitchFamily="34" charset="-120"/>
              </a:rPr>
              <a:t>توسيع قاعدة الشراكات الاستراتيجية والمحافظة على استدامتها مع التكتلات الاقتصادية الكبرى، وفي مقدمتها جمهورية الصين الشعبية.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(م)  </a:t>
            </a:r>
            <a:r>
              <a:rPr lang="ar-JO" altLang="en-US" sz="2000" dirty="0">
                <a:solidFill>
                  <a:schemeClr val="tx1"/>
                </a:solidFill>
                <a:latin typeface="Segoe UI" pitchFamily="34" charset="0"/>
                <a:ea typeface="Segoe UI" pitchFamily="34" charset="-122"/>
                <a:cs typeface="Segoe UI" pitchFamily="34" charset="-120"/>
              </a:rPr>
              <a:t>المحافظة على ديمومة العلاقات الاستراتيجية مع الولايات المتحدة الأمريكية وتطوير التعاون معها في مختلف المجالات.</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(ن)  </a:t>
            </a:r>
            <a:r>
              <a:rPr lang="ar-JO" altLang="en-US" sz="2000" dirty="0">
                <a:solidFill>
                  <a:schemeClr val="tx1"/>
                </a:solidFill>
                <a:latin typeface="Segoe UI" pitchFamily="34" charset="0"/>
                <a:ea typeface="Segoe UI" pitchFamily="34" charset="-122"/>
                <a:cs typeface="Segoe UI" pitchFamily="34" charset="-120"/>
              </a:rPr>
              <a:t>توسيع آفاق الانفتاح السياسي واستعداد الأردن والتزامه بمواقفه للتفاعل مع جميع دول العالم والمنظمات الدولية للوصول إلى الأمن والسلم الدوليين.</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2. المصالح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210"/>
              </a:spcAft>
              <a:buNone/>
            </a:pPr>
            <a:r>
              <a:rPr lang="ar-JO" altLang="en-US" sz="2400" b="1" dirty="0">
                <a:solidFill>
                  <a:schemeClr val="accent1"/>
                </a:solidFill>
                <a:latin typeface="Segoe UI" pitchFamily="34" charset="0"/>
                <a:ea typeface="Segoe UI" pitchFamily="34" charset="-122"/>
                <a:cs typeface="Segoe UI" pitchFamily="34" charset="-120"/>
              </a:rPr>
              <a:t>تصنيف المصالح الوطنية.</a:t>
            </a:r>
            <a:endParaRPr lang="ar-JO" sz="2400" dirty="0"/>
          </a:p>
          <a:p>
            <a:pPr rtl="1" algn="r" indent="0" marL="0">
              <a:spcAft>
                <a:spcPts val="1210"/>
              </a:spcAft>
              <a:buNone/>
            </a:pPr>
            <a:r>
              <a:rPr lang="ar-JO" altLang="en-US" sz="2400" b="1" dirty="0">
                <a:solidFill>
                  <a:schemeClr val="accent1"/>
                </a:solidFill>
                <a:latin typeface="Segoe UI" pitchFamily="34" charset="0"/>
                <a:ea typeface="Segoe UI" pitchFamily="34" charset="-122"/>
                <a:cs typeface="Segoe UI" pitchFamily="34" charset="-120"/>
              </a:rPr>
              <a:t>(3) المصالح الثانوية.</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(أ)  </a:t>
            </a:r>
            <a:r>
              <a:rPr lang="ar-JO" altLang="en-US" sz="2200" dirty="0">
                <a:solidFill>
                  <a:schemeClr val="tx1"/>
                </a:solidFill>
                <a:latin typeface="Segoe UI" pitchFamily="34" charset="0"/>
                <a:ea typeface="Segoe UI" pitchFamily="34" charset="-122"/>
                <a:cs typeface="Segoe UI" pitchFamily="34" charset="-120"/>
              </a:rPr>
              <a:t>زيادة كثافة الجهود وتهيئة البيئة الحاضنة والممكنة للاستثمار ليكون الأساس لتمويل المشاريع والبنى الاقتصادية.</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(ب)  </a:t>
            </a:r>
            <a:r>
              <a:rPr lang="ar-JO" altLang="en-US" sz="2200" dirty="0">
                <a:solidFill>
                  <a:schemeClr val="tx1"/>
                </a:solidFill>
                <a:latin typeface="Segoe UI" pitchFamily="34" charset="0"/>
                <a:ea typeface="Segoe UI" pitchFamily="34" charset="-122"/>
                <a:cs typeface="Segoe UI" pitchFamily="34" charset="-120"/>
              </a:rPr>
              <a:t>جعل الأردن مركزا إقليميا ودوليا متقدما ومنافسا في المنطقة عبر الاستثمارات الدولية والعربية.</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(جـ)  </a:t>
            </a:r>
            <a:r>
              <a:rPr lang="ar-JO" altLang="en-US" sz="2200" dirty="0">
                <a:solidFill>
                  <a:schemeClr val="tx1"/>
                </a:solidFill>
                <a:latin typeface="Segoe UI" pitchFamily="34" charset="0"/>
                <a:ea typeface="Segoe UI" pitchFamily="34" charset="-122"/>
                <a:cs typeface="Segoe UI" pitchFamily="34" charset="-120"/>
              </a:rPr>
              <a:t>السعي إلى تطوير الإدارة العامة لتحسين الخدمات ومواكبة الحداثة والتطوير، وترسيخ ثقافة الإنجاز والتميز في المؤسسات الحكومية.</a:t>
            </a:r>
            <a:endParaRPr lang="ar-JO" sz="24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2. المصالح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210"/>
              </a:spcAft>
              <a:buNone/>
            </a:pPr>
            <a:r>
              <a:rPr lang="ar-JO" altLang="en-US" sz="2400" b="1" dirty="0">
                <a:solidFill>
                  <a:schemeClr val="accent1"/>
                </a:solidFill>
                <a:latin typeface="Segoe UI" pitchFamily="34" charset="0"/>
                <a:ea typeface="Segoe UI" pitchFamily="34" charset="-122"/>
                <a:cs typeface="Segoe UI" pitchFamily="34" charset="-120"/>
              </a:rPr>
              <a:t>تصنيف المصالح الوطنية.</a:t>
            </a:r>
            <a:endParaRPr lang="ar-JO" sz="2400" dirty="0"/>
          </a:p>
          <a:p>
            <a:pPr rtl="1" algn="r" indent="0" marL="0">
              <a:spcAft>
                <a:spcPts val="1210"/>
              </a:spcAft>
              <a:buNone/>
            </a:pPr>
            <a:r>
              <a:rPr lang="ar-JO" altLang="en-US" sz="2400" b="1" dirty="0">
                <a:solidFill>
                  <a:schemeClr val="accent1"/>
                </a:solidFill>
                <a:latin typeface="Segoe UI" pitchFamily="34" charset="0"/>
                <a:ea typeface="Segoe UI" pitchFamily="34" charset="-122"/>
                <a:cs typeface="Segoe UI" pitchFamily="34" charset="-120"/>
              </a:rPr>
              <a:t>(3) المصالح الثانوية.</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(د)  </a:t>
            </a:r>
            <a:r>
              <a:rPr lang="ar-JO" altLang="en-US" sz="2200" dirty="0">
                <a:solidFill>
                  <a:schemeClr val="tx1"/>
                </a:solidFill>
                <a:latin typeface="Segoe UI" pitchFamily="34" charset="0"/>
                <a:ea typeface="Segoe UI" pitchFamily="34" charset="-122"/>
                <a:cs typeface="Segoe UI" pitchFamily="34" charset="-120"/>
              </a:rPr>
              <a:t>تطوير قدرات دائرة الإحصاءات العامة لتكون مرجعاً وطنياً شاملاً للبيانات والمعلومات، يدعم القرار الحكومي الفاعل والشفاف في تحقيق الأهداف.</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(هـ)  </a:t>
            </a:r>
            <a:r>
              <a:rPr lang="ar-JO" altLang="en-US" sz="2200" dirty="0">
                <a:solidFill>
                  <a:schemeClr val="tx1"/>
                </a:solidFill>
                <a:latin typeface="Segoe UI" pitchFamily="34" charset="0"/>
                <a:ea typeface="Segoe UI" pitchFamily="34" charset="-122"/>
                <a:cs typeface="Segoe UI" pitchFamily="34" charset="-120"/>
              </a:rPr>
              <a:t>إظهار التنوع الثقافي والانفتاح الأردني، مع احتضان المواهب الأدبية والفكرية ورعاية إبداعها.</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(و)  </a:t>
            </a:r>
            <a:r>
              <a:rPr lang="ar-JO" altLang="en-US" sz="2200" dirty="0">
                <a:solidFill>
                  <a:schemeClr val="tx1"/>
                </a:solidFill>
                <a:latin typeface="Segoe UI" pitchFamily="34" charset="0"/>
                <a:ea typeface="Segoe UI" pitchFamily="34" charset="-122"/>
                <a:cs typeface="Segoe UI" pitchFamily="34" charset="-120"/>
              </a:rPr>
              <a:t>توسيع آفاق الانفتاح على دول العالم والمنظمات الدولية، والتفاعل معها وتبادل الخبرات والتعاون في ميادين شتى لتطوير قدرات الدولة الأردنية وتقديم الخدمات الفضلى للأردنيين في الوطن وحول العالم.</a:t>
            </a:r>
            <a:endParaRPr lang="ar-JO" sz="24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2. المصالح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210"/>
              </a:spcAft>
              <a:buNone/>
            </a:pPr>
            <a:r>
              <a:rPr lang="ar-JO" altLang="en-US" sz="2400" b="1" dirty="0">
                <a:solidFill>
                  <a:schemeClr val="accent1"/>
                </a:solidFill>
                <a:latin typeface="Segoe UI" pitchFamily="34" charset="0"/>
                <a:ea typeface="Segoe UI" pitchFamily="34" charset="-122"/>
                <a:cs typeface="Segoe UI" pitchFamily="34" charset="-120"/>
              </a:rPr>
              <a:t>تصنيف المصالح الوطنية.</a:t>
            </a:r>
            <a:endParaRPr lang="ar-JO" sz="2400" dirty="0"/>
          </a:p>
          <a:p>
            <a:pPr rtl="1" algn="r" indent="0" marL="0">
              <a:spcAft>
                <a:spcPts val="1210"/>
              </a:spcAft>
              <a:buNone/>
            </a:pPr>
            <a:r>
              <a:rPr lang="ar-JO" altLang="en-US" sz="2400" b="1" dirty="0">
                <a:solidFill>
                  <a:schemeClr val="accent1"/>
                </a:solidFill>
                <a:latin typeface="Segoe UI" pitchFamily="34" charset="0"/>
                <a:ea typeface="Segoe UI" pitchFamily="34" charset="-122"/>
                <a:cs typeface="Segoe UI" pitchFamily="34" charset="-120"/>
              </a:rPr>
              <a:t>(3) المصالح الثانوية.</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(ز)  </a:t>
            </a:r>
            <a:r>
              <a:rPr lang="ar-JO" altLang="en-US" sz="2200" dirty="0">
                <a:solidFill>
                  <a:schemeClr val="tx1"/>
                </a:solidFill>
                <a:latin typeface="Segoe UI" pitchFamily="34" charset="0"/>
                <a:ea typeface="Segoe UI" pitchFamily="34" charset="-122"/>
                <a:cs typeface="Segoe UI" pitchFamily="34" charset="-120"/>
              </a:rPr>
              <a:t>فتح أسواق جديدة أمام القطاع الصناعي، وتوظيف الاتفاقيات الاقتصادية والتجارية التي تربط الأردن مع دول العالم، ومن المهم استكشاف الأسواق الناشئة لتعزيز تصدير المنتجات والخدمات الأردنية.</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(ح)  </a:t>
            </a:r>
            <a:r>
              <a:rPr lang="ar-JO" altLang="en-US" sz="2200" dirty="0">
                <a:solidFill>
                  <a:schemeClr val="tx1"/>
                </a:solidFill>
                <a:latin typeface="Segoe UI" pitchFamily="34" charset="0"/>
                <a:ea typeface="Segoe UI" pitchFamily="34" charset="-122"/>
                <a:cs typeface="Segoe UI" pitchFamily="34" charset="-120"/>
              </a:rPr>
              <a:t>العمل من أجل منطقة شرق أوسط خالية من أسلحة الدمار الشامل.</a:t>
            </a:r>
            <a:endParaRPr lang="ar-JO" sz="2400" dirty="0"/>
          </a:p>
          <a:p>
            <a:pPr rtl="1" algn="r" marL="382219" indent="-382219">
              <a:lnSpc>
                <a:spcPct val="112000"/>
              </a:lnSpc>
              <a:spcAft>
                <a:spcPts val="1210"/>
              </a:spcAft>
              <a:buClr>
                <a:schemeClr val="tx1"/>
              </a:buClr>
              <a:buSzPct val="100000"/>
              <a:buChar char="◆"/>
            </a:pPr>
            <a:r>
              <a:rPr lang="ar-JO" altLang="en-US" sz="2200" b="1" dirty="0">
                <a:solidFill>
                  <a:schemeClr val="accent1"/>
                </a:solidFill>
                <a:latin typeface="Segoe UI" pitchFamily="34" charset="0"/>
                <a:ea typeface="Segoe UI" pitchFamily="34" charset="-122"/>
                <a:cs typeface="Segoe UI" pitchFamily="34" charset="-120"/>
              </a:rPr>
              <a:t>(ط)  </a:t>
            </a:r>
            <a:r>
              <a:rPr lang="ar-JO" altLang="en-US" sz="2200" dirty="0">
                <a:solidFill>
                  <a:schemeClr val="tx1"/>
                </a:solidFill>
                <a:latin typeface="Segoe UI" pitchFamily="34" charset="0"/>
                <a:ea typeface="Segoe UI" pitchFamily="34" charset="-122"/>
                <a:cs typeface="Segoe UI" pitchFamily="34" charset="-120"/>
              </a:rPr>
              <a:t>السعي نحو تدعيم الأمن الغذائي ومواجهة التغيرات المناخية.</a:t>
            </a:r>
            <a:endParaRPr lang="ar-JO" sz="24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3</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الأهداف الوطنية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430"/>
              </a:spcAft>
              <a:buNone/>
            </a:pPr>
            <a:r>
              <a:rPr lang="ar-JO" altLang="en-US" sz="2800" b="1" dirty="0">
                <a:solidFill>
                  <a:schemeClr val="accent1"/>
                </a:solidFill>
                <a:latin typeface="Segoe UI" pitchFamily="34" charset="0"/>
                <a:ea typeface="Segoe UI" pitchFamily="34" charset="-122"/>
                <a:cs typeface="Segoe UI" pitchFamily="34" charset="-120"/>
              </a:rPr>
              <a:t>أ. المفهوم العام.</a:t>
            </a:r>
            <a:endParaRPr lang="ar-JO" sz="2800" dirty="0"/>
          </a:p>
          <a:p>
            <a:pPr rtl="1" algn="r" marL="451714" indent="-451714">
              <a:lnSpc>
                <a:spcPct val="112000"/>
              </a:lnSpc>
              <a:spcAft>
                <a:spcPts val="1430"/>
              </a:spcAft>
              <a:buClr>
                <a:schemeClr val="tx1"/>
              </a:buClr>
              <a:buSzPct val="100000"/>
              <a:buChar char="◆"/>
            </a:pPr>
            <a:r>
              <a:rPr lang="ar-JO" altLang="en-US" sz="2600" dirty="0">
                <a:solidFill>
                  <a:schemeClr val="tx1"/>
                </a:solidFill>
                <a:latin typeface="Segoe UI" pitchFamily="34" charset="0"/>
                <a:ea typeface="Segoe UI" pitchFamily="34" charset="-122"/>
                <a:cs typeface="Segoe UI" pitchFamily="34" charset="-120"/>
              </a:rPr>
              <a:t>تُترجم المصالح الوطنية إلى أهداف وطنية ذات مضمون سياسي واستراتيجي قابل للتنفيذ والتقييم. وترتبط هذه الأهداف بطبيعة المرحلة ومتطلباتها وبسقوف زمنية وأولويات واضحة، بما يحوّل المصالح من غايات عامة إلى نتائج عملية مستهدفة.</a:t>
            </a:r>
            <a:endParaRPr lang="ar-JO" sz="2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تقديم مختلف أشكال الدعم والمساندة لأشقائنا في فلسطين حتى الحصول على كامل حقوقهم المشروعة عبر التوصل إلى تسوية سلمية للصراع العربي الإسرائيلي.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رفع كفاءة وتحديث جاهزية القوات المسلحة الأردنية والأجهزة الأمنية بما يواكب التطورات الجديدة.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استكمال برامج التحديث الوطنية المختلفة من أجل صون الأمن الوطني.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زيادة كثافة التواصل الميداني المباشر مع المواطنين والاطلاع على قضاياهم وأولوياتهم، والاستماع إلى آرائهم ومشاركتهم التوجهات والرؤى، بحيث يتم التعامل مع التحديات والاحتياجات والتطلعات وإيجاد الحلول الممكنة والبناء على الفرص المتاحة.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تعزيز الأمن المائي عبر إطلاق تنفيذ مشروع الناقل الوطني للمياه، وخفض الفاقد المائي، والحد من الاعتداءات على خطوط المياه ومحاسبة المعتدين.</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استدامة الجهود لتدعيم الأمن الغذائي ضمن أطر مؤسسية، وبما يدعم الاعتماد على الذات ومواجهة تقلبات الأسعار والأزمات الإقليمية والدولية.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(7)  </a:t>
            </a:r>
            <a:r>
              <a:rPr lang="ar-JO" altLang="en-US" sz="2000" dirty="0">
                <a:solidFill>
                  <a:schemeClr val="tx1"/>
                </a:solidFill>
                <a:latin typeface="Segoe UI" pitchFamily="34" charset="0"/>
                <a:ea typeface="Segoe UI" pitchFamily="34" charset="-122"/>
                <a:cs typeface="Segoe UI" pitchFamily="34" charset="-120"/>
              </a:rPr>
              <a:t>استكمال البرامج والمشاريع الأساسية المنبثقة عن الرؤية الشاملة للتحديث، وتسريع إنجازها وإبقاؤها على مسارها التنفيذي المقرر.</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(8)  </a:t>
            </a:r>
            <a:r>
              <a:rPr lang="ar-JO" altLang="en-US" sz="2000" dirty="0">
                <a:solidFill>
                  <a:schemeClr val="tx1"/>
                </a:solidFill>
                <a:latin typeface="Segoe UI" pitchFamily="34" charset="0"/>
                <a:ea typeface="Segoe UI" pitchFamily="34" charset="-122"/>
                <a:cs typeface="Segoe UI" pitchFamily="34" charset="-120"/>
              </a:rPr>
              <a:t>التنسيق مع مجلس النواب لتعميق الممارسة الديمقراطية وترسيخ المشاركة السياسية وتطوير المؤسسات الدستورية.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(9)  </a:t>
            </a:r>
            <a:r>
              <a:rPr lang="ar-JO" altLang="en-US" sz="2000" dirty="0">
                <a:solidFill>
                  <a:schemeClr val="tx1"/>
                </a:solidFill>
                <a:latin typeface="Segoe UI" pitchFamily="34" charset="0"/>
                <a:ea typeface="Segoe UI" pitchFamily="34" charset="-122"/>
                <a:cs typeface="Segoe UI" pitchFamily="34" charset="-120"/>
              </a:rPr>
              <a:t>إشراك المواطنين في ترتيب الأولويات التنموية المحلية، وربطها بأولويات رؤية التحديث الاقتصادي، بما يضمن التوزيع الأمثل والعادل لمكتسبات التنمية.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(10)  </a:t>
            </a:r>
            <a:r>
              <a:rPr lang="ar-JO" altLang="en-US" sz="2000" dirty="0">
                <a:solidFill>
                  <a:schemeClr val="tx1"/>
                </a:solidFill>
                <a:latin typeface="Segoe UI" pitchFamily="34" charset="0"/>
                <a:ea typeface="Segoe UI" pitchFamily="34" charset="-122"/>
                <a:cs typeface="Segoe UI" pitchFamily="34" charset="-120"/>
              </a:rPr>
              <a:t>تنفيذ رؤية التحديث الاقتصادي وفق برامج معلنة ومحددة زمنياً تخضع للتقييم والمتابعة، بما يطلق الإمكانات ويحقق نمواً شاملاً مستداماً ويضاعف الاستثمار ويخفض البطالة ويوفر حياة فضلى للمواطنين.</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(11)  </a:t>
            </a:r>
            <a:r>
              <a:rPr lang="ar-JO" altLang="en-US" sz="2000" dirty="0">
                <a:solidFill>
                  <a:schemeClr val="tx1"/>
                </a:solidFill>
                <a:latin typeface="Segoe UI" pitchFamily="34" charset="0"/>
                <a:ea typeface="Segoe UI" pitchFamily="34" charset="-122"/>
                <a:cs typeface="Segoe UI" pitchFamily="34" charset="-120"/>
              </a:rPr>
              <a:t>إعطاء المشاريع الاستراتيجية الكبرى أولوية حكومية، ولا سيما في قطاعات المياه والنقل والطاقة والقطاعات الاقتصادية الواعدة.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(12)  </a:t>
            </a:r>
            <a:r>
              <a:rPr lang="ar-JO" altLang="en-US" sz="2000" dirty="0">
                <a:solidFill>
                  <a:schemeClr val="tx1"/>
                </a:solidFill>
                <a:latin typeface="Segoe UI" pitchFamily="34" charset="0"/>
                <a:ea typeface="Segoe UI" pitchFamily="34" charset="-122"/>
                <a:cs typeface="Segoe UI" pitchFamily="34" charset="-120"/>
              </a:rPr>
              <a:t>تحديث منظومة إدارة الأزمات والكوارث الوطنية لتحقيق الاستجابة المثلى للأزمات والكوارث وتخفيف آثارها.</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(13)  </a:t>
            </a:r>
            <a:r>
              <a:rPr lang="ar-JO" altLang="en-US" sz="2000" dirty="0">
                <a:solidFill>
                  <a:schemeClr val="tx1"/>
                </a:solidFill>
                <a:latin typeface="Segoe UI" pitchFamily="34" charset="0"/>
                <a:ea typeface="Segoe UI" pitchFamily="34" charset="-122"/>
                <a:cs typeface="Segoe UI" pitchFamily="34" charset="-120"/>
              </a:rPr>
              <a:t>توظيف تكنولوجيا المستقبل، عبر الشراكة والتعاون مع القطاع الخاص والجامعات وجميع الجهات المعنية محليا وعالميا وضمن أطر زمنية واضحة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(14)  </a:t>
            </a:r>
            <a:r>
              <a:rPr lang="ar-JO" altLang="en-US" sz="2000" dirty="0">
                <a:solidFill>
                  <a:schemeClr val="tx1"/>
                </a:solidFill>
                <a:latin typeface="Segoe UI" pitchFamily="34" charset="0"/>
                <a:ea typeface="Segoe UI" pitchFamily="34" charset="-122"/>
                <a:cs typeface="Segoe UI" pitchFamily="34" charset="-120"/>
              </a:rPr>
              <a:t>التقيد ببرامج التحول الرقمي وجداولها الزمنية في مؤسسات الدولة، وتوظيف الابتكار والتقنيات الحديثة، مع دعم المركز الوطني للأمن السيبراني في إعداد وتنفيذ البرنامج المنبثق عن الاستراتيجية الوطنية للأمن السيبراني 2024–2028، لبناء منظومة متكاملة ومستدامة للرصد المبكر والاستجابة للحوادث والتهديدات السيبرانية.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(15)  </a:t>
            </a:r>
            <a:r>
              <a:rPr lang="ar-JO" altLang="en-US" sz="2000" dirty="0">
                <a:solidFill>
                  <a:schemeClr val="tx1"/>
                </a:solidFill>
                <a:latin typeface="Segoe UI" pitchFamily="34" charset="0"/>
                <a:ea typeface="Segoe UI" pitchFamily="34" charset="-122"/>
                <a:cs typeface="Segoe UI" pitchFamily="34" charset="-120"/>
              </a:rPr>
              <a:t>استدامة أعمال مراكز الخدمات الحكومية، التي تعد تجربة متقدمة في توفير خدمات نوعية للمواطنين.</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(16)  </a:t>
            </a:r>
            <a:r>
              <a:rPr lang="ar-JO" altLang="en-US" sz="2000" dirty="0">
                <a:solidFill>
                  <a:schemeClr val="tx1"/>
                </a:solidFill>
                <a:latin typeface="Segoe UI" pitchFamily="34" charset="0"/>
                <a:ea typeface="Segoe UI" pitchFamily="34" charset="-122"/>
                <a:cs typeface="Segoe UI" pitchFamily="34" charset="-120"/>
              </a:rPr>
              <a:t>الاستمرار في تطوير قطاع الخدمات والأسواق المالية، ليكون ممكّنا للنمو الاقتصادي ومبنيا على أسس حصيفة، ويكون رافعا للقطاع الخاص والصناديق الاستثمارية.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(17)  </a:t>
            </a:r>
            <a:r>
              <a:rPr lang="ar-JO" altLang="en-US" sz="2000" dirty="0">
                <a:solidFill>
                  <a:schemeClr val="tx1"/>
                </a:solidFill>
                <a:latin typeface="Segoe UI" pitchFamily="34" charset="0"/>
                <a:ea typeface="Segoe UI" pitchFamily="34" charset="-122"/>
                <a:cs typeface="Segoe UI" pitchFamily="34" charset="-120"/>
              </a:rPr>
              <a:t>تحسين سبل العيش للمواطنين في مدنهم والوصول إلى خيارات أفضل من الخدمات عبر التنمية الحضرية، مع الحرص على زيادة الرقعة الخضراء وانتشار الحدائق العامة.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(18)  </a:t>
            </a:r>
            <a:r>
              <a:rPr lang="ar-JO" altLang="en-US" sz="2000" dirty="0">
                <a:solidFill>
                  <a:schemeClr val="tx1"/>
                </a:solidFill>
                <a:latin typeface="Segoe UI" pitchFamily="34" charset="0"/>
                <a:ea typeface="Segoe UI" pitchFamily="34" charset="-122"/>
                <a:cs typeface="Segoe UI" pitchFamily="34" charset="-120"/>
              </a:rPr>
              <a:t>متابعة التحضير لمشروع المدينة الجديدة بالشراكة مع القطاع الخاص، لتخفيف الضغط الحضري على عمّان والزرقاء وتعظيم عوائده الاستثمارية والاجتماعية والاقتصادية.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(19)  </a:t>
            </a:r>
            <a:r>
              <a:rPr lang="ar-JO" altLang="en-US" sz="2000" dirty="0">
                <a:solidFill>
                  <a:schemeClr val="tx1"/>
                </a:solidFill>
                <a:latin typeface="Segoe UI" pitchFamily="34" charset="0"/>
                <a:ea typeface="Segoe UI" pitchFamily="34" charset="-122"/>
                <a:cs typeface="Segoe UI" pitchFamily="34" charset="-120"/>
              </a:rPr>
              <a:t>إيلاء اهتمام بقطاع التعدين كأحد القطاعات الواعدة في النمو الاقتصادي.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(20)  </a:t>
            </a:r>
            <a:r>
              <a:rPr lang="ar-JO" altLang="en-US" sz="2000" dirty="0">
                <a:solidFill>
                  <a:schemeClr val="tx1"/>
                </a:solidFill>
                <a:latin typeface="Segoe UI" pitchFamily="34" charset="0"/>
                <a:ea typeface="Segoe UI" pitchFamily="34" charset="-122"/>
                <a:cs typeface="Segoe UI" pitchFamily="34" charset="-120"/>
              </a:rPr>
              <a:t>تمكين القطاع الصناعي ليكون منافسا في الأسواق الوطنية والخارجية.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(21)  </a:t>
            </a:r>
            <a:r>
              <a:rPr lang="ar-JO" altLang="en-US" sz="2000" dirty="0">
                <a:solidFill>
                  <a:schemeClr val="tx1"/>
                </a:solidFill>
                <a:latin typeface="Segoe UI" pitchFamily="34" charset="0"/>
                <a:ea typeface="Segoe UI" pitchFamily="34" charset="-122"/>
                <a:cs typeface="Segoe UI" pitchFamily="34" charset="-120"/>
              </a:rPr>
              <a:t>العمل على تعزيز منعة قطاع السياحة وإعداد خطط واضحة للتعامل مع التحديات التي تواجهه، وتفعيل نظام صندوق تنمية وتطوير القطاع السياحي.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(22)  </a:t>
            </a:r>
            <a:r>
              <a:rPr lang="ar-JO" altLang="en-US" sz="2000" dirty="0">
                <a:solidFill>
                  <a:schemeClr val="tx1"/>
                </a:solidFill>
                <a:latin typeface="Segoe UI" pitchFamily="34" charset="0"/>
                <a:ea typeface="Segoe UI" pitchFamily="34" charset="-122"/>
                <a:cs typeface="Segoe UI" pitchFamily="34" charset="-120"/>
              </a:rPr>
              <a:t>مراجعة الاستراتيجية الوطنية للحماية الاجتماعية وتحديثها وإطلاق تنفيذها بما يتوافق مع رؤية التحديث الاقتصادي وبرنامجها التنفيذي.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(23)  </a:t>
            </a:r>
            <a:r>
              <a:rPr lang="ar-JO" altLang="en-US" sz="2000" dirty="0">
                <a:solidFill>
                  <a:schemeClr val="tx1"/>
                </a:solidFill>
                <a:latin typeface="Segoe UI" pitchFamily="34" charset="0"/>
                <a:ea typeface="Segoe UI" pitchFamily="34" charset="-122"/>
                <a:cs typeface="Segoe UI" pitchFamily="34" charset="-120"/>
              </a:rPr>
              <a:t>استكمال تحديث التعليم وتطويره والعمل ليكون التعليم والتدريب المهني والتقني أولوية في المدارس والمراكز والجامعات.</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(24)  </a:t>
            </a:r>
            <a:r>
              <a:rPr lang="ar-JO" altLang="en-US" sz="2000" dirty="0">
                <a:solidFill>
                  <a:schemeClr val="tx1"/>
                </a:solidFill>
                <a:latin typeface="Segoe UI" pitchFamily="34" charset="0"/>
                <a:ea typeface="Segoe UI" pitchFamily="34" charset="-122"/>
                <a:cs typeface="Segoe UI" pitchFamily="34" charset="-120"/>
              </a:rPr>
              <a:t>مكافحة الفساد وحماية المال العام والمقدرات الوطنية من التعدي، وترسيخ قيم العدالة والمساواة والمساءلة.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(25)  </a:t>
            </a:r>
            <a:r>
              <a:rPr lang="ar-JO" altLang="en-US" sz="2000" dirty="0">
                <a:solidFill>
                  <a:schemeClr val="tx1"/>
                </a:solidFill>
                <a:latin typeface="Segoe UI" pitchFamily="34" charset="0"/>
                <a:ea typeface="Segoe UI" pitchFamily="34" charset="-122"/>
                <a:cs typeface="Segoe UI" pitchFamily="34" charset="-120"/>
              </a:rPr>
              <a:t>توظيف تجربة حافلات التردد السريع في عمان والزرقاء لتشمل مناطق أوسع، تسهيلا على المواطنين ولتمكينهم من تجاوز عقبات انخراطهم بسوق العمل.</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(26)  </a:t>
            </a:r>
            <a:r>
              <a:rPr lang="ar-JO" altLang="en-US" sz="2000" dirty="0">
                <a:solidFill>
                  <a:schemeClr val="tx1"/>
                </a:solidFill>
                <a:latin typeface="Segoe UI" pitchFamily="34" charset="0"/>
                <a:ea typeface="Segoe UI" pitchFamily="34" charset="-122"/>
                <a:cs typeface="Segoe UI" pitchFamily="34" charset="-120"/>
              </a:rPr>
              <a:t>إبراز المملكة وجهةً سياحية آمنة طوال العام رغم الاضطرابات الإقليمية، ورفع جودة الخدمات والمرافق في المواقع السياحية، وتحسين تجربة الزائر وتنويع المنتج السياحي.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(27)  </a:t>
            </a:r>
            <a:r>
              <a:rPr lang="ar-JO" altLang="en-US" sz="2000" dirty="0">
                <a:solidFill>
                  <a:schemeClr val="tx1"/>
                </a:solidFill>
                <a:latin typeface="Segoe UI" pitchFamily="34" charset="0"/>
                <a:ea typeface="Segoe UI" pitchFamily="34" charset="-122"/>
                <a:cs typeface="Segoe UI" pitchFamily="34" charset="-120"/>
              </a:rPr>
              <a:t>تعظيم الاستفادة من الموارد الطبيعية والغاز الطبيعي بتوجيه الاستثمار إليها وتوسيع الاستخدام الصناعي والتجاري لها، مع التوسع في الطاقة المتجددة والهيدروجين الأخضر للتحول نحو طاقة نظيفة ومستدامة.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(28)  </a:t>
            </a:r>
            <a:r>
              <a:rPr lang="ar-JO" altLang="en-US" sz="2000" dirty="0">
                <a:solidFill>
                  <a:schemeClr val="tx1"/>
                </a:solidFill>
                <a:latin typeface="Segoe UI" pitchFamily="34" charset="0"/>
                <a:ea typeface="Segoe UI" pitchFamily="34" charset="-122"/>
                <a:cs typeface="Segoe UI" pitchFamily="34" charset="-120"/>
              </a:rPr>
              <a:t>ترسيخ القيم الوطنية والمجتمعية والعمل التطوعي والمشاركة والمسؤولية واحترام سيادة القانون عبر المؤسسات التعليمية، وتعزيز تماسك المجتمع ونهضته ضمن الدولة المدنية.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(29)  </a:t>
            </a:r>
            <a:r>
              <a:rPr lang="ar-JO" altLang="en-US" sz="2000" dirty="0">
                <a:solidFill>
                  <a:schemeClr val="tx1"/>
                </a:solidFill>
                <a:latin typeface="Segoe UI" pitchFamily="34" charset="0"/>
                <a:ea typeface="Segoe UI" pitchFamily="34" charset="-122"/>
                <a:cs typeface="Segoe UI" pitchFamily="34" charset="-120"/>
              </a:rPr>
              <a:t>مواصلة حوسبة المستشفيات والمراكز الطبية، وتحسين جودة الخدمات الصحية والإدارة الحصيفة للمرافق والبنية الصحية في المملكة.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(30)  </a:t>
            </a:r>
            <a:r>
              <a:rPr lang="ar-JO" altLang="en-US" sz="2000" dirty="0">
                <a:solidFill>
                  <a:schemeClr val="tx1"/>
                </a:solidFill>
                <a:latin typeface="Segoe UI" pitchFamily="34" charset="0"/>
                <a:ea typeface="Segoe UI" pitchFamily="34" charset="-122"/>
                <a:cs typeface="Segoe UI" pitchFamily="34" charset="-120"/>
              </a:rPr>
              <a:t>تكريس مساءلة المقصرين في واجباتهم تجاه المواطنين، وإعلاء مفهوم الخدمة العامة القائمة على الحلول وإزالة العراقيل.</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(31)  </a:t>
            </a:r>
            <a:r>
              <a:rPr lang="ar-JO" altLang="en-US" sz="2000" dirty="0">
                <a:solidFill>
                  <a:schemeClr val="tx1"/>
                </a:solidFill>
                <a:latin typeface="Segoe UI" pitchFamily="34" charset="0"/>
                <a:ea typeface="Segoe UI" pitchFamily="34" charset="-122"/>
                <a:cs typeface="Segoe UI" pitchFamily="34" charset="-120"/>
              </a:rPr>
              <a:t>استكمال دعم المرأة الأردنية وتمكينها لتعزيز انخراطها في سوق العمل، وذلك بإزالة العقبات التي تحول دون مشاركتها الفاعلة، ما يكفل الارتقاء بمستوى مساهمتها في الاقتصاد الوطني.</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(32)  </a:t>
            </a:r>
            <a:r>
              <a:rPr lang="ar-JO" altLang="en-US" sz="2000" dirty="0">
                <a:solidFill>
                  <a:schemeClr val="tx1"/>
                </a:solidFill>
                <a:latin typeface="Segoe UI" pitchFamily="34" charset="0"/>
                <a:ea typeface="Segoe UI" pitchFamily="34" charset="-122"/>
                <a:cs typeface="Segoe UI" pitchFamily="34" charset="-120"/>
              </a:rPr>
              <a:t>تحمل الحكومة مسؤولية تمكين الشباب والشابات وتوجيه طاقاتهم نحو البناء والتطوير، وتوسيع دور المراكز الشبابية وحاضنات الريادة.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(33)  </a:t>
            </a:r>
            <a:r>
              <a:rPr lang="ar-JO" altLang="en-US" sz="2000" dirty="0">
                <a:solidFill>
                  <a:schemeClr val="tx1"/>
                </a:solidFill>
                <a:latin typeface="Segoe UI" pitchFamily="34" charset="0"/>
                <a:ea typeface="Segoe UI" pitchFamily="34" charset="-122"/>
                <a:cs typeface="Segoe UI" pitchFamily="34" charset="-120"/>
              </a:rPr>
              <a:t>دعم المنتخب الوطني لكرة القدم واستدامة الشراكات مع القطاع الخاص لتوفير المنشآت والتجهيزات الرياضية وتطويرها.</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(34)  </a:t>
            </a:r>
            <a:r>
              <a:rPr lang="ar-JO" altLang="en-US" sz="2000" dirty="0">
                <a:solidFill>
                  <a:schemeClr val="tx1"/>
                </a:solidFill>
                <a:latin typeface="Segoe UI" pitchFamily="34" charset="0"/>
                <a:ea typeface="Segoe UI" pitchFamily="34" charset="-122"/>
                <a:cs typeface="Segoe UI" pitchFamily="34" charset="-120"/>
              </a:rPr>
              <a:t>تكثيف برامج التوعية والتثقيف وتوفير الحواضن الشبابية في المؤسسات التعليمية والثقافية والشبابية، وتشديد ملاحقة مهربي المخدرات ومروجيها وإنفاذ القانون بحقهم.</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(35)  </a:t>
            </a:r>
            <a:r>
              <a:rPr lang="ar-JO" altLang="en-US" sz="2000" dirty="0">
                <a:solidFill>
                  <a:schemeClr val="tx1"/>
                </a:solidFill>
                <a:latin typeface="Segoe UI" pitchFamily="34" charset="0"/>
                <a:ea typeface="Segoe UI" pitchFamily="34" charset="-122"/>
                <a:cs typeface="Segoe UI" pitchFamily="34" charset="-120"/>
              </a:rPr>
              <a:t>تحديث الإطار التشريعي الناظم للانتخابات المحلية المقبلة، وتمكين هياكل الإدارة المحلية من أداء أدوارها التنموية والخدمية، وتعزيز الرقابة والمساءلة وبناء القدرات والتحول الرقمي.</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3. الأهداف الوطنية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ب. الأهداف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(36)  </a:t>
            </a:r>
            <a:r>
              <a:rPr lang="ar-JO" altLang="en-US" sz="2000" dirty="0">
                <a:solidFill>
                  <a:schemeClr val="tx1"/>
                </a:solidFill>
                <a:latin typeface="Segoe UI" pitchFamily="34" charset="0"/>
                <a:ea typeface="Segoe UI" pitchFamily="34" charset="-122"/>
                <a:cs typeface="Segoe UI" pitchFamily="34" charset="-120"/>
              </a:rPr>
              <a:t>تمكين دائرة الإحصاءات العامة من أداء دورها مرجعاً وطنياً للبيانات والمعلومات الشاملة، بما يدعم اتخاذ قرارات حكومية شفافة وأكثر فعالية.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(37)  </a:t>
            </a:r>
            <a:r>
              <a:rPr lang="ar-JO" altLang="en-US" sz="2000" dirty="0">
                <a:solidFill>
                  <a:schemeClr val="tx1"/>
                </a:solidFill>
                <a:latin typeface="Segoe UI" pitchFamily="34" charset="0"/>
                <a:ea typeface="Segoe UI" pitchFamily="34" charset="-122"/>
                <a:cs typeface="Segoe UI" pitchFamily="34" charset="-120"/>
              </a:rPr>
              <a:t>تقليص الفجوة بين مخرجات التعليم ومتطلبات سوق العمل، وتأهيل المعلمين وتطوير المناهج، والتوسع في التدريس الذكي وتهيئة مدارس آمنة ومحفزة وبناء المدارس ورياض الأطفال.</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(38)  </a:t>
            </a:r>
            <a:r>
              <a:rPr lang="ar-JO" altLang="en-US" sz="2000" dirty="0">
                <a:solidFill>
                  <a:schemeClr val="tx1"/>
                </a:solidFill>
                <a:latin typeface="Segoe UI" pitchFamily="34" charset="0"/>
                <a:ea typeface="Segoe UI" pitchFamily="34" charset="-122"/>
                <a:cs typeface="Segoe UI" pitchFamily="34" charset="-120"/>
              </a:rPr>
              <a:t>مواكبة الثورة التكنولوجية بالعالم تستوجب العمل على تشجيع وسائل الإعلام على تطوير أدواتها للتحول الرقمي.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(39)  </a:t>
            </a:r>
            <a:r>
              <a:rPr lang="ar-JO" altLang="en-US" sz="2000" dirty="0">
                <a:solidFill>
                  <a:schemeClr val="tx1"/>
                </a:solidFill>
                <a:latin typeface="Segoe UI" pitchFamily="34" charset="0"/>
                <a:ea typeface="Segoe UI" pitchFamily="34" charset="-122"/>
                <a:cs typeface="Segoe UI" pitchFamily="34" charset="-120"/>
              </a:rPr>
              <a:t>السعي إلى تطوير قطاع الطاقة والمياه والنقل وإيجاد حلول مناسبة لمشكلتي المياه والطاقة وتوفير البدائل.</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4</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الاتجاهات العامة للسياسة الوطنية الأردنية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4. الاتجاهات العامة للسياسة الوطنية الأردنية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marL="364846" indent="-364846">
              <a:lnSpc>
                <a:spcPct val="112000"/>
              </a:lnSpc>
              <a:spcAft>
                <a:spcPts val="1155"/>
              </a:spcAft>
              <a:buClr>
                <a:schemeClr val="tx1"/>
              </a:buClr>
              <a:buSzPct val="100000"/>
              <a:buChar char="◆"/>
            </a:pPr>
            <a:r>
              <a:rPr lang="ar-JO" altLang="en-US" sz="2100" dirty="0">
                <a:solidFill>
                  <a:schemeClr val="tx1"/>
                </a:solidFill>
                <a:latin typeface="Segoe UI" pitchFamily="34" charset="0"/>
                <a:ea typeface="Segoe UI" pitchFamily="34" charset="-122"/>
                <a:cs typeface="Segoe UI" pitchFamily="34" charset="-120"/>
              </a:rPr>
              <a:t>في ظل التحولات والتوترات الإقليمية والدولية التي تؤثر في البيئة الاستراتيجية للمملكة، تحدد السياسة الوطنية الاتجاهات الحاكمة لتوظيف عناصر القوة الوطنية وحماية أمن الدولة واستقرارها وتحقيق مصالحها.</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أ.  </a:t>
            </a:r>
            <a:r>
              <a:rPr lang="ar-JO" altLang="en-US" sz="2100" dirty="0">
                <a:solidFill>
                  <a:schemeClr val="tx1"/>
                </a:solidFill>
                <a:latin typeface="Segoe UI" pitchFamily="34" charset="0"/>
                <a:ea typeface="Segoe UI" pitchFamily="34" charset="-122"/>
                <a:cs typeface="Segoe UI" pitchFamily="34" charset="-120"/>
              </a:rPr>
              <a:t>تبقى أهداف السياسة الوطنية ثابتة في أوقات السلم والحرب، وخلال مراحل الانتقال بينهما، مع تكييف وسائل التنفيذ وفق الظروف.</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ب.  </a:t>
            </a:r>
            <a:r>
              <a:rPr lang="ar-JO" altLang="en-US" sz="2100" dirty="0">
                <a:solidFill>
                  <a:schemeClr val="tx1"/>
                </a:solidFill>
                <a:latin typeface="Segoe UI" pitchFamily="34" charset="0"/>
                <a:ea typeface="Segoe UI" pitchFamily="34" charset="-122"/>
                <a:cs typeface="Segoe UI" pitchFamily="34" charset="-120"/>
              </a:rPr>
              <a:t>تشكّل السياسة الوطنية مرجعية توجيهية للاستراتيجية الوطنية، ويتعين أن تتسق الخطط الاستراتيجية معها ضمن تفاعل دائم يضمن وحدة الغايات وتكامل التنفيذ.</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جـ.  </a:t>
            </a:r>
            <a:r>
              <a:rPr lang="ar-JO" altLang="en-US" sz="2100" dirty="0">
                <a:solidFill>
                  <a:schemeClr val="tx1"/>
                </a:solidFill>
                <a:latin typeface="Segoe UI" pitchFamily="34" charset="0"/>
                <a:ea typeface="Segoe UI" pitchFamily="34" charset="-122"/>
                <a:cs typeface="Segoe UI" pitchFamily="34" charset="-120"/>
              </a:rPr>
              <a:t>يتقدم هدف صون أمن الدولة الأردنية واستقرارها وسلامتها، ونظامها السياسي والاقتصادي والاجتماعي، سائر الأولويات الوطنية، في إطار الأمن الوطني بمفهومه الشامل.</a:t>
            </a:r>
            <a:endParaRPr lang="ar-JO" sz="21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4. الاتجاهات العامة للسياسة الوطنية الأردنية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د.  </a:t>
            </a:r>
            <a:r>
              <a:rPr lang="ar-JO" altLang="en-US" sz="2100" dirty="0">
                <a:solidFill>
                  <a:schemeClr val="tx1"/>
                </a:solidFill>
                <a:latin typeface="Segoe UI" pitchFamily="34" charset="0"/>
                <a:ea typeface="Segoe UI" pitchFamily="34" charset="-122"/>
                <a:cs typeface="Segoe UI" pitchFamily="34" charset="-120"/>
              </a:rPr>
              <a:t>تُعد القوات المسلحة الأردنية والأجهزة الأمنية ركيزة وطنية أساسية لحماية الأمن الوطني، وتلتزم الدولة بدعم جاهزيتها وقدراتها ورعاية منتسبيها كي تنهض بواجباتها.</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هـ.  </a:t>
            </a:r>
            <a:r>
              <a:rPr lang="ar-JO" altLang="en-US" sz="2100" dirty="0">
                <a:solidFill>
                  <a:schemeClr val="tx1"/>
                </a:solidFill>
                <a:latin typeface="Segoe UI" pitchFamily="34" charset="0"/>
                <a:ea typeface="Segoe UI" pitchFamily="34" charset="-122"/>
                <a:cs typeface="Segoe UI" pitchFamily="34" charset="-120"/>
              </a:rPr>
              <a:t>تستمد السياسة الوطنية شرعيتها من الدستور الأردني والتشريعات والأعراف الوطنية، وتراعي الالتزامات والمواثيق الدولية ذات الصلة.</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و.  </a:t>
            </a:r>
            <a:r>
              <a:rPr lang="ar-JO" altLang="en-US" sz="2100" dirty="0">
                <a:solidFill>
                  <a:schemeClr val="tx1"/>
                </a:solidFill>
                <a:latin typeface="Segoe UI" pitchFamily="34" charset="0"/>
                <a:ea typeface="Segoe UI" pitchFamily="34" charset="-122"/>
                <a:cs typeface="Segoe UI" pitchFamily="34" charset="-120"/>
              </a:rPr>
              <a:t>تراعي السياسة الوطنية معطيات البيئة الإقليمية والدولية وتطوراتها عند تحديد الأولويات وسبل حماية الأمن الوطني الشامل.</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ز.  </a:t>
            </a:r>
            <a:r>
              <a:rPr lang="ar-JO" altLang="en-US" sz="2100" dirty="0">
                <a:solidFill>
                  <a:schemeClr val="tx1"/>
                </a:solidFill>
                <a:latin typeface="Segoe UI" pitchFamily="34" charset="0"/>
                <a:ea typeface="Segoe UI" pitchFamily="34" charset="-122"/>
                <a:cs typeface="Segoe UI" pitchFamily="34" charset="-120"/>
              </a:rPr>
              <a:t>تهيئ السياسة بيئة داعمة للتنمية السياسية والاقتصادية والاجتماعية المتوازنة، بما يعزز النمو والرعاية الاجتماعية ومستوى معيشة المواطنين.</a:t>
            </a:r>
            <a:endParaRPr lang="ar-JO" sz="21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4. الاتجاهات العامة للسياسة الوطنية الأردنية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ح.  </a:t>
            </a:r>
            <a:r>
              <a:rPr lang="ar-JO" altLang="en-US" sz="2100" dirty="0">
                <a:solidFill>
                  <a:schemeClr val="tx1"/>
                </a:solidFill>
                <a:latin typeface="Segoe UI" pitchFamily="34" charset="0"/>
                <a:ea typeface="Segoe UI" pitchFamily="34" charset="-122"/>
                <a:cs typeface="Segoe UI" pitchFamily="34" charset="-120"/>
              </a:rPr>
              <a:t>تشكل القضية الفلسطينية محوراً أساسياً في علاقات الأردن الإقليمية والدولية، لارتباطها المباشر بمصالحه الوطنية.</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ط.  </a:t>
            </a:r>
            <a:r>
              <a:rPr lang="ar-JO" altLang="en-US" sz="2100" dirty="0">
                <a:solidFill>
                  <a:schemeClr val="tx1"/>
                </a:solidFill>
                <a:latin typeface="Segoe UI" pitchFamily="34" charset="0"/>
                <a:ea typeface="Segoe UI" pitchFamily="34" charset="-122"/>
                <a:cs typeface="Segoe UI" pitchFamily="34" charset="-120"/>
              </a:rPr>
              <a:t>تدعم السياسة الوطنية بناء موقف عربي مشترك وتطوير تكتل عربي قادر على التأثير في القضايا الإقليمية والدولية.</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ي.  </a:t>
            </a:r>
            <a:r>
              <a:rPr lang="ar-JO" altLang="en-US" sz="2100" dirty="0">
                <a:solidFill>
                  <a:schemeClr val="tx1"/>
                </a:solidFill>
                <a:latin typeface="Segoe UI" pitchFamily="34" charset="0"/>
                <a:ea typeface="Segoe UI" pitchFamily="34" charset="-122"/>
                <a:cs typeface="Segoe UI" pitchFamily="34" charset="-120"/>
              </a:rPr>
              <a:t>تتدرج أولوية توظيف عناصر القوة الوطنية من السياسي، فالاقتصادي، فالاجتماعي، فالإعلامي، فالمعلوماتي والتقني، ثم الأمني والدفاعي؛ ويظل الاستخدام العسكري خياراً أخيراً ما لم تتعرض المصالح الحيوية لتهديد فعلي يستوجب القرار السياسي.</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ك.  </a:t>
            </a:r>
            <a:r>
              <a:rPr lang="ar-JO" altLang="en-US" sz="2100" dirty="0">
                <a:solidFill>
                  <a:schemeClr val="tx1"/>
                </a:solidFill>
                <a:latin typeface="Segoe UI" pitchFamily="34" charset="0"/>
                <a:ea typeface="Segoe UI" pitchFamily="34" charset="-122"/>
                <a:cs typeface="Segoe UI" pitchFamily="34" charset="-120"/>
              </a:rPr>
              <a:t>تُعطى السياسات التخصصية الأولوية بحسب هذا التسلسل: الخارجية، الدفاعية، الاقتصادية، الأمن الداخلي، الاجتماعية، الإعلامية والمعلوماتية، العلمية والتقنية، ثم مكافحة الإرهاب، مع التكامل في التنفيذ.</a:t>
            </a:r>
            <a:endParaRPr lang="ar-JO" sz="21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4. الاتجاهات العامة للسياسة الوطنية الأردنية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ل.  </a:t>
            </a:r>
            <a:r>
              <a:rPr lang="ar-JO" altLang="en-US" sz="2100" dirty="0">
                <a:solidFill>
                  <a:schemeClr val="tx1"/>
                </a:solidFill>
                <a:latin typeface="Segoe UI" pitchFamily="34" charset="0"/>
                <a:ea typeface="Segoe UI" pitchFamily="34" charset="-122"/>
                <a:cs typeface="Segoe UI" pitchFamily="34" charset="-120"/>
              </a:rPr>
              <a:t>تتبنى الدولة إصلاحاً متدرجاً وشاملاً في المجالات السياسية والاقتصادية والإدارية، وتراجع التشريعات والبرامج وفق الأولويات الوطنية ومتطلبات التطوير.</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م.  </a:t>
            </a:r>
            <a:r>
              <a:rPr lang="ar-JO" altLang="en-US" sz="2100" dirty="0">
                <a:solidFill>
                  <a:schemeClr val="tx1"/>
                </a:solidFill>
                <a:latin typeface="Segoe UI" pitchFamily="34" charset="0"/>
                <a:ea typeface="Segoe UI" pitchFamily="34" charset="-122"/>
                <a:cs typeface="Segoe UI" pitchFamily="34" charset="-120"/>
              </a:rPr>
              <a:t>توسع الدولة المشاركة الديمقراطية، وتمكّن المرأة والشباب ومؤسسات المجتمع المدني من المشاركة في صنع القرار وتحمل المسؤولية.</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ن.  </a:t>
            </a:r>
            <a:r>
              <a:rPr lang="ar-JO" altLang="en-US" sz="2100" dirty="0">
                <a:solidFill>
                  <a:schemeClr val="tx1"/>
                </a:solidFill>
                <a:latin typeface="Segoe UI" pitchFamily="34" charset="0"/>
                <a:ea typeface="Segoe UI" pitchFamily="34" charset="-122"/>
                <a:cs typeface="Segoe UI" pitchFamily="34" charset="-120"/>
              </a:rPr>
              <a:t>تؤسس سيادة القانون واستقلال القضاء والتكامل بين السلطات الثلاث لدولة مدنية عادلة وتعزز الثقة بمؤسساتها.</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س.  </a:t>
            </a:r>
            <a:r>
              <a:rPr lang="ar-JO" altLang="en-US" sz="2100" dirty="0">
                <a:solidFill>
                  <a:schemeClr val="tx1"/>
                </a:solidFill>
                <a:latin typeface="Segoe UI" pitchFamily="34" charset="0"/>
                <a:ea typeface="Segoe UI" pitchFamily="34" charset="-122"/>
                <a:cs typeface="Segoe UI" pitchFamily="34" charset="-120"/>
              </a:rPr>
              <a:t>تستثمر الدولة التكنولوجيا والاتصال الحديثين في تطوير الأداء وإطلاق المبادرات والطاقات الشبابية.</a:t>
            </a:r>
            <a:endParaRPr lang="ar-JO" sz="2100" dirty="0"/>
          </a:p>
          <a:p>
            <a:pPr rtl="1" algn="r" marL="364846" indent="-364846">
              <a:lnSpc>
                <a:spcPct val="112000"/>
              </a:lnSpc>
              <a:spcAft>
                <a:spcPts val="1155"/>
              </a:spcAft>
              <a:buClr>
                <a:schemeClr val="tx1"/>
              </a:buClr>
              <a:buSzPct val="100000"/>
              <a:buChar char="◆"/>
            </a:pPr>
            <a:r>
              <a:rPr lang="ar-JO" altLang="en-US" sz="2100" b="1" dirty="0">
                <a:solidFill>
                  <a:schemeClr val="accent1"/>
                </a:solidFill>
                <a:latin typeface="Segoe UI" pitchFamily="34" charset="0"/>
                <a:ea typeface="Segoe UI" pitchFamily="34" charset="-122"/>
                <a:cs typeface="Segoe UI" pitchFamily="34" charset="-120"/>
              </a:rPr>
              <a:t>ع.  </a:t>
            </a:r>
            <a:r>
              <a:rPr lang="ar-JO" altLang="en-US" sz="2100" dirty="0">
                <a:solidFill>
                  <a:schemeClr val="tx1"/>
                </a:solidFill>
                <a:latin typeface="Segoe UI" pitchFamily="34" charset="0"/>
                <a:ea typeface="Segoe UI" pitchFamily="34" charset="-122"/>
                <a:cs typeface="Segoe UI" pitchFamily="34" charset="-120"/>
              </a:rPr>
              <a:t>ترجح الدولة التسويات والوسائل السلمية في التعامل مع الأزمات الإقليمية والدولية.</a:t>
            </a:r>
            <a:endParaRPr lang="ar-JO" sz="21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5</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السياسة الخارجية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5. السياسة الخارجية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الخارجية للدولة.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ممارسة السياسة الخارجية عبر إدامة العلاقات وتنميتها مع القوى الدولية الكبرى والمنظمات الإقليمية والدولية بدبلوماسية نشطة فاعلة مع القوى المؤثرة في المجتمع الدولي.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ترسيخ موقف الأردن بأن أمن الشرق الأوسط واستقراره يتطلبان حلاً عادلاً للقضية الفلسطينية يفضي إلى إقامة الدولة الفلسطينية المستقلة وعاصمتها القدس الشرقية.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الإسهام في حماية الأمن الوطني وصون المصالح الوطنية من الآثار المحتملة لتطورات الإقليم.</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5. السياسة الخارجية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الخارجية للدولة.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اعتماد السياسة الخارجية الأردنية مبادئ الاعتدال والواقعية والفهم العميق لمجمل الأوضاع الدولية والإقليمية وقدرتها على المواءمة بين المصلحة الوطنية والمصلحة القومية والتوجهات الدولية الحميدة وآليات العمل المشترك.</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تثبيت الموقف الأردني الرافض لأي تسوية للقضية الفلسطينية على حساب الأردن، ولمحاولات التهجير القسري أو ضم الأراضي الفلسطينية، باعتبارها مساساً بالأمن الوطني الأردني.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توسيع مساهمة الأردن في عمليات حفظ السلام الأممية، وتعزيز حضوره الإنساني في إدارة الأزمات والإغاثة عند وقوع الكوارث.</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6</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السياسة الدفاعية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6. السياسة الدفاعية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الأهداف العسكرية للدولة.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حماية الأمن الوطني الأردني وإدامة الاستقرار ببعديه الدفاعي والأمني، والتصدي التدريجي والمتناسب للتحديات والتهديدات الداخلية والخارجية وفق مستوياتها.</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التأسيس لحالة ردع عملياتي عبر تعزيز وتنمية القدرات الدفاعية للقوات المسلحة الأردنية، وبما يحافظ على أمن واستقرار وسيادة المملكة الأردنية الهاشمية وسلامة ووحدة أراضيها (المصلحة الحيوية).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المساهمة بفعالية في محاربة الإرهاب بمختلف أشكاله وأنواعه محلياً وإقليمياً ودولياً، ومحاربة الغلو والفكر المتطرف.</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6. السياسة الدفاعية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الأهداف العسكرية للدولة.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إرساء وتطوير قاعدة صناعات دفاعية حديثة ومتطورة، والاهتمام بالصناعات الدفاعية، وضرورة تطوير وإقامة بعض الصناعات العسكرية التي تلبي احتياجات القوات المسلحة الأردنية، واستخدام التكنولوجيا الحديثة في القوات المسلحة في مختلف المجالات لمواكبة التطورات الحديثة في مسارح العمليات.</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العمل على إعداد وتهيئة مسرح العمليات وبما يتلاءم مع خطط الدفاع على جميع الاتجاهات الاستراتيجية للدولة الأردنية وخاصة الاتجاه الغربي والشمالي، مع تطوير خطط العمليات وبشكل متدرج بطريقة تحاكي التطور المستمر في المجال التقني والتركيز على العمليات غير التقليدية.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إسناد برامج التنمية المستدامة وطنياً في القطاعات التعليمية والتشغيلية والتدريبية والاقتصادية والزراعية والاجتماعية والصحية.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7</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السياسة الاقتصادية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7. السياسة الاقتصادية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الاقتصادية.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مواصلة إنجاز برامج رؤية التحديث الاقتصادي للأعوام 2023–2033 ومتابعة تنفيذها.</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الارتقاء بمعدلات النمو الاقتصادي والوصول إلى التنمية المستدامة بأعلى من معدلات النمو السكاني.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المضي في تعزيز نهج الاعتماد على الذات وتمكين الموارد البشرية الواعدة وتوسيع فرص تشغيل المواطنين.</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7. السياسة الاقتصادية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الاقتصادية.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إعطاء الأولوية للاقتصاد الإنتاجي في مختلف القطاعات وخصوصاً الزراعي وإنشاء مراكز تدريب زراعية في مختلف مناطق المملكة لرفع قدرات المزارعين وتمكينهم تكنولوجياً وضمان الاستغلال الأمثل للموارد.</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السعي إلى تحقيق الأمن الغذائي والدوائي وأمن الطاقة وذلك بضمان دوام واستمرار توفرهما للمواطن بتوظيف المصادر البديلة المتوفرة.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المضي في استكمال نهج التصحيح الاقتصادي وتحديث التشريعات الاقتصادية بما يشجع عملية الاستثمار وبما يدعم بيئة الأعمال وتنافسية الأردن إقليمياً وعالمياً وبما يسهم في الارتقاء بمستوى التنمية الوطنية المستدامة الشاملة.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8</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سياسة الأمن الداخلي</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8. سياسة الأمن الداخلي</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سياسة الأمن الداخلي.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السعي إلى تطوير الجهاز القضائي وتعزيز سيادة القانون لتحقيق التنمية السياسية والإدارية والتعليمية والاقتصادية.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السعي إلى تحقيق الأمن والاستقرار الداخلي وتوفير المساندة اللازمة للأجهزة الأمنية لتكون قادرة على إنفاذ القانون وفرض هيبة الدولة ومكافحة الجريمة وآفة المخدرات.</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إدامة متطلبات الحكم المحلي اللامركزي للمحافظات ضمن إطار ديمقراطي منفتح.</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8. سياسة الأمن الداخلي</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سياسة الأمن الداخلي.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توسيع صلاحيات المحافظات وقدراتها في إدارة التنمية الاقتصادية والاجتماعية والسياسية ضمن نهج اللامركزية.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تحديث منظومة إدارة الأزمات والكوارث الوطنية لتحقيق الاستجابة المثلى للأزمات والكوارث وتخفيف آثارها.</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الحفاظ على الحريات العامة وحفظ الأمن وتحقيق التوازن بينهما في حدود الدستور والقوانين والأنظمة العامة والعمل على تعميق الانتماء والولاء للوطن.</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9</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السياسة الاجتماعية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9. السياسة الاجتماعية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الاجتماعية.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تضع السياسة الاجتماعية رفاه المواطن في صدارة الأولويات، وتعمل على تحسين مستوى دخله وظروفه المعيشية بما ينعكس على استقراره الاجتماعي.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وضع برامج لتحسين مستوى حياة المواطنين محدودي الدخل والفقراء، عبر شبكة الأمان الاجتماعي، وتشييد المساكن للشرائح الاجتماعية المستهدفة، وبرامج تمكين الفقراء (عبر التدريب والتأهيل)، ومساندة الأسر الفقيرة عبر طرود الخير الهاشمية.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تأمين حياة أفضل لجميع شرائح المجتمع الأردني عبر تأمين السكن المناسب وفي مقدمتها لأبناء القوات المسلحة الأردنية – الجيش العربي والأجهزة الأمنية، وإسكان المعلمين ومشروع الملك عبدالله الثاني لإسكان الأسر العفيفة.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9. السياسة الاجتماعية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الاجتماعية.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إدامة وتعزيز روح الانتماء الوطني للحفاظ على تماسك الجبهة الداخلية ورفع المستوى الصحي وشمول كافة المواطنين بمظلة التأمين الصحي الشامل وكذلك رفع المستوى التعليمي والتوسع بقبول الطلبة في الجامعات الأردنية وتوفير فرص العمل وتقليص البطالة.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العمل على تعزيز منظومة مكافحة الفساد ووضع ميثاق لتعزيز منظومة النزاهة الوطنية بالشراكة مع جميع المؤسسات الرقابية.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العمل على تعزيز وحدة المجتمع الأردني وتنظيم العلاقات بين أفراده لضمان تحقيق العدالة والمساواة وتكافؤ الفرص فيما بينهم.</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10</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السياسة الإعلامية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10. السياسة الإعلامية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الإعلامية.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إسناد الحركة الثقافية والنشر والإبداع والارتقاء بمستوى الخدمة الثقافية وصون الآثار والمعالم التاريخية وصيانتها وإنشاء المتاحف وحماية المخطوطات القديمة وترميمها.</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ترسيخ الوعي الوطني والقومي المستند إلى مبادئ الإسلام والثورة العربية الكبرى والانتماء للأردن والولاء لقيادته، بعيداً عن التعصب والتحيز.</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نشر معرفة المواطنين بحقوقهم وواجباتهم، وترسيخ مشاركتهم المسؤولة في حماية قيم الوطن ومصالحه وإنجازاته.</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10. السياسة الإعلامية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الإعلامية.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تمكين المؤسسات الإعلامية من أداء وظيفتها منابر للإعلام الوطني بما يحفظ الوحدة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حشد التأييد لدى الرأي العام المحلي والدولي للقضايا والمواقف الأردنية.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تعميق قيم المجتمع الأردني التي تعكس تاريخه وهويته وكفاح شعبه.</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11</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السياسة العلمية والتقنية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11. السياسة العلمية والتقنية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العلمية والتقنية.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تحديث منظومة متكاملة للتعليم بمختلف مراحله وقطاعاته لمواكبة أحدث المعايير الدولية.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إيلاء اهتمام بالتنمية البشرية عبر بناء قدرات أجيال الحاضر والمستقبل وتسليحهم بأفضل أدوات العلم والمعرفة وبما يحفز ويشجع على التميز والإبداع.</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الاستمرار في تطبيق استراتيجية تنمية الموارد البشرية للوصول إلى نتائج ملموسة تدعم مسيرة التنمية والتطوير في الأردن.</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11. السياسة العلمية والتقنية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العلمية والتقنية.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توجيه الجهود إلى توطين التكنولوجيا في البيئة الأردنية بما ينسجم والمتطلبات الوطنية.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تنمية القدرات الفنية التقنية والعلمية وتوظيفها بصورة تخدم الأمن الوطني.</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إعداد كفاءات فنية وعلمية أردنية، وتوسيع فرص تأهيلها داخل المملكة وخارجها لتمكينها من توظيف العلوم والتكنولوجيا الحديثة.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12</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السياسة المعلوماتية</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12. السياسة المعلوماتية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المعلوماتية.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تطوير شبكة مراكز المعلومات الوطنية والتخصصية وربطها باحتياجات القطاعات السياسية والاقتصادية والتعليمية والاجتماعية والإدارية.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تنشيط دور مراكز البحث والدراسات الوطنية وبناء قاعدة معلومات وطنية تسهم في تحقيق التنمية الشاملة.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السعي إلى تطوير مشروع الحكومة الإلكترونية لخدمة المواطن ومؤسسات الدولة.</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12. السياسة المعلوماتية</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السياسة المعلوماتية.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تأمين حماية أنظمة المعلومات الوطنية من الاختراقات والاعتداءات.</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تسخير المعلومات في دعم السياسات الوطنية، والانفتاح المعلوماتي على العالم باستخدام وسائل الاتصالات الحديثة.</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الارتقاء بقطاع الاتصالات وتكنولوجيا المعلومات للمحافظة على قدرته التنافسية واستيعاب الكفاءات الوطنية ومجاراة التطور العالمي.</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2"/>
          <p:cNvSpPr/>
          <p:nvPr>
            <p:ph idx="102" type="body" hasCustomPrompt="1"/>
          </p:nvPr>
        </p:nvSpPr>
        <p:spPr>
          <a:xfrm>
            <a:off x="548640" y="1463040"/>
            <a:ext cx="11094415" cy="1737360"/>
          </a:xfrm>
          <a:prstGeom prst="rect">
            <a:avLst/>
          </a:prstGeom>
          <a:noFill/>
          <a:ln/>
        </p:spPr>
        <p:txBody>
          <a:bodyPr wrap="square" lIns="0" tIns="0" rIns="0" bIns="0" rtlCol="0" anchor="b"/>
          <a:lstStyle/>
          <a:p>
            <a:pPr rtl="1" algn="ctr" indent="0" marL="0">
              <a:buNone/>
            </a:pPr>
            <a:r>
              <a:rPr lang="ar-JO" altLang="en-US" sz="11000" b="1" dirty="0">
                <a:solidFill>
                  <a:schemeClr val="tx1"/>
                </a:solidFill>
                <a:latin typeface="Segoe UI" pitchFamily="34" charset="0"/>
                <a:ea typeface="Segoe UI" pitchFamily="34" charset="-122"/>
                <a:cs typeface="Segoe UI" pitchFamily="34" charset="-120"/>
              </a:rPr>
              <a:t>13</a:t>
            </a:r>
            <a:endParaRPr lang="ar-JO" sz="11000" dirty="0"/>
          </a:p>
        </p:txBody>
      </p:sp>
      <p:sp>
        <p:nvSpPr>
          <p:cNvPr id="3" name="Text 2"/>
          <p:cNvSpPr/>
          <p:nvPr>
            <p:ph idx="103" type="title" hasCustomPrompt="1"/>
          </p:nvPr>
        </p:nvSpPr>
        <p:spPr>
          <a:xfrm>
            <a:off x="548640" y="3383280"/>
            <a:ext cx="11094415" cy="1463040"/>
          </a:xfrm>
          <a:prstGeom prst="rect">
            <a:avLst/>
          </a:prstGeom>
          <a:noFill/>
          <a:ln/>
        </p:spPr>
        <p:txBody>
          <a:bodyPr wrap="square" lIns="0" tIns="0" rIns="0" bIns="0" rtlCol="0" anchor="t"/>
          <a:lstStyle/>
          <a:p>
            <a:pPr rtl="1" algn="ctr" indent="0" marL="0">
              <a:buNone/>
            </a:pPr>
            <a:r>
              <a:rPr lang="ar-JO" altLang="en-US" sz="4800" b="1" dirty="0">
                <a:solidFill>
                  <a:schemeClr val="tx1"/>
                </a:solidFill>
                <a:latin typeface="Segoe UI" pitchFamily="34" charset="0"/>
                <a:ea typeface="Segoe UI" pitchFamily="34" charset="-122"/>
                <a:cs typeface="Segoe UI" pitchFamily="34" charset="-120"/>
              </a:rPr>
              <a:t>سياسة مكافحة الإرهاب</a:t>
            </a:r>
            <a:endParaRPr lang="ar-JO" sz="48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13. سياسة مكافحة الإرهاب</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سياسة مكافحة الإرهاب.</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(1)  </a:t>
            </a:r>
            <a:r>
              <a:rPr lang="ar-JO" altLang="en-US" sz="2000" dirty="0">
                <a:solidFill>
                  <a:schemeClr val="tx1"/>
                </a:solidFill>
                <a:latin typeface="Segoe UI" pitchFamily="34" charset="0"/>
                <a:ea typeface="Segoe UI" pitchFamily="34" charset="-122"/>
                <a:cs typeface="Segoe UI" pitchFamily="34" charset="-120"/>
              </a:rPr>
              <a:t>اعتبار مكافحة الإرهاب مكوناً أصيلاً في السياسة الوطنية، مع رفض تقديم أي تنازلات سياسية للإرهابيين والجماعات الإرهابية وتعزيز القدرات الاستخبارية للتعامل مع تهديداتهم.</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(2)  </a:t>
            </a:r>
            <a:r>
              <a:rPr lang="ar-JO" altLang="en-US" sz="2000" dirty="0">
                <a:solidFill>
                  <a:schemeClr val="tx1"/>
                </a:solidFill>
                <a:latin typeface="Segoe UI" pitchFamily="34" charset="0"/>
                <a:ea typeface="Segoe UI" pitchFamily="34" charset="-122"/>
                <a:cs typeface="Segoe UI" pitchFamily="34" charset="-120"/>
              </a:rPr>
              <a:t>إيلاء اهتمام بتطوير وتحديث الأجهزة الأمنية والارتقاء بمستوى كفاءتها لضمان قدرتها في مكافحة الإرهاب.</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(3)  </a:t>
            </a:r>
            <a:r>
              <a:rPr lang="ar-JO" altLang="en-US" sz="2000" dirty="0">
                <a:solidFill>
                  <a:schemeClr val="tx1"/>
                </a:solidFill>
                <a:latin typeface="Segoe UI" pitchFamily="34" charset="0"/>
                <a:ea typeface="Segoe UI" pitchFamily="34" charset="-122"/>
                <a:cs typeface="Segoe UI" pitchFamily="34" charset="-120"/>
              </a:rPr>
              <a:t>المحافظة على استدامة برامج الإصلاح والتنمية السياسية والاقتصادية والاجتماعية باعتبارها أحد مكونات الوقاية من التطرف.</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3" type="body" hasCustomPrompt="1"/>
          </p:nvPr>
        </p:nvSpPr>
        <p:spPr>
          <a:xfrm>
            <a:off x="548640" y="384048"/>
            <a:ext cx="11094415" cy="320040"/>
          </a:xfrm>
          <a:prstGeom prst="rect">
            <a:avLst/>
          </a:prstGeom>
          <a:noFill/>
          <a:ln/>
        </p:spPr>
        <p:txBody>
          <a:bodyPr wrap="square" lIns="0" tIns="0" rIns="0" bIns="0" rtlCol="0" anchor="ctr"/>
          <a:lstStyle/>
          <a:p>
            <a:pPr rtl="1" algn="r" indent="0" marL="0">
              <a:buNone/>
            </a:pPr>
            <a:r>
              <a:rPr lang="ar-JO" altLang="en-US" sz="1500" b="1" dirty="0">
                <a:solidFill>
                  <a:schemeClr val="accent3"/>
                </a:solidFill>
                <a:latin typeface="Segoe UI" pitchFamily="34" charset="0"/>
                <a:ea typeface="Segoe UI" pitchFamily="34" charset="-122"/>
                <a:cs typeface="Segoe UI" pitchFamily="34" charset="-120"/>
              </a:rPr>
              <a:t>السياسة الوطنية</a:t>
            </a:r>
            <a:endParaRPr lang="ar-JO" sz="1500" dirty="0"/>
          </a:p>
        </p:txBody>
      </p:sp>
      <p:sp>
        <p:nvSpPr>
          <p:cNvPr id="3" name="Text 3"/>
          <p:cNvSpPr/>
          <p:nvPr>
            <p:ph idx="104" type="title" hasCustomPrompt="1"/>
          </p:nvPr>
        </p:nvSpPr>
        <p:spPr>
          <a:xfrm>
            <a:off x="548640" y="713232"/>
            <a:ext cx="11094415" cy="640080"/>
          </a:xfrm>
          <a:prstGeom prst="rect">
            <a:avLst/>
          </a:prstGeom>
          <a:noFill/>
          <a:ln/>
        </p:spPr>
        <p:txBody>
          <a:bodyPr wrap="square" lIns="0" tIns="0" rIns="0" bIns="0" rtlCol="0" anchor="ctr"/>
          <a:lstStyle/>
          <a:p>
            <a:pPr rtl="1" algn="r" indent="0" marL="0">
              <a:buNone/>
            </a:pPr>
            <a:r>
              <a:rPr lang="ar-JO" altLang="en-US" sz="3200" b="1" dirty="0">
                <a:solidFill>
                  <a:schemeClr val="tx2"/>
                </a:solidFill>
                <a:latin typeface="Segoe UI" pitchFamily="34" charset="0"/>
                <a:ea typeface="Segoe UI" pitchFamily="34" charset="-122"/>
                <a:cs typeface="Segoe UI" pitchFamily="34" charset="-120"/>
              </a:rPr>
              <a:t>13. سياسة مكافحة الإرهاب</a:t>
            </a:r>
            <a:endParaRPr lang="ar-JO" sz="3200" dirty="0"/>
          </a:p>
        </p:txBody>
      </p:sp>
      <p:sp>
        <p:nvSpPr>
          <p:cNvPr id="4" name="Text 2"/>
          <p:cNvSpPr txBox="1"/>
          <p:nvPr/>
        </p:nvSpPr>
        <p:spPr>
          <a:xfrm>
            <a:off x="640080" y="1645920"/>
            <a:ext cx="10911535" cy="4572000"/>
          </a:xfrm>
          <a:prstGeom prst="rect">
            <a:avLst/>
          </a:prstGeom>
          <a:noFill/>
          <a:ln/>
        </p:spPr>
        <p:txBody>
          <a:bodyPr wrap="square" lIns="0" tIns="0" rIns="0" bIns="0" rtlCol="0" anchor="t"/>
          <a:lstStyle/>
          <a:p>
            <a:pPr rtl="1" algn="r" indent="0" marL="0">
              <a:spcAft>
                <a:spcPts val="1100"/>
              </a:spcAft>
              <a:buNone/>
            </a:pPr>
            <a:r>
              <a:rPr lang="ar-JO" altLang="en-US" sz="2200" b="1" dirty="0">
                <a:solidFill>
                  <a:schemeClr val="accent1"/>
                </a:solidFill>
                <a:latin typeface="Segoe UI" pitchFamily="34" charset="0"/>
                <a:ea typeface="Segoe UI" pitchFamily="34" charset="-122"/>
                <a:cs typeface="Segoe UI" pitchFamily="34" charset="-120"/>
              </a:rPr>
              <a:t>أ. أهداف سياسة مكافحة الإرهاب.</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(4)  </a:t>
            </a:r>
            <a:r>
              <a:rPr lang="ar-JO" altLang="en-US" sz="2000" dirty="0">
                <a:solidFill>
                  <a:schemeClr val="tx1"/>
                </a:solidFill>
                <a:latin typeface="Segoe UI" pitchFamily="34" charset="0"/>
                <a:ea typeface="Segoe UI" pitchFamily="34" charset="-122"/>
                <a:cs typeface="Segoe UI" pitchFamily="34" charset="-120"/>
              </a:rPr>
              <a:t>تفعيل المشاركة الأردنية في التحالف الدولي لمكافحة الإرهاب ومساندة جهوده.</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(5)  </a:t>
            </a:r>
            <a:r>
              <a:rPr lang="ar-JO" altLang="en-US" sz="2000" dirty="0">
                <a:solidFill>
                  <a:schemeClr val="tx1"/>
                </a:solidFill>
                <a:latin typeface="Segoe UI" pitchFamily="34" charset="0"/>
                <a:ea typeface="Segoe UI" pitchFamily="34" charset="-122"/>
                <a:cs typeface="Segoe UI" pitchFamily="34" charset="-120"/>
              </a:rPr>
              <a:t>منع المنظمات والجماعات الإرهابية من استخدام الأراضي الأردنية منطلقاً لعملياتها.</a:t>
            </a:r>
            <a:endParaRPr lang="ar-JO" sz="2200" dirty="0"/>
          </a:p>
          <a:p>
            <a:pPr rtl="1" algn="r" marL="347472" indent="-347472">
              <a:lnSpc>
                <a:spcPct val="112000"/>
              </a:lnSpc>
              <a:spcAft>
                <a:spcPts val="1100"/>
              </a:spcAft>
              <a:buClr>
                <a:schemeClr val="tx1"/>
              </a:buClr>
              <a:buSzPct val="100000"/>
              <a:buChar char="◆"/>
            </a:pPr>
            <a:r>
              <a:rPr lang="ar-JO" altLang="en-US" sz="2000" b="1" dirty="0">
                <a:solidFill>
                  <a:schemeClr val="accent1"/>
                </a:solidFill>
                <a:latin typeface="Segoe UI" pitchFamily="34" charset="0"/>
                <a:ea typeface="Segoe UI" pitchFamily="34" charset="-122"/>
                <a:cs typeface="Segoe UI" pitchFamily="34" charset="-120"/>
              </a:rPr>
              <a:t>(6)  </a:t>
            </a:r>
            <a:r>
              <a:rPr lang="ar-JO" altLang="en-US" sz="2000" dirty="0">
                <a:solidFill>
                  <a:schemeClr val="tx1"/>
                </a:solidFill>
                <a:latin typeface="Segoe UI" pitchFamily="34" charset="0"/>
                <a:ea typeface="Segoe UI" pitchFamily="34" charset="-122"/>
                <a:cs typeface="Segoe UI" pitchFamily="34" charset="-120"/>
              </a:rPr>
              <a:t>التصدي بحزم لتداعيات الوضع الأمني الإقليمي وما ينتج عنه من تهديدات.</a:t>
            </a:r>
            <a:endParaRPr lang="ar-JO" sz="2200" dirty="0"/>
          </a:p>
        </p:txBody>
      </p:sp>
      <p:sp>
        <p:nvSpPr>
          <p:cNvPr id="25" name="Slide Number Placeholder 0"/>
          <p:cNvSpPr>
            <a:spLocks noGrp="1"/>
          </p:cNvSpPr>
          <p:nvPr>
            <p:ph type="sldNum" sz="quarter" idx="4294967295"/>
          </p:nvPr>
        </p:nvSpPr>
        <p:spPr>
          <a:xfrm>
            <a:off x="548640"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000000"/>
                </a:solidFill>
                <a:latin typeface="Segoe UI"/>
                <a:ea typeface="Segoe UI"/>
                <a:cs typeface="Segoe UI"/>
              </a:defRPr>
            </a:lvl1pPr>
          </a:lstStyle>
          <a:p>
            <a:pPr algn="l"/>
            <a:fld id="{F7021451-1387-4CA6-816F-3879F97B5CBC}" type="slidenum">
              <a:rPr b="0" lang="en-US"/>
              <a:t>56</a:t>
            </a:fld>
            <a:endParaRPr lang="en-US"/>
          </a:p>
        </p:txBody>
      </p:sp>
    </p:spTree>
  </p:cSld>
  <p:clrMapOvr>
    <a:masterClrMapping/>
  </p:clrMapOvr>
</p:sld>
</file>

<file path=ppt/theme/theme1.xml><?xml version="1.0" encoding="utf-8"?>
<a:theme xmlns:a="http://schemas.openxmlformats.org/drawingml/2006/main" name="National Policy">
  <a:themeElements>
    <a:clrScheme name="National Policy">
      <a:dk1>
        <a:srgbClr val="000000"/>
      </a:dk1>
      <a:lt1>
        <a:srgbClr val="FFFFFF"/>
      </a:lt1>
      <a:dk2>
        <a:srgbClr val="000000"/>
      </a:dk2>
      <a:lt2>
        <a:srgbClr val="FFFFFF"/>
      </a:lt2>
      <a:accent1>
        <a:srgbClr val="000000"/>
      </a:accent1>
      <a:accent2>
        <a:srgbClr val="000000"/>
      </a:accent2>
      <a:accent3>
        <a:srgbClr val="000000"/>
      </a:accent3>
      <a:accent4>
        <a:srgbClr val="BFBFBF"/>
      </a:accent4>
      <a:accent5>
        <a:srgbClr val="000000"/>
      </a:accent5>
      <a:accent6>
        <a:srgbClr val="000000"/>
      </a:accent6>
      <a:hlink>
        <a:srgbClr val="000000"/>
      </a:hlink>
      <a:folHlink>
        <a:srgbClr val="000000"/>
      </a:folHlink>
    </a:clrScheme>
    <a:fontScheme name="National Policy">
      <a:majorFont>
        <a:latin typeface="Segoe UI"/>
        <a:ea typeface=""/>
        <a:cs typeface="Segoe UI"/>
        <a:font script="Jpan" typeface="游ゴシック Light"/>
        <a:font script="Hang" typeface="맑은 고딕"/>
        <a:font script="Hans" typeface="等线 Light"/>
        <a:font script="Hant" typeface="新細明體"/>
        <a:font script="Arab" typeface="Segoe U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Segoe UI"/>
        <a:font script="Jpan" typeface="游ゴシック"/>
        <a:font script="Hang" typeface="맑은 고딕"/>
        <a:font script="Hans" typeface="等线"/>
        <a:font script="Hant" typeface="新細明體"/>
        <a:font script="Arab" typeface="Segoe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السياسة الوطنية — المحاور من ١ إلى ١٣</dc:title>
  <dc:subject>المحاور ١–٤ كما في الملف المرفق، والمحاور ٥–١٣ مع ستة أهداف فرعية لكل محور، دون شريحة المحاور.</dc:subject>
  <dc:creator>PptxGenJS</dc:creator>
  <cp:lastModifiedBy>PptxGenJS</cp:lastModifiedBy>
  <cp:revision>1</cp:revision>
  <dcterms:created xsi:type="dcterms:W3CDTF">2026-10-18T17:29:57Z</dcterms:created>
  <dcterms:modified xsi:type="dcterms:W3CDTF">2026-10-18T17:29:57Z</dcterms:modified>
</cp:coreProperties>
</file>