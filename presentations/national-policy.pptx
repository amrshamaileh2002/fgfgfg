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4630400" cy="8229600"/>
  <p:notesSz cx="8229600" cy="14630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1 من 31
التوقيت الإرشادي: 00:00–01:00 | 60 ثانية
المحاور من الأول إلى الرابع
صفحة افتتاحية تعيد محتوى الصورة المرفقة: البسملة، سري لأغراض التمرين، السياسة الوطنية، الحكومة (ج)، ثم جدول المسمى الوظيفي والاسم حسب الفرضية الأولى بجميع صفوفه التسعة عشر وبالترتيب. أعيد بناؤها كنصوص قابلة للتعديل بالأبيض والأسود. يليها النص الكامل للمحاور الأربعة؛ حُذفت فقط فقرتا المفهوم العام في المحورين الأول والثاني وفق الطلب السابق.
النصوص الكاملة المعروضة:
رئيس الوزراء / وزير الدفاع — صالح عاشق صباح كريشان
وزير الخارجية وشؤون المغتربين — صقر بن علي العريني
نائب الرئيس للشؤون الاقتصادية — عبدالله صالح أبو الزينات
وزير الداخلية — علي إسماعيل الشرعة
وزير الشؤون السياسية والبرلمانية — علي محمود الدهامشة
وزير الإدارة المحلية — أحمد علي الرعود
وزير الصناعة والتجارة — عمر محمد الخرابشة
وزير الطاقة والثروة المعدنية — عاصم محمد الزغول
وزير التخطيط والتعاون الدولي — خالد وليد الشطي
وزير التربية والتعليم وتنمية الموارد البشرية — أحمد محمد عبيدات
وزير البيئة — محمد بن إبراهيم الملحم
وزير الاتصال الحكومي — عبدالله عبدالرحمن الشبانات
نائب سمو رئيس المركز الوطني للأمن وإدارة الأزمات — أنس هاني عبدالله القرالة
مساعد رئيس هيئة الأركان المشتركة للإدارة والقوة البشرية — سعد بن ظافر القرني
وزير الاقتصاد الرقمي والريادة — مفلح بن ناصر القحطاني
وزير الصحة — عمر بن صالح الدهام
وزير العمل — وليد بن سفر العتيبي
وزير الثقافة — أحمد بن سعيد العسيري
وزير الشباب — سعود بن ماجد الدوسري
المرجع: ص ١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2 من 31
التوقيت الإرشادي: 01:00–02:30 | 90 ثانية
المحور الأول
اقرأ المطلب الوطني كاملاً. وضح ترابط الأمن والحرية والازدهار والحياة الكريمة في صياغة واحدة، وأن الدولة الآمنة والمستقرة تمثل إطار تحقيق هذه الغايات. هذا توضيح للعلاقة داخل النص، وليس إضافة مطلب جديد.
النصوص الكاملة المعروضة:
ب — المطلب الوطني: أمن، حرية، ازدهار، وحياة كريمة فضلى للمواطنين في دولة آمنة ومستقرة.
المرجع: ص ٢ | ١/ب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3 من 31
التوقيت الإرشادي: 02:30–03:30 | 60 ثانية
ب. تصنيف المصالح الوطنية
ابدأ بالمصلحة الحيوية كما صنفتها الوثيقة. اقرأ عناصرها كاملة، مع إبراز أن الأمن المائي وارد صراحة ضمنها. ثم انتقل إلى المصالح الأساسية دون إعادة فقرة المفهوم العام المحذوفة.
النصوص الكاملة المعروضة:
١ — صون أمن الدولة الأردنية وسلامتها وسيادتها، وضمان استقرار نظامها السياسي والاقتصادي والاجتماعي، والمحافظة على أمنها المائي.
المرجع: ص ٢ | ٢/ب/١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4 من 31
التوقيت الإرشادي: 03:30–04:15 | 45 ثانية
المحور الثاني · المصالح الأساسية
اقرأ بنود المصالح الأساسية كاملة وفق حروفها الأصلية وبالترتيب، دون حذف أو اختصار.
النصوص الكاملة المعروضة:
أ — تسوية القضية الفلسطينية في الضفة الغربية وقطاع غزة بوصفهما قضية واحدة، وصولاً إلى إقامة دولة فلسطينية مستقلة على خطوط الرابع من حزيران 1967، تكون القدس الشرقية عاصمتها.
ب — تنمية القدرات الدفاعية والأمنية ذات الجاهزية العالية لتبقى الحصن المنيع وسياج الوطن ودرعه في مواجهة التهديدات المختلفة.
جـ — جعل تنمية القدرات الوطنية وتطويرها مشروعاً مستقبلياً للدولة، بما يعزز جاهزيتها وقدرتها على تحقيق أهدافها.
المرجع: ص ٢–٣ | ٢/ب/٢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5 من 31
التوقيت الإرشادي: 04:15–05:00 | 45 ثانية
المحور الثاني · المصالح الأساسية
اقرأ بنود المصالح الأساسية كاملة وفق حروفها الأصلية وبالترتيب، دون حذف أو اختصار.
النصوص الكاملة المعروضة:
د — إدامة وحدة الجبهة الداخلية وصلابتها، وصون النسيج الوطني القائم على الوسطية والاعتدال واحترام حرية الأديان.
هـ — مواصلة تنفيذ رؤية التحديث الاقتصادي الشاملة، بالاستناد إلى مسارات التحديث السياسي والاقتصادي والاجتماعي والإداري، حتى بلوغ النتائج المستهدفة.
و — توثيق العمل العربي المشترك وتعزيز الروابط مع دول الإقليم لمواجهة التهديدات الإقليمية، مع توظيف مكانة الأردن مركزاً للتجارة والصناعة والتكنولوجيا.
المرجع: ص ٢–٣ | ٢/ب/٢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6 من 31
التوقيت الإرشادي: 05:00–05:45 | 45 ثانية
المحور الثاني · المصالح الأساسية
اقرأ بنود المصالح الأساسية كاملة وفق حروفها الأصلية وبالترتيب، دون حذف أو اختصار.
النصوص الكاملة المعروضة:
ز — بلورة موقف دولي مساند لأمن سوريا وسيادتها ووحدة أراضيها، وبما يتيح عودة اللاجئين بصورة طوعية.
ح — الحفاظ على الاستقرار الاقتصادي وحماية المنعة الاقتصادية وتسريع التنمية والنمو.
ط — العمل على تعزيز القيم الوطنية والمجتمعية واحترام سيادة القانون ضمن الدولة المدنية.
المرجع: ص ٢–٣ | ٢/ب/٢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7 من 31
التوقيت الإرشادي: 05:45–06:30 | 45 ثانية
المحور الثاني · المصالح الأساسية
اقرأ بنود المصالح الأساسية كاملة وفق حروفها الأصلية وبالترتيب، دون حذف أو اختصار.
النصوص الكاملة المعروضة:
ي — ترسيخ أسس العدالة والنزاهة وصيانة الحقوق في مختلف مؤسسات الدولة.
ك — مواصلة حمل أمانة الوصاية الهاشمية، وصون الوضع التاريخي والقانوني للمقدسات الإسلامية والمسيحية في القدس.
ل — توسيع قاعدة الشراكات الاستراتيجية والمحافظة على استدامتها مع التكتلات الاقتصادية الكبرى، وفي مقدمتها جمهورية الصين الشعبية.
المرجع: ص ٢–٣ | ٢/ب/٢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8 من 31
التوقيت الإرشادي: 06:30–07:15 | 45 ثانية
المحور الثاني · المصالح الأساسية
اقرأ بنود المصالح الأساسية كاملة وفق حروفها الأصلية وبالترتيب، دون حذف أو اختصار.
النصوص الكاملة المعروضة:
م — المحافظة على ديمومة العلاقات الاستراتيجية مع الولايات المتحدة الأمريكية وتطوير التعاون معها في مختلف المجالات.
ن — توسيع آفاق الانفتاح السياسي واستعداد الأردن والتزامه بمواقفه للتفاعل مع جميع دول العالم والمنظمات الدولية للوصول إلى الأمن والسلم الدوليين.
المرجع: ص ٢–٣ | ٢/ب/٢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9 من 31
التوقيت الإرشادي: 07:15–08:00 | 45 ثانية
المحور الثاني · المصالح الثانوية
اقرأ البنود الثلاثة كاملة. حافظ على تسمية المصالح الثانوية كما وردت في الوثيقة؛ فهي تصنيف للمصالح ولا تعني إسقاطها من جدول العمل الوطني.
النصوص الكاملة المعروضة:
أ — زيادة كثافة الجهود وتهيئة البيئة الحاضنة والممكنة للاستثمار ليكون الأساس لتمويل المشاريع والبنى الاقتصادية.
ب — جعل الأردن مركزاً إقليمياً ودولياً متقدماً ومنافساً في المنطقة عبر الاستثمارات الدولية والعربية.
ج — السعي إلى تطوير الإدارة العامة لتحسين الخدمات ومواكبة الحداثة والتطوير، وترسيخ ثقافة الإنجاز والتميز في المؤسسات الحكومية.
المرجع: ص ٣–٤ | ٢/ب/٣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10 من 31
التوقيت الإرشادي: 08:00–08:45 | 45 ثانية
المحور الثاني · المصالح الثانوية
اقرأ البنود الثلاثة كاملة. حافظ على تسمية المصالح الثانوية كما وردت في الوثيقة؛ فهي تصنيف للمصالح ولا تعني إسقاطها من جدول العمل الوطني.
النصوص الكاملة المعروضة:
د — تطوير قدرات دائرة الإحصاءات العامة لتكون مرجعاً وطنياً شاملاً للبيانات والمعلومات، يدعم القرار الحكومي الفاعل والشفاف في تحقيق الأهداف.
هـ — إظهار التنوع الثقافي والانفتاح الأردني، مع احتضان المواهب الأدبية والفكرية ورعاية إبداعها.
و — توسيع آفاق الانفتاح على دول العالم والمنظمات الدولية، والتفاعل معها وتبادل الخبرات والتعاون في ميادين شتى لتطوير قدرات الدولة الأردنية وتقديم الخدمات الفضلى للأردنيين في الوطن وحول العالم.
المرجع: ص ٣–٤ | ٢/ب/٣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11 من 31
التوقيت الإرشادي: 08:45–09:30 | 45 ثانية
المحور الثاني · المصالح الثانوية
اقرأ البنود الثلاثة كاملة. حافظ على تسمية المصالح الثانوية كما وردت في الوثيقة؛ فهي تصنيف للمصالح ولا تعني إسقاطها من جدول العمل الوطني.
النصوص الكاملة المعروضة:
ز — فتح أسواق جديدة أمام القطاع الصناعي، وتوظيف الاتفاقيات الاقتصادية والتجارية التي تربط الأردن مع دول العالم، ومن المهم استكشاف الأسواق الناشئة لتعزيز تصدير المنتجات والخدمات الأردنية.
ح — العمل من أجل منطقة شرق أوسط خالية من أسلحة الدمار الشامل.
ط — السعي نحو تدعيم الأمن الغذائي ومواجهة التغيرات المناخية.
المرجع: ص ٣–٤ | ٢/ب/٣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12 من 31
التوقيت الإرشادي: 09:30–11:00 | 90 ثانية
المحور الثالث
المفهوم العام هنا مشمول لأنه لم يُطلب حذفه من المحور الثالث. اقرأ الفقرة كاملة، ثم أبرز ثلاثة عناصر منصوص عليها: قابلية التنفيذ والتقييم، السقوف الزمنية، ووضوح الأولويات. تتبعها الأهداف التسعة والثلاثون دون اختصار.
النصوص الكاملة المعروضة:
أ — تُترجم المصالح الوطنية إلى أهداف وطنية ذات مضمون سياسي واستراتيجي قابل للتنفيذ والتقييم. وترتبط هذه الأهداف بطبيعة المرحلة ومتطلباتها وبسقوف زمنية وأولويات واضحة، بما يحول المصالح من غايات عامة إلى نتائج عملية مستهدفة.
المرجع: ص ٤ | ٣/أ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13 من 31
التوقيت الإرشادي: 11:00–12:00 | 60 ثانية
المحور الثالث · الأهداف الوطنية
اقرأ الأهداف الثلاثة. أبرز تلازم دعم الحقوق الفلسطينية وتحديث الجاهزية الدفاعية والأمنية واستكمال برامج التحديث في صياغة الوثيقة.
النصوص الكاملة المعروضة:
1 — تقديم مختلف أشكال الدعم والمساندة لأشقائنا في فلسطين حتى الحصول على كامل حقوقهم المشروعة عبر التوصل إلى تسوية سلمية للصراع العربي الإسرائيلي.
2 — رفع كفاءة وتحديث جاهزية القوات المسلحة الأردنية والأجهزة الأمنية بما يواكب التطورات الجديدة.
3 — استكمال برامج التحديث الوطنية المختلفة من أجل صون الأمن الوطني.
المرجع: ص 4 | ٣/ب | الأهداف 1–3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14 من 31
التوقيت الإرشادي: 12:00–13:00 | 60 ثانية
المحور الثالث · الأهداف الوطنية
اقرأ النص كاملاً مع إعطاء التواصل الميداني مساحته. الهدف المائي يتضمن الناقل الوطني وخفض الفاقد ومنع الاعتداءات؛ والهدف الغذائي يركز على الأطر المؤسسية والاعتماد على الذات.
النصوص الكاملة المعروضة:
4 — زيادة كثافة التواصل الميداني المباشر مع المواطنين والاطلاع على قضاياهم وأولوياتهم، والاستماع إلى آرائهم ومشاركتهم التوجهات والرؤى، بحيث يتم التعامل مع التحديات والاحتياجات والتطلعات وإيجاد الحلول الممكنة والبناء على الفرص المتاحة.
5 — تعزيز الأمن المائي عبر إطلاق تنفيذ مشروع الناقل الوطني للمياه، وخفض الفاقد المائي، والحد من الاعتداءات على خطوط المياه ومحاسبة المعتدين.
6 — استدامة الجهود لتدعيم الأمن الغذائي ضمن أطر مؤسسية، وبما يدعم الاعتماد على الذات ومواجهة تقلبات الأسعار والأزمات الإقليمية والدولية.
المرجع: ص 4–5 | ٣/ب | الأهداف 4–6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15 من 31
التوقيت الإرشادي: 13:00–14:00 | 60 ثانية
المحور الثالث · الأهداف الوطنية
اقرأ الأهداف كاملة. ميز بين استكمال المشاريع، والتنسيق مع مجلس النواب، وإشراك المواطنين في الأولويات التنموية المحلية. حافظ على شرط التوزيع الأمثل والعادل لمكتسبات التنمية.
النصوص الكاملة المعروضة:
7 — استكمال البرامج والمشاريع الأساسية المنبثقة عن الرؤية الشاملة للتحديث، وتسريع إنجازها وإبقاؤها على مسارها التنفيذي المقرر.
8 — التنسيق مع مجلس النواب لتعميق الممارسة الديمقراطية وترسيخ المشاركة السياسية وتطوير المؤسسات الدستورية.
9 — إشراك المواطنين في ترتيب الأولويات التنموية المحلية، وربطها بأولويات رؤية التحديث الاقتصادي، بما يضمن التوزيع الأمثل والعادل لمكتسبات التنمية.
المرجع: ص 5 | ٣/ب | الأهداف 7–9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16 من 31
التوقيت الإرشادي: 14:00–15:00 | 60 ثانية
المحور الثالث · الأهداف الوطنية
اقرأ الأهداف كاملة. في رؤية التحديث احتفظ بكل النتائج المذكورة: النمو المستدام، الاستثمار، البطالة والحياة الفضلى. ثم اذكر قطاعات المشاريع الكبرى وإدارة الأزمات والكوارث.
النصوص الكاملة المعروضة:
10 — تنفيذ رؤية التحديث الاقتصادي وفق برامج معلنة ومحددة زمنياً تخضع للتقييم والمتابعة، بما يطلق الإمكانات ويحقق نمواً شاملاً مستداماً ويضاعف الاستثمار ويخفض البطالة ويوفر حياة فضلى للمواطنين.
11 — إعطاء المشاريع الاستراتيجية الكبرى أولوية حكومية، ولا سيما في قطاعات المياه والنقل والطاقة والقطاعات الاقتصادية الواعدة.
12 — تحديث منظومة إدارة الأزمات والكوارث الوطنية لتحقيق الاستجابة المثلى للأزمات والكوارث وتخفيف آثارها.
المرجع: ص 5 | ٣/ب | الأهداف 10–12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17 من 31
التوقيت الإرشادي: 15:00–16:00 | 60 ثانية
المحور الثالث · الأهداف الوطنية
أعط الهدف الرابع عشر الجزء الأكبر من الدقيقة لطوله. اقرأ النطاق الزمني 2024–2028 كما ورد في الوثيقة، ودور المركز الوطني للأمن السيبراني والرصد المبكر والاستجابة. لا تقدمه كتقييم لواقع التنفيذ الحالي.
النصوص الكاملة المعروضة:
13 — توظيف تكنولوجيا المستقبل، عبر الشراكة والتعاون مع القطاع الخاص والجامعات وجميع الجهات المعنية محلياً وعالمياً وضمن أطر زمنية واضحة.
14 — التقيد ببرامج التحول الرقمي وجداولها الزمنية في مؤسسات الدولة، وتوظيف الابتكار والتقنيات الحديثة، مع دعم المركز الوطني للأمن السيبراني في إعداد وتنفيذ البرنامج المنبثق عن الاستراتيجية الوطنية للأمن السيبراني 2024–2028، لبناء منظومة متكاملة ومستدامة للرصد المبكر والاستجابة للحوادث والتهديدات السيبرانية.
15 — استدامة أعمال مراكز الخدمات الحكومية، التي تعد تجربة متقدمة في توفير خدمات نوعية للمواطنين.
المرجع: ص 5 | ٣/ب | الأهداف 13–15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18 من 31
التوقيت الإرشادي: 16:00–17:00 | 60 ثانية
المحور الثالث · الأهداف الوطنية
اقرأ الأهداف كاملة. ميز بين قطاع الخدمات والأسواق المالية، وتحسين الخدمات الحضرية والرقعة الخضراء، ومشروع المدينة الجديدة المرتبط بعمان والزرقاء والشراكة مع القطاع الخاص.
النصوص الكاملة المعروضة:
16 — الاستمرار في تطوير قطاع الخدمات والأسواق المالية، ليكون ممكناً للنمو الاقتصادي ومبنياً على أسس حصيفة، ويكون رافعاً للقطاع الخاص والصناديق الاستثمارية.
17 — تحسين سبل العيش للمواطنين في مدنهم والوصول إلى خيارات أفضل من الخدمات عبر التنمية الحضرية، مع الحرص على زيادة الرقعة الخضراء وانتشار الحدائق العامة.
18 — متابعة التحضير لمشروع المدينة الجديدة بالشراكة مع القطاع الخاص، لتخفيف الضغط الحضري على عمان والزرقاء وتعظيم عوائده الاستثمارية والاجتماعية والاقتصادية.
المرجع: ص 6 | ٣/ب | الأهداف 16–18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19 من 31
التوقيت الإرشادي: 17:00–18:00 | 60 ثانية
المحور الثالث · الأهداف الوطنية
اقرأ الأهداف كاملة. اذكر التعدين والصناعة والمنافسة، ثم منعة السياحة وخطط مواجهة التحديات وصندوق تنمية وتطوير القطاع السياحي.
النصوص الكاملة المعروضة:
19 — إيلاء اهتمام بقطاع التعدين كأحد القطاعات الواعدة في النمو الاقتصادي.
20 — تمكين القطاع الصناعي ليكون منافساً في الأسواق الوطنية والخارجية.
21 — العمل على تعزيز منعة قطاع السياحة وإعداد خطط واضحة للتعامل مع التحديات التي تواجهه، وتفعيل نظام صندوق تنمية وتطوير القطاع السياحي.
المرجع: ص 6 | ٣/ب | الأهداف 19–21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20 من 31
التوقيت الإرشادي: 18:00–19:00 | 60 ثانية
المحور الثالث · الأهداف الوطنية
اقرأ الأهداف كاملة. حافظ على ربط الحماية الاجتماعية برؤية التحديث، وأولوية التعليم والتدريب المهني والتقني، وحماية المال العام والعدالة والمساءلة.
النصوص الكاملة المعروضة:
22 — مراجعة الاستراتيجية الوطنية للحماية الاجتماعية وتحديثها وإطلاق تنفيذها بما يتوافق مع رؤية التحديث الاقتصادي وبرنامجها التنفيذي.
23 — استكمال تحديث التعليم وتطويره والعمل ليكون التعليم والتدريب المهني والتقني أولوية في المدارس والمراكز والجامعات.
24 — مكافحة الفساد وحماية المال العام والمقدرات الوطنية من التعدي، وترسيخ قيم العدالة والمساواة والمساءلة.
المرجع: ص 6 | ٣/ب | الأهداف 22–24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21 من 31
التوقيت الإرشادي: 19:00–20:00 | 60 ثانية
المحور الثالث · الأهداف الوطنية
اقرأ الأهداف كاملة. لا تختزل الطاقة في المتجددة وحدها: النص يشمل الموارد الطبيعية والغاز والاستخدام الصناعي والتجاري والهيدروجين الأخضر.
النصوص الكاملة المعروضة:
25 — توظيف تجربة حافلات التردد السريع في عمان والزرقاء لتشمل مناطق أوسع، تسهيلاً على المواطنين ولتمكينهم من تجاوز عقبات انخراطهم بسوق العمل.
26 — إبراز المملكة وجهة سياحية آمنة طوال العام رغم الاضطرابات الإقليمية، ورفع جودة الخدمات والمرافق في المواقع السياحية، وتحسين تجربة الزائر وتنويع المنتج السياحي.
27 — تعظيم الاستفادة من الموارد الطبيعية والغاز الطبيعي بتوجيه الاستثمار إليها وتوسيع الاستخدام الصناعي والتجاري لها، مع التوسع في الطاقة المتجددة والهيدروجين الأخضر للتحول نحو طاقة نظيفة ومستدامة.
المرجع: ص 6 | ٣/ب | الأهداف 25–27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22 من 31
التوقيت الإرشادي: 20:00–21:00 | 60 ثانية
المحور الثالث · الأهداف الوطنية
اقرأ الأهداف كاملة. وضح أن النص يجمع القيم والتطوع وسيادة القانون مع حوسبة الخدمات الصحية وجودتها، ثم مساءلة المقصرين وإزالة العراقيل.
النصوص الكاملة المعروضة:
28 — ترسيخ القيم الوطنية والمجتمعية والعمل التطوعي والمشاركة والمسؤولية واحترام سيادة القانون عبر المؤسسات التعليمية، وتعزيز تماسك المجتمع ونهضته ضمن الدولة المدنية.
29 — مواصلة حوسبة المستشفيات والمراكز الطبية، وتحسين جودة الخدمات الصحية والإدارة الحصيفة للمرافق والبنية الصحية في المملكة.
30 — تكريس مساءلة المقصرين في واجباتهم تجاه المواطنين، وإعلاء مفهوم الخدمة العامة القائمة على الحلول وإزالة العراقيل.
المرجع: ص 6–7 | ٣/ب | الأهداف 28–30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23 من 31
التوقيت الإرشادي: 21:00–22:00 | 60 ثانية
المحور الثالث · الأهداف الوطنية
اقرأ الأهداف كاملة. يميز النص إزالة عوائق مشاركة المرأة، وتوجيه طاقات الشباب والمراكز والحاضنات، ثم دعم المنتخب الوطني والشراكات لتوفير المنشآت الرياضية.
النصوص الكاملة المعروضة:
31 — استكمال دعم المرأة الأردنية وتمكينها لتعزيز انخراطها في سوق العمل، وذلك بإزالة العقبات التي تحول دون مشاركتها الفاعلة، ما يكفل الارتقاء بمستوى مساهمتها في الاقتصاد الوطني.
32 — تحمل الحكومة مسؤولية تمكين الشباب والشابات وتوجيه طاقاتهم نحو البناء والتطوير، وتوسيع دور المراكز الشبابية وحاضنات الريادة.
33 — دعم المنتخب الوطني لكرة القدم واستدامة الشراكات مع القطاع الخاص لتوفير المنشآت والتجهيزات الرياضية وتطويرها.
المرجع: ص 7 | ٣/ب | الأهداف 31–33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24 من 31
التوقيت الإرشادي: 22:00–23:00 | 60 ثانية
المحور الثالث · الأهداف الوطنية
اقرأ الأهداف كاملة. حافظ على شقي التوعية وإنفاذ القانون في مواجهة المخدرات، وكل عناصر تطوير الإدارة المحلية، ودور الإحصاءات في القرار الشفاف.
النصوص الكاملة المعروضة:
34 — تكثيف برامج التوعية والتثقيف وتوفير الحواضن الشبابية في المؤسسات التعليمية والثقافية والشبابية، وتشديد ملاحقة مهربي المخدرات ومروجيها وإنفاذ القانون بحقهم.
35 — تحديث الإطار التشريعي الناظم للانتخابات المحلية المقبلة، وتمكين هياكل الإدارة المحلية من أداء أدوارها التنموية والخدمية، وتعزيز الرقابة والمساءلة وبناء القدرات والتحول الرقمي.
36 — تمكين دائرة الإحصاءات العامة من أداء دورها مرجعاً وطنياً للبيانات والمعلومات الشاملة، بما يدعم اتخاذ قرارات حكومية شفافة وأكثر فعالية.
المرجع: ص 7 | ٣/ب | الأهداف 34–36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25 من 31
التوقيت الإرشادي: 23:00–24:00 | 60 ثانية
المحور الثالث · الأهداف الوطنية
اقرأ الأهداف الثلاثة كاملة. الهدف السابع والثلاثون يشمل المعلمين والمناهج والتدريس الذكي والمدارس ورياض الأطفال. اختم بالتحول الرقمي للإعلام والحلول والبدائل للمياه والطاقة والنقل.
النصوص الكاملة المعروضة:
37 — تقليص الفجوة بين مخرجات التعليم ومتطلبات سوق العمل، وتأهيل المعلمين وتطوير المناهج، والتوسع في التدريس الذكي وتهيئة مدارس آمنة ومحفزة وبناء المدارس ورياض الأطفال.
38 — مواكبة الثورة التكنولوجية بالعالم تستوجب العمل على تشجيع وسائل الإعلام على تطوير أدواتها للتحول الرقمي.
39 — السعي إلى تطوير قطاع الطاقة والمياه والنقل وإيجاد حلول مناسبة لمشكلتي المياه والطاقة وتوفير البدائل.
المرجع: ص 7 | ٣/ب | الأهداف 37–39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26 من 31
التوقيت الإرشادي: 24:00–25:00 | 60 ثانية
المحور الرابع
اقرأ مقدمة المحور كاملة. انتقل من الأهداف إلى الاتجاهات التي تحكم توظيف عناصر القوة. ستتناول الشرائح التالية جميع الاتجاهات من أ إلى ع دون إسقاط أي منها.
النصوص الكاملة المعروضة:
٤ — في ظل التحولات والتوترات الإقليمية والدولية التي تؤثر في البيئة الاستراتيجية للمملكة، تحدد السياسة الوطنية الاتجاهات الحاكمة لتوظيف عناصر القوة الوطنية وحماية أمن الدولة واستقرارها وتحقيق مصالحها.
المرجع: ص ٨ | مقدمة المحور الرابع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27 من 31
التوقيت الإرشادي: 25:00–26:00 | 60 ثانية
المحور الرابع · الاتجاهات العامة
اقرأ الاتجاهات كاملة وبالترتيب. اربط كل اتجاه بعباراته المحددة في المصدر وتجنب تقديم أمثلة خارجية على أنها وقائع وردت في الوثيقة.
النصوص الكاملة المعروضة:
أ — تبقى أهداف السياسة الوطنية ثابتة في أوقات السلم والحرب، وخلال مراحل الانتقال بينهما، مع تكييف وسائل التنفيذ وفق الظروف.
ب — تشكل السياسة الوطنية مرجعية توجيهية للاستراتيجية الوطنية، ويتعين أن تتسق الخطط الاستراتيجية معها ضمن تفاعل دائم يضمن وحدة الغايات وتكامل التنفيذ.
جـ — يتقدم هدف صون أمن الدولة الأردنية واستقرارها وسلامتها، ونظامها السياسي والاقتصادي والاجتماعي، سائر الأولويات الوطنية، في إطار الأمن الوطني بمفهومه الشامل.
المرجع: ص ٨–٩ | ٤ | أ–جـ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28 من 31
التوقيت الإرشادي: 26:00–27:00 | 60 ثانية
المحور الرابع · الاتجاهات العامة
اقرأ الاتجاهات كاملة وبالترتيب. اربط كل اتجاه بعباراته المحددة في المصدر وتجنب تقديم أمثلة خارجية على أنها وقائع وردت في الوثيقة.
النصوص الكاملة المعروضة:
د — تُعد القوات المسلحة الأردنية والأجهزة الأمنية ركيزة وطنية أساسية لحماية الأمن الوطني، وتلتزم الدولة بدعم جاهزيتها وقدراتها ورعاية منتسبيها كي تنهض بواجباتها.
هـ — تستمد السياسة الوطنية شرعيتها من الدستور الأردني والتشريعات والأعراف الوطنية، وتراعي الالتزامات والمواثيق الدولية ذات الصلة.
و — تراعي السياسة الوطنية معطيات البيئة الإقليمية والدولية وتطوراتها عند تحديد الأولويات وسبل حماية الأمن الوطني الشامل.
المرجع: ص ٨–٩ | ٤ | د–و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29 من 31
التوقيت الإرشادي: 27:00–28:00 | 60 ثانية
المحور الرابع · الاتجاهات العامة
اقرأ الاتجاهات كاملة وبالترتيب. اربط كل اتجاه بعباراته المحددة في المصدر وتجنب تقديم أمثلة خارجية على أنها وقائع وردت في الوثيقة.
النصوص الكاملة المعروضة:
ز — تهيئ السياسة بيئة داعمة للتنمية السياسية والاقتصادية والاجتماعية المتوازنة، بما يعزز النمو والرعاية الاجتماعية ومستوى معيشة المواطنين.
ح — تشكل القضية الفلسطينية محوراً أساسياً في علاقات الأردن الإقليمية والدولية، لارتباطها المباشر بمصالحه الوطنية.
ط — تدعم السياسة الوطنية بناء موقف عربي مشترك وتطوير تكتل عربي قادر على التأثير في القضايا الإقليمية والدولية.
المرجع: ص ٨–٩ | ٤ | ز–ط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30 من 31
التوقيت الإرشادي: 28:00–29:00 | 60 ثانية
المحور الرابع · الاتجاهات العامة
اقرأ الاتجاهات كاملة وبالترتيب. ميز بين تسلسل توظيف عناصر القوة في الفقرة ي، وترتيب السياسات التخصصية في الفقرة ك؛ فهما تسلسلان مختلفان في المصدر. حافظ على الاستثناء المتعلق بتهديد المصالح الحيوية والقرار السياسي، ثم الإصلاح المتدرج والشامل.
النصوص الكاملة المعروضة:
ي — تتدرج أولوية توظيف عناصر القوة الوطنية من السياسي، فالاقتصادي، فالاجتماعي، فالإعلامي، فالمعلوماتي والتقني، ثم الأمني والدفاعي؛ ويظل الاستخدام العسكري خياراً أخيراً ما لم تتعرض المصالح الحيوية لتهديد فعلي يستوجب القرار السياسي.
ك — تُعطى السياسات التخصصية الأولوية بحسب هذا التسلسل: الخارجية، الدفاعية، الاقتصادية، الأمن الداخلي، الاجتماعية، الإعلامية والمعلوماتية، العلمية والتقنية، ثم مكافحة الإرهاب، مع التكامل في التنفيذ.
ل — تتبنى الدولة إصلاحاً متدرجاً وشاملاً في المجالات السياسية والاقتصادية والإدارية، وتراجع التشريعات والبرامج وفق الأولويات الوطنية ومتطلبات التطوير.
المرجع: ص ٨–٩ | ٤ | ي–ل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الشريحة 31 من 31
التوقيت الإرشادي: 29:00–30:00 | 60 ثانية
المحور الرابع · الاتجاهات العامة
اقرأ الاتجاهات كاملة وبالترتيب. احرص على قراءة الفقرات الأربع جميعها: المشاركة والتمكين، دولة القانون، التكنولوجيا، ثم ترجيح التسويات والوسائل السلمية. لا تسقط الفقرة الأخيرة عند إنهاء المحور.
النصوص الكاملة المعروضة:
م — توسع الدولة المشاركة الديمقراطية، وتمكن المرأة والشباب ومؤسسات المجتمع المدني من المشاركة في صنع القرار وتحمل المسؤولية.
ن — تؤسس سيادة القانون واستقلال القضاء والتكامل بين السلطات الثلاث لدولة مدنية عادلة وتعزز الثقة بمؤسساتها.
س — تستثمر الدولة التكنولوجيا والاتصال الحديثين في تطوير الأداء وإطلاق المبادرات والطاقات الشبابية.
ع — ترجح الدولة التسويات والوسائل السلمية في التعامل مع الأزمات الإقليمية والدولية.
المرجع: ص ٨–٩ | ٤ | م–ع
التصميم: خلفية بيضاء ونص أسود وفق الطلب المحدّث. الشريحة الأولى تعيد بناء الصفحة المرفقة بجميع الأسماء والمسميات كنص قابل للتعديل. دون صور إضافية. جميع بنود المحاور الأربعة معروضة كاملة وبالترتيب مع حذف فقرتي المفهوم العام من المحورين الأول والثاني فقط حسب الطلب السابق.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417320" y="210312"/>
            <a:ext cx="11795760" cy="393192"/>
          </a:xfrm>
          <a:prstGeom prst="rect">
            <a:avLst/>
          </a:prstGeom>
          <a:noFill/>
          <a:ln/>
        </p:spPr>
        <p:txBody>
          <a:bodyPr wrap="square" lIns="0" tIns="0" rIns="0" bIns="0" rtlCol="0" anchor="ctr"/>
          <a:lstStyle/>
          <a:p>
            <a:pPr rtl="1" algn="ctr" indent="0" marL="0">
              <a:buNone/>
            </a:pPr>
            <a:r>
              <a:rPr lang="ar-JO" altLang="en-US" sz="2200" b="1" u="sng" dirty="0">
                <a:solidFill>
                  <a:srgbClr val="000000"/>
                </a:solidFill>
                <a:uFill>
                  <a:solidFill>
                    <a:srgbClr val="000000"/>
                  </a:solidFill>
                </a:uFill>
                <a:latin typeface="Noto Naskh Arabic" pitchFamily="34" charset="0"/>
                <a:ea typeface="Noto Naskh Arabic" pitchFamily="34" charset="-122"/>
                <a:cs typeface="Noto Naskh Arabic" pitchFamily="34" charset="-120"/>
              </a:rPr>
              <a:t>بسم الله الرحمن الرحيم</a:t>
            </a:r>
            <a:endParaRPr lang="ar-JO" sz="2200" dirty="0"/>
          </a:p>
        </p:txBody>
      </p:sp>
      <p:sp>
        <p:nvSpPr>
          <p:cNvPr id="3" name="Text 1"/>
          <p:cNvSpPr/>
          <p:nvPr/>
        </p:nvSpPr>
        <p:spPr>
          <a:xfrm>
            <a:off x="1417320" y="603504"/>
            <a:ext cx="11795760" cy="393192"/>
          </a:xfrm>
          <a:prstGeom prst="rect">
            <a:avLst/>
          </a:prstGeom>
          <a:noFill/>
          <a:ln/>
        </p:spPr>
        <p:txBody>
          <a:bodyPr wrap="square" lIns="0" tIns="0" rIns="0" bIns="0" rtlCol="0" anchor="ctr"/>
          <a:lstStyle/>
          <a:p>
            <a:pPr rtl="1" algn="ctr" indent="0" marL="0">
              <a:buNone/>
            </a:pPr>
            <a:r>
              <a:rPr lang="ar-JO" altLang="en-US" sz="2200" b="1" u="sng" dirty="0">
                <a:solidFill>
                  <a:srgbClr val="000000"/>
                </a:solidFill>
                <a:uFill>
                  <a:solidFill>
                    <a:srgbClr val="000000"/>
                  </a:solidFill>
                </a:uFill>
                <a:latin typeface="Noto Naskh Arabic" pitchFamily="34" charset="0"/>
                <a:ea typeface="Noto Naskh Arabic" pitchFamily="34" charset="-122"/>
                <a:cs typeface="Noto Naskh Arabic" pitchFamily="34" charset="-120"/>
              </a:rPr>
              <a:t>سري لأغراض التمرين</a:t>
            </a:r>
            <a:endParaRPr lang="ar-JO" sz="2200" dirty="0"/>
          </a:p>
        </p:txBody>
      </p:sp>
      <p:sp>
        <p:nvSpPr>
          <p:cNvPr id="4" name="Text 2"/>
          <p:cNvSpPr/>
          <p:nvPr/>
        </p:nvSpPr>
        <p:spPr>
          <a:xfrm>
            <a:off x="1417320" y="996696"/>
            <a:ext cx="11795760" cy="393192"/>
          </a:xfrm>
          <a:prstGeom prst="rect">
            <a:avLst/>
          </a:prstGeom>
          <a:noFill/>
          <a:ln/>
        </p:spPr>
        <p:txBody>
          <a:bodyPr wrap="square" lIns="0" tIns="0" rIns="0" bIns="0" rtlCol="0" anchor="ctr"/>
          <a:lstStyle/>
          <a:p>
            <a:pPr rtl="1" algn="ctr" indent="0" marL="0">
              <a:buNone/>
            </a:pPr>
            <a:r>
              <a:rPr lang="ar-JO" altLang="en-US" sz="2200" b="1" u="sng" dirty="0">
                <a:solidFill>
                  <a:srgbClr val="000000"/>
                </a:solidFill>
                <a:uFill>
                  <a:solidFill>
                    <a:srgbClr val="000000"/>
                  </a:solidFill>
                </a:uFill>
                <a:latin typeface="Noto Naskh Arabic" pitchFamily="34" charset="0"/>
                <a:ea typeface="Noto Naskh Arabic" pitchFamily="34" charset="-122"/>
                <a:cs typeface="Noto Naskh Arabic" pitchFamily="34" charset="-120"/>
              </a:rPr>
              <a:t>السياسة الوطنية</a:t>
            </a:r>
            <a:endParaRPr lang="ar-JO" sz="2200" dirty="0"/>
          </a:p>
        </p:txBody>
      </p:sp>
      <p:sp>
        <p:nvSpPr>
          <p:cNvPr id="5" name="Text 3"/>
          <p:cNvSpPr/>
          <p:nvPr/>
        </p:nvSpPr>
        <p:spPr>
          <a:xfrm>
            <a:off x="1417320" y="1389888"/>
            <a:ext cx="11795760" cy="393192"/>
          </a:xfrm>
          <a:prstGeom prst="rect">
            <a:avLst/>
          </a:prstGeom>
          <a:noFill/>
          <a:ln/>
        </p:spPr>
        <p:txBody>
          <a:bodyPr wrap="square" lIns="0" tIns="0" rIns="0" bIns="0" rtlCol="0" anchor="ctr"/>
          <a:lstStyle/>
          <a:p>
            <a:pPr rtl="1" algn="ctr" indent="0" marL="0">
              <a:buNone/>
            </a:pPr>
            <a:r>
              <a:rPr lang="ar-JO" altLang="en-US" sz="2200" b="1" u="sng" dirty="0">
                <a:solidFill>
                  <a:srgbClr val="000000"/>
                </a:solidFill>
                <a:uFill>
                  <a:solidFill>
                    <a:srgbClr val="000000"/>
                  </a:solidFill>
                </a:uFill>
                <a:latin typeface="Noto Naskh Arabic" pitchFamily="34" charset="0"/>
                <a:ea typeface="Noto Naskh Arabic" pitchFamily="34" charset="-122"/>
                <a:cs typeface="Noto Naskh Arabic" pitchFamily="34" charset="-120"/>
              </a:rPr>
              <a:t>الحكومة (ج)</a:t>
            </a:r>
            <a:endParaRPr lang="ar-JO" sz="2200" dirty="0"/>
          </a:p>
        </p:txBody>
      </p:sp>
      <p:sp>
        <p:nvSpPr>
          <p:cNvPr id="6" name="Shape 4"/>
          <p:cNvSpPr/>
          <p:nvPr/>
        </p:nvSpPr>
        <p:spPr>
          <a:xfrm>
            <a:off x="1417320" y="2048256"/>
            <a:ext cx="5669280" cy="310896"/>
          </a:xfrm>
          <a:prstGeom prst="rect">
            <a:avLst/>
          </a:prstGeom>
          <a:solidFill>
            <a:srgbClr val="000000"/>
          </a:solidFill>
          <a:ln w="8255">
            <a:solidFill>
              <a:srgbClr val="000000"/>
            </a:solidFill>
            <a:prstDash val="solid"/>
          </a:ln>
        </p:spPr>
      </p:sp>
      <p:sp>
        <p:nvSpPr>
          <p:cNvPr id="7" name="Text 5"/>
          <p:cNvSpPr/>
          <p:nvPr/>
        </p:nvSpPr>
        <p:spPr>
          <a:xfrm>
            <a:off x="1517904" y="2061972"/>
            <a:ext cx="5468112" cy="283464"/>
          </a:xfrm>
          <a:prstGeom prst="rect">
            <a:avLst/>
          </a:prstGeom>
          <a:noFill/>
          <a:ln/>
        </p:spPr>
        <p:txBody>
          <a:bodyPr wrap="square" lIns="0" tIns="0" rIns="0" bIns="0" rtlCol="0" anchor="ctr"/>
          <a:lstStyle/>
          <a:p>
            <a:pPr rtl="1" algn="r" indent="0" marL="0">
              <a:lnSpc>
                <a:spcPct val="100000"/>
              </a:lnSpc>
              <a:buNone/>
            </a:pPr>
            <a:r>
              <a:rPr lang="ar-JO" altLang="en-US" sz="1500" b="1" dirty="0">
                <a:solidFill>
                  <a:srgbClr val="FFFFFF"/>
                </a:solidFill>
                <a:latin typeface="Noto Naskh Arabic" pitchFamily="34" charset="0"/>
                <a:ea typeface="Noto Naskh Arabic" pitchFamily="34" charset="-122"/>
                <a:cs typeface="Noto Naskh Arabic" pitchFamily="34" charset="-120"/>
              </a:rPr>
              <a:t>الاسم – الفرضية الأولى</a:t>
            </a:r>
            <a:endParaRPr lang="ar-JO" sz="1500" dirty="0"/>
          </a:p>
        </p:txBody>
      </p:sp>
      <p:sp>
        <p:nvSpPr>
          <p:cNvPr id="8" name="Shape 6"/>
          <p:cNvSpPr/>
          <p:nvPr/>
        </p:nvSpPr>
        <p:spPr>
          <a:xfrm>
            <a:off x="7086600" y="2048256"/>
            <a:ext cx="5303520" cy="310896"/>
          </a:xfrm>
          <a:prstGeom prst="rect">
            <a:avLst/>
          </a:prstGeom>
          <a:solidFill>
            <a:srgbClr val="000000"/>
          </a:solidFill>
          <a:ln w="8255">
            <a:solidFill>
              <a:srgbClr val="000000"/>
            </a:solidFill>
            <a:prstDash val="solid"/>
          </a:ln>
        </p:spPr>
      </p:sp>
      <p:sp>
        <p:nvSpPr>
          <p:cNvPr id="9" name="Text 7"/>
          <p:cNvSpPr/>
          <p:nvPr/>
        </p:nvSpPr>
        <p:spPr>
          <a:xfrm>
            <a:off x="7187184" y="2061972"/>
            <a:ext cx="5102352" cy="283464"/>
          </a:xfrm>
          <a:prstGeom prst="rect">
            <a:avLst/>
          </a:prstGeom>
          <a:noFill/>
          <a:ln/>
        </p:spPr>
        <p:txBody>
          <a:bodyPr wrap="square" lIns="0" tIns="0" rIns="0" bIns="0" rtlCol="0" anchor="ctr"/>
          <a:lstStyle/>
          <a:p>
            <a:pPr rtl="1" algn="r" indent="0" marL="0">
              <a:lnSpc>
                <a:spcPct val="100000"/>
              </a:lnSpc>
              <a:buNone/>
            </a:pPr>
            <a:r>
              <a:rPr lang="ar-JO" altLang="en-US" sz="1500" b="1" dirty="0">
                <a:solidFill>
                  <a:srgbClr val="FFFFFF"/>
                </a:solidFill>
                <a:latin typeface="Noto Naskh Arabic" pitchFamily="34" charset="0"/>
                <a:ea typeface="Noto Naskh Arabic" pitchFamily="34" charset="-122"/>
                <a:cs typeface="Noto Naskh Arabic" pitchFamily="34" charset="-120"/>
              </a:rPr>
              <a:t>المسمى الوظيفي</a:t>
            </a:r>
            <a:endParaRPr lang="ar-JO" sz="1500" dirty="0"/>
          </a:p>
        </p:txBody>
      </p:sp>
      <p:sp>
        <p:nvSpPr>
          <p:cNvPr id="10" name="Shape 8"/>
          <p:cNvSpPr/>
          <p:nvPr/>
        </p:nvSpPr>
        <p:spPr>
          <a:xfrm>
            <a:off x="12390120" y="2048256"/>
            <a:ext cx="822960" cy="310896"/>
          </a:xfrm>
          <a:prstGeom prst="rect">
            <a:avLst/>
          </a:prstGeom>
          <a:solidFill>
            <a:srgbClr val="000000"/>
          </a:solidFill>
          <a:ln w="8255">
            <a:solidFill>
              <a:srgbClr val="000000"/>
            </a:solidFill>
            <a:prstDash val="solid"/>
          </a:ln>
        </p:spPr>
      </p:sp>
      <p:sp>
        <p:nvSpPr>
          <p:cNvPr id="11" name="Text 9"/>
          <p:cNvSpPr/>
          <p:nvPr/>
        </p:nvSpPr>
        <p:spPr>
          <a:xfrm>
            <a:off x="12490704" y="2061972"/>
            <a:ext cx="621792" cy="283464"/>
          </a:xfrm>
          <a:prstGeom prst="rect">
            <a:avLst/>
          </a:prstGeom>
          <a:noFill/>
          <a:ln/>
        </p:spPr>
        <p:txBody>
          <a:bodyPr wrap="square" lIns="0" tIns="0" rIns="0" bIns="0" rtlCol="0" anchor="ctr"/>
          <a:lstStyle/>
          <a:p>
            <a:pPr rtl="1" algn="r" indent="0" marL="0">
              <a:lnSpc>
                <a:spcPct val="100000"/>
              </a:lnSpc>
              <a:buNone/>
            </a:pPr>
            <a:endParaRPr lang="ar-JO" sz="1500" dirty="0"/>
          </a:p>
        </p:txBody>
      </p:sp>
      <p:sp>
        <p:nvSpPr>
          <p:cNvPr id="12" name="Shape 10"/>
          <p:cNvSpPr/>
          <p:nvPr/>
        </p:nvSpPr>
        <p:spPr>
          <a:xfrm>
            <a:off x="1417320" y="2359152"/>
            <a:ext cx="5669280" cy="255118"/>
          </a:xfrm>
          <a:prstGeom prst="rect">
            <a:avLst/>
          </a:prstGeom>
          <a:solidFill>
            <a:srgbClr val="FFFFFF"/>
          </a:solidFill>
          <a:ln w="8255">
            <a:solidFill>
              <a:srgbClr val="000000"/>
            </a:solidFill>
            <a:prstDash val="solid"/>
          </a:ln>
        </p:spPr>
      </p:sp>
      <p:sp>
        <p:nvSpPr>
          <p:cNvPr id="13" name="Text 11"/>
          <p:cNvSpPr/>
          <p:nvPr/>
        </p:nvSpPr>
        <p:spPr>
          <a:xfrm>
            <a:off x="1517904" y="2372868"/>
            <a:ext cx="546811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صالح عاشق صباح كريشان</a:t>
            </a:r>
            <a:endParaRPr lang="ar-JO" sz="1400" dirty="0"/>
          </a:p>
        </p:txBody>
      </p:sp>
      <p:sp>
        <p:nvSpPr>
          <p:cNvPr id="14" name="Shape 12"/>
          <p:cNvSpPr/>
          <p:nvPr/>
        </p:nvSpPr>
        <p:spPr>
          <a:xfrm>
            <a:off x="7086600" y="2359152"/>
            <a:ext cx="5303520" cy="255118"/>
          </a:xfrm>
          <a:prstGeom prst="rect">
            <a:avLst/>
          </a:prstGeom>
          <a:solidFill>
            <a:srgbClr val="FFFFFF"/>
          </a:solidFill>
          <a:ln w="8255">
            <a:solidFill>
              <a:srgbClr val="000000"/>
            </a:solidFill>
            <a:prstDash val="solid"/>
          </a:ln>
        </p:spPr>
      </p:sp>
      <p:sp>
        <p:nvSpPr>
          <p:cNvPr id="15" name="Text 13"/>
          <p:cNvSpPr/>
          <p:nvPr/>
        </p:nvSpPr>
        <p:spPr>
          <a:xfrm>
            <a:off x="7187184" y="2372868"/>
            <a:ext cx="510235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رئيس الوزراء / وزير الدفاع</a:t>
            </a:r>
            <a:endParaRPr lang="ar-JO" sz="1400" dirty="0"/>
          </a:p>
        </p:txBody>
      </p:sp>
      <p:sp>
        <p:nvSpPr>
          <p:cNvPr id="16" name="Shape 14"/>
          <p:cNvSpPr/>
          <p:nvPr/>
        </p:nvSpPr>
        <p:spPr>
          <a:xfrm>
            <a:off x="12390120" y="2359152"/>
            <a:ext cx="822960" cy="255118"/>
          </a:xfrm>
          <a:prstGeom prst="rect">
            <a:avLst/>
          </a:prstGeom>
          <a:solidFill>
            <a:srgbClr val="FFFFFF"/>
          </a:solidFill>
          <a:ln w="8255">
            <a:solidFill>
              <a:srgbClr val="000000"/>
            </a:solidFill>
            <a:prstDash val="solid"/>
          </a:ln>
        </p:spPr>
      </p:sp>
      <p:sp>
        <p:nvSpPr>
          <p:cNvPr id="17" name="Text 15"/>
          <p:cNvSpPr/>
          <p:nvPr/>
        </p:nvSpPr>
        <p:spPr>
          <a:xfrm>
            <a:off x="12490704" y="2372868"/>
            <a:ext cx="621792" cy="227686"/>
          </a:xfrm>
          <a:prstGeom prst="rect">
            <a:avLst/>
          </a:prstGeom>
          <a:noFill/>
          <a:ln/>
        </p:spPr>
        <p:txBody>
          <a:bodyPr wrap="square" lIns="0" tIns="0" rIns="0" bIns="0" rtlCol="0" anchor="ctr"/>
          <a:lstStyle/>
          <a:p>
            <a:pPr rtl="1" algn="r" indent="0" marL="0">
              <a:lnSpc>
                <a:spcPct val="100000"/>
              </a:lnSpc>
              <a:buNone/>
            </a:pPr>
            <a:endParaRPr lang="ar-JO" sz="1400" dirty="0"/>
          </a:p>
        </p:txBody>
      </p:sp>
      <p:sp>
        <p:nvSpPr>
          <p:cNvPr id="18" name="Shape 16"/>
          <p:cNvSpPr/>
          <p:nvPr/>
        </p:nvSpPr>
        <p:spPr>
          <a:xfrm>
            <a:off x="1417320" y="2614270"/>
            <a:ext cx="5669280" cy="255118"/>
          </a:xfrm>
          <a:prstGeom prst="rect">
            <a:avLst/>
          </a:prstGeom>
          <a:solidFill>
            <a:srgbClr val="FFFFFF"/>
          </a:solidFill>
          <a:ln w="8255">
            <a:solidFill>
              <a:srgbClr val="000000"/>
            </a:solidFill>
            <a:prstDash val="solid"/>
          </a:ln>
        </p:spPr>
      </p:sp>
      <p:sp>
        <p:nvSpPr>
          <p:cNvPr id="19" name="Text 17"/>
          <p:cNvSpPr/>
          <p:nvPr/>
        </p:nvSpPr>
        <p:spPr>
          <a:xfrm>
            <a:off x="1517904" y="2627986"/>
            <a:ext cx="546811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صقر بن علي العريني</a:t>
            </a:r>
            <a:endParaRPr lang="ar-JO" sz="1400" dirty="0"/>
          </a:p>
        </p:txBody>
      </p:sp>
      <p:sp>
        <p:nvSpPr>
          <p:cNvPr id="20" name="Shape 18"/>
          <p:cNvSpPr/>
          <p:nvPr/>
        </p:nvSpPr>
        <p:spPr>
          <a:xfrm>
            <a:off x="7086600" y="2614270"/>
            <a:ext cx="5303520" cy="255118"/>
          </a:xfrm>
          <a:prstGeom prst="rect">
            <a:avLst/>
          </a:prstGeom>
          <a:solidFill>
            <a:srgbClr val="FFFFFF"/>
          </a:solidFill>
          <a:ln w="8255">
            <a:solidFill>
              <a:srgbClr val="000000"/>
            </a:solidFill>
            <a:prstDash val="solid"/>
          </a:ln>
        </p:spPr>
      </p:sp>
      <p:sp>
        <p:nvSpPr>
          <p:cNvPr id="21" name="Text 19"/>
          <p:cNvSpPr/>
          <p:nvPr/>
        </p:nvSpPr>
        <p:spPr>
          <a:xfrm>
            <a:off x="7187184" y="2627986"/>
            <a:ext cx="510235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وزير الخارجية وشؤون المغتربين</a:t>
            </a:r>
            <a:endParaRPr lang="ar-JO" sz="1400" dirty="0"/>
          </a:p>
        </p:txBody>
      </p:sp>
      <p:sp>
        <p:nvSpPr>
          <p:cNvPr id="22" name="Shape 20"/>
          <p:cNvSpPr/>
          <p:nvPr/>
        </p:nvSpPr>
        <p:spPr>
          <a:xfrm>
            <a:off x="12390120" y="2614270"/>
            <a:ext cx="822960" cy="255118"/>
          </a:xfrm>
          <a:prstGeom prst="rect">
            <a:avLst/>
          </a:prstGeom>
          <a:solidFill>
            <a:srgbClr val="FFFFFF"/>
          </a:solidFill>
          <a:ln w="8255">
            <a:solidFill>
              <a:srgbClr val="000000"/>
            </a:solidFill>
            <a:prstDash val="solid"/>
          </a:ln>
        </p:spPr>
      </p:sp>
      <p:sp>
        <p:nvSpPr>
          <p:cNvPr id="23" name="Text 21"/>
          <p:cNvSpPr/>
          <p:nvPr/>
        </p:nvSpPr>
        <p:spPr>
          <a:xfrm>
            <a:off x="12490704" y="2627986"/>
            <a:ext cx="621792" cy="227686"/>
          </a:xfrm>
          <a:prstGeom prst="rect">
            <a:avLst/>
          </a:prstGeom>
          <a:noFill/>
          <a:ln/>
        </p:spPr>
        <p:txBody>
          <a:bodyPr wrap="square" lIns="0" tIns="0" rIns="0" bIns="0" rtlCol="0" anchor="ctr"/>
          <a:lstStyle/>
          <a:p>
            <a:pPr rtl="1" algn="r" indent="0" marL="0">
              <a:lnSpc>
                <a:spcPct val="100000"/>
              </a:lnSpc>
              <a:buNone/>
            </a:pPr>
            <a:endParaRPr lang="ar-JO" sz="1400" dirty="0"/>
          </a:p>
        </p:txBody>
      </p:sp>
      <p:sp>
        <p:nvSpPr>
          <p:cNvPr id="24" name="Shape 22"/>
          <p:cNvSpPr/>
          <p:nvPr/>
        </p:nvSpPr>
        <p:spPr>
          <a:xfrm>
            <a:off x="1417320" y="2869387"/>
            <a:ext cx="5669280" cy="255118"/>
          </a:xfrm>
          <a:prstGeom prst="rect">
            <a:avLst/>
          </a:prstGeom>
          <a:solidFill>
            <a:srgbClr val="FFFFFF"/>
          </a:solidFill>
          <a:ln w="8255">
            <a:solidFill>
              <a:srgbClr val="000000"/>
            </a:solidFill>
            <a:prstDash val="solid"/>
          </a:ln>
        </p:spPr>
      </p:sp>
      <p:sp>
        <p:nvSpPr>
          <p:cNvPr id="25" name="Text 23"/>
          <p:cNvSpPr/>
          <p:nvPr/>
        </p:nvSpPr>
        <p:spPr>
          <a:xfrm>
            <a:off x="1517904" y="2883103"/>
            <a:ext cx="546811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عبدالله صالح أبو الزينات</a:t>
            </a:r>
            <a:endParaRPr lang="ar-JO" sz="1400" dirty="0"/>
          </a:p>
        </p:txBody>
      </p:sp>
      <p:sp>
        <p:nvSpPr>
          <p:cNvPr id="26" name="Shape 24"/>
          <p:cNvSpPr/>
          <p:nvPr/>
        </p:nvSpPr>
        <p:spPr>
          <a:xfrm>
            <a:off x="7086600" y="2869387"/>
            <a:ext cx="5303520" cy="255118"/>
          </a:xfrm>
          <a:prstGeom prst="rect">
            <a:avLst/>
          </a:prstGeom>
          <a:solidFill>
            <a:srgbClr val="FFFFFF"/>
          </a:solidFill>
          <a:ln w="8255">
            <a:solidFill>
              <a:srgbClr val="000000"/>
            </a:solidFill>
            <a:prstDash val="solid"/>
          </a:ln>
        </p:spPr>
      </p:sp>
      <p:sp>
        <p:nvSpPr>
          <p:cNvPr id="27" name="Text 25"/>
          <p:cNvSpPr/>
          <p:nvPr/>
        </p:nvSpPr>
        <p:spPr>
          <a:xfrm>
            <a:off x="7187184" y="2883103"/>
            <a:ext cx="510235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نائب الرئيس للشؤون الاقتصادية</a:t>
            </a:r>
            <a:endParaRPr lang="ar-JO" sz="1400" dirty="0"/>
          </a:p>
        </p:txBody>
      </p:sp>
      <p:sp>
        <p:nvSpPr>
          <p:cNvPr id="28" name="Shape 26"/>
          <p:cNvSpPr/>
          <p:nvPr/>
        </p:nvSpPr>
        <p:spPr>
          <a:xfrm>
            <a:off x="12390120" y="2869387"/>
            <a:ext cx="822960" cy="255118"/>
          </a:xfrm>
          <a:prstGeom prst="rect">
            <a:avLst/>
          </a:prstGeom>
          <a:solidFill>
            <a:srgbClr val="FFFFFF"/>
          </a:solidFill>
          <a:ln w="8255">
            <a:solidFill>
              <a:srgbClr val="000000"/>
            </a:solidFill>
            <a:prstDash val="solid"/>
          </a:ln>
        </p:spPr>
      </p:sp>
      <p:sp>
        <p:nvSpPr>
          <p:cNvPr id="29" name="Text 27"/>
          <p:cNvSpPr/>
          <p:nvPr/>
        </p:nvSpPr>
        <p:spPr>
          <a:xfrm>
            <a:off x="12490704" y="2883103"/>
            <a:ext cx="621792" cy="227686"/>
          </a:xfrm>
          <a:prstGeom prst="rect">
            <a:avLst/>
          </a:prstGeom>
          <a:noFill/>
          <a:ln/>
        </p:spPr>
        <p:txBody>
          <a:bodyPr wrap="square" lIns="0" tIns="0" rIns="0" bIns="0" rtlCol="0" anchor="ctr"/>
          <a:lstStyle/>
          <a:p>
            <a:pPr rtl="1" algn="r" indent="0" marL="0">
              <a:lnSpc>
                <a:spcPct val="100000"/>
              </a:lnSpc>
              <a:buNone/>
            </a:pPr>
            <a:endParaRPr lang="ar-JO" sz="1400" dirty="0"/>
          </a:p>
        </p:txBody>
      </p:sp>
      <p:sp>
        <p:nvSpPr>
          <p:cNvPr id="30" name="Shape 28"/>
          <p:cNvSpPr/>
          <p:nvPr/>
        </p:nvSpPr>
        <p:spPr>
          <a:xfrm>
            <a:off x="1417320" y="3124505"/>
            <a:ext cx="5669280" cy="255118"/>
          </a:xfrm>
          <a:prstGeom prst="rect">
            <a:avLst/>
          </a:prstGeom>
          <a:solidFill>
            <a:srgbClr val="FFFFFF"/>
          </a:solidFill>
          <a:ln w="8255">
            <a:solidFill>
              <a:srgbClr val="000000"/>
            </a:solidFill>
            <a:prstDash val="solid"/>
          </a:ln>
        </p:spPr>
      </p:sp>
      <p:sp>
        <p:nvSpPr>
          <p:cNvPr id="31" name="Text 29"/>
          <p:cNvSpPr/>
          <p:nvPr/>
        </p:nvSpPr>
        <p:spPr>
          <a:xfrm>
            <a:off x="1517904" y="3138221"/>
            <a:ext cx="546811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علي إسماعيل الشرعة</a:t>
            </a:r>
            <a:endParaRPr lang="ar-JO" sz="1400" dirty="0"/>
          </a:p>
        </p:txBody>
      </p:sp>
      <p:sp>
        <p:nvSpPr>
          <p:cNvPr id="32" name="Shape 30"/>
          <p:cNvSpPr/>
          <p:nvPr/>
        </p:nvSpPr>
        <p:spPr>
          <a:xfrm>
            <a:off x="7086600" y="3124505"/>
            <a:ext cx="5303520" cy="255118"/>
          </a:xfrm>
          <a:prstGeom prst="rect">
            <a:avLst/>
          </a:prstGeom>
          <a:solidFill>
            <a:srgbClr val="FFFFFF"/>
          </a:solidFill>
          <a:ln w="8255">
            <a:solidFill>
              <a:srgbClr val="000000"/>
            </a:solidFill>
            <a:prstDash val="solid"/>
          </a:ln>
        </p:spPr>
      </p:sp>
      <p:sp>
        <p:nvSpPr>
          <p:cNvPr id="33" name="Text 31"/>
          <p:cNvSpPr/>
          <p:nvPr/>
        </p:nvSpPr>
        <p:spPr>
          <a:xfrm>
            <a:off x="7187184" y="3138221"/>
            <a:ext cx="510235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وزير الداخلية</a:t>
            </a:r>
            <a:endParaRPr lang="ar-JO" sz="1400" dirty="0"/>
          </a:p>
        </p:txBody>
      </p:sp>
      <p:sp>
        <p:nvSpPr>
          <p:cNvPr id="34" name="Shape 32"/>
          <p:cNvSpPr/>
          <p:nvPr/>
        </p:nvSpPr>
        <p:spPr>
          <a:xfrm>
            <a:off x="12390120" y="3124505"/>
            <a:ext cx="822960" cy="255118"/>
          </a:xfrm>
          <a:prstGeom prst="rect">
            <a:avLst/>
          </a:prstGeom>
          <a:solidFill>
            <a:srgbClr val="FFFFFF"/>
          </a:solidFill>
          <a:ln w="8255">
            <a:solidFill>
              <a:srgbClr val="000000"/>
            </a:solidFill>
            <a:prstDash val="solid"/>
          </a:ln>
        </p:spPr>
      </p:sp>
      <p:sp>
        <p:nvSpPr>
          <p:cNvPr id="35" name="Text 33"/>
          <p:cNvSpPr/>
          <p:nvPr/>
        </p:nvSpPr>
        <p:spPr>
          <a:xfrm>
            <a:off x="12490704" y="3138221"/>
            <a:ext cx="621792" cy="227686"/>
          </a:xfrm>
          <a:prstGeom prst="rect">
            <a:avLst/>
          </a:prstGeom>
          <a:noFill/>
          <a:ln/>
        </p:spPr>
        <p:txBody>
          <a:bodyPr wrap="square" lIns="0" tIns="0" rIns="0" bIns="0" rtlCol="0" anchor="ctr"/>
          <a:lstStyle/>
          <a:p>
            <a:pPr rtl="1" algn="r" indent="0" marL="0">
              <a:lnSpc>
                <a:spcPct val="100000"/>
              </a:lnSpc>
              <a:buNone/>
            </a:pPr>
            <a:endParaRPr lang="ar-JO" sz="1400" dirty="0"/>
          </a:p>
        </p:txBody>
      </p:sp>
      <p:sp>
        <p:nvSpPr>
          <p:cNvPr id="36" name="Shape 34"/>
          <p:cNvSpPr/>
          <p:nvPr/>
        </p:nvSpPr>
        <p:spPr>
          <a:xfrm>
            <a:off x="1417320" y="3379622"/>
            <a:ext cx="5669280" cy="255118"/>
          </a:xfrm>
          <a:prstGeom prst="rect">
            <a:avLst/>
          </a:prstGeom>
          <a:solidFill>
            <a:srgbClr val="FFFFFF"/>
          </a:solidFill>
          <a:ln w="8255">
            <a:solidFill>
              <a:srgbClr val="000000"/>
            </a:solidFill>
            <a:prstDash val="solid"/>
          </a:ln>
        </p:spPr>
      </p:sp>
      <p:sp>
        <p:nvSpPr>
          <p:cNvPr id="37" name="Text 35"/>
          <p:cNvSpPr/>
          <p:nvPr/>
        </p:nvSpPr>
        <p:spPr>
          <a:xfrm>
            <a:off x="1517904" y="3393338"/>
            <a:ext cx="546811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علي محمود الدهامشة</a:t>
            </a:r>
            <a:endParaRPr lang="ar-JO" sz="1400" dirty="0"/>
          </a:p>
        </p:txBody>
      </p:sp>
      <p:sp>
        <p:nvSpPr>
          <p:cNvPr id="38" name="Shape 36"/>
          <p:cNvSpPr/>
          <p:nvPr/>
        </p:nvSpPr>
        <p:spPr>
          <a:xfrm>
            <a:off x="7086600" y="3379622"/>
            <a:ext cx="5303520" cy="255118"/>
          </a:xfrm>
          <a:prstGeom prst="rect">
            <a:avLst/>
          </a:prstGeom>
          <a:solidFill>
            <a:srgbClr val="FFFFFF"/>
          </a:solidFill>
          <a:ln w="8255">
            <a:solidFill>
              <a:srgbClr val="000000"/>
            </a:solidFill>
            <a:prstDash val="solid"/>
          </a:ln>
        </p:spPr>
      </p:sp>
      <p:sp>
        <p:nvSpPr>
          <p:cNvPr id="39" name="Text 37"/>
          <p:cNvSpPr/>
          <p:nvPr/>
        </p:nvSpPr>
        <p:spPr>
          <a:xfrm>
            <a:off x="7187184" y="3393338"/>
            <a:ext cx="510235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وزير الشؤون السياسية والبرلمانية</a:t>
            </a:r>
            <a:endParaRPr lang="ar-JO" sz="1400" dirty="0"/>
          </a:p>
        </p:txBody>
      </p:sp>
      <p:sp>
        <p:nvSpPr>
          <p:cNvPr id="40" name="Shape 38"/>
          <p:cNvSpPr/>
          <p:nvPr/>
        </p:nvSpPr>
        <p:spPr>
          <a:xfrm>
            <a:off x="12390120" y="3379622"/>
            <a:ext cx="822960" cy="255118"/>
          </a:xfrm>
          <a:prstGeom prst="rect">
            <a:avLst/>
          </a:prstGeom>
          <a:solidFill>
            <a:srgbClr val="FFFFFF"/>
          </a:solidFill>
          <a:ln w="8255">
            <a:solidFill>
              <a:srgbClr val="000000"/>
            </a:solidFill>
            <a:prstDash val="solid"/>
          </a:ln>
        </p:spPr>
      </p:sp>
      <p:sp>
        <p:nvSpPr>
          <p:cNvPr id="41" name="Text 39"/>
          <p:cNvSpPr/>
          <p:nvPr/>
        </p:nvSpPr>
        <p:spPr>
          <a:xfrm>
            <a:off x="12490704" y="3393338"/>
            <a:ext cx="621792" cy="227686"/>
          </a:xfrm>
          <a:prstGeom prst="rect">
            <a:avLst/>
          </a:prstGeom>
          <a:noFill/>
          <a:ln/>
        </p:spPr>
        <p:txBody>
          <a:bodyPr wrap="square" lIns="0" tIns="0" rIns="0" bIns="0" rtlCol="0" anchor="ctr"/>
          <a:lstStyle/>
          <a:p>
            <a:pPr rtl="1" algn="r" indent="0" marL="0">
              <a:lnSpc>
                <a:spcPct val="100000"/>
              </a:lnSpc>
              <a:buNone/>
            </a:pPr>
            <a:endParaRPr lang="ar-JO" sz="1400" dirty="0"/>
          </a:p>
        </p:txBody>
      </p:sp>
      <p:sp>
        <p:nvSpPr>
          <p:cNvPr id="42" name="Shape 40"/>
          <p:cNvSpPr/>
          <p:nvPr/>
        </p:nvSpPr>
        <p:spPr>
          <a:xfrm>
            <a:off x="1417320" y="3634740"/>
            <a:ext cx="5669280" cy="255118"/>
          </a:xfrm>
          <a:prstGeom prst="rect">
            <a:avLst/>
          </a:prstGeom>
          <a:solidFill>
            <a:srgbClr val="FFFFFF"/>
          </a:solidFill>
          <a:ln w="8255">
            <a:solidFill>
              <a:srgbClr val="000000"/>
            </a:solidFill>
            <a:prstDash val="solid"/>
          </a:ln>
        </p:spPr>
      </p:sp>
      <p:sp>
        <p:nvSpPr>
          <p:cNvPr id="43" name="Text 41"/>
          <p:cNvSpPr/>
          <p:nvPr/>
        </p:nvSpPr>
        <p:spPr>
          <a:xfrm>
            <a:off x="1517904" y="3648456"/>
            <a:ext cx="546811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أحمد علي الرعود</a:t>
            </a:r>
            <a:endParaRPr lang="ar-JO" sz="1400" dirty="0"/>
          </a:p>
        </p:txBody>
      </p:sp>
      <p:sp>
        <p:nvSpPr>
          <p:cNvPr id="44" name="Shape 42"/>
          <p:cNvSpPr/>
          <p:nvPr/>
        </p:nvSpPr>
        <p:spPr>
          <a:xfrm>
            <a:off x="7086600" y="3634740"/>
            <a:ext cx="5303520" cy="255118"/>
          </a:xfrm>
          <a:prstGeom prst="rect">
            <a:avLst/>
          </a:prstGeom>
          <a:solidFill>
            <a:srgbClr val="FFFFFF"/>
          </a:solidFill>
          <a:ln w="8255">
            <a:solidFill>
              <a:srgbClr val="000000"/>
            </a:solidFill>
            <a:prstDash val="solid"/>
          </a:ln>
        </p:spPr>
      </p:sp>
      <p:sp>
        <p:nvSpPr>
          <p:cNvPr id="45" name="Text 43"/>
          <p:cNvSpPr/>
          <p:nvPr/>
        </p:nvSpPr>
        <p:spPr>
          <a:xfrm>
            <a:off x="7187184" y="3648456"/>
            <a:ext cx="510235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وزير الإدارة المحلية</a:t>
            </a:r>
            <a:endParaRPr lang="ar-JO" sz="1400" dirty="0"/>
          </a:p>
        </p:txBody>
      </p:sp>
      <p:sp>
        <p:nvSpPr>
          <p:cNvPr id="46" name="Shape 44"/>
          <p:cNvSpPr/>
          <p:nvPr/>
        </p:nvSpPr>
        <p:spPr>
          <a:xfrm>
            <a:off x="12390120" y="3634740"/>
            <a:ext cx="822960" cy="255118"/>
          </a:xfrm>
          <a:prstGeom prst="rect">
            <a:avLst/>
          </a:prstGeom>
          <a:solidFill>
            <a:srgbClr val="FFFFFF"/>
          </a:solidFill>
          <a:ln w="8255">
            <a:solidFill>
              <a:srgbClr val="000000"/>
            </a:solidFill>
            <a:prstDash val="solid"/>
          </a:ln>
        </p:spPr>
      </p:sp>
      <p:sp>
        <p:nvSpPr>
          <p:cNvPr id="47" name="Text 45"/>
          <p:cNvSpPr/>
          <p:nvPr/>
        </p:nvSpPr>
        <p:spPr>
          <a:xfrm>
            <a:off x="12490704" y="3648456"/>
            <a:ext cx="621792" cy="227686"/>
          </a:xfrm>
          <a:prstGeom prst="rect">
            <a:avLst/>
          </a:prstGeom>
          <a:noFill/>
          <a:ln/>
        </p:spPr>
        <p:txBody>
          <a:bodyPr wrap="square" lIns="0" tIns="0" rIns="0" bIns="0" rtlCol="0" anchor="ctr"/>
          <a:lstStyle/>
          <a:p>
            <a:pPr rtl="1" algn="r" indent="0" marL="0">
              <a:lnSpc>
                <a:spcPct val="100000"/>
              </a:lnSpc>
              <a:buNone/>
            </a:pPr>
            <a:endParaRPr lang="ar-JO" sz="1400" dirty="0"/>
          </a:p>
        </p:txBody>
      </p:sp>
      <p:sp>
        <p:nvSpPr>
          <p:cNvPr id="48" name="Shape 46"/>
          <p:cNvSpPr/>
          <p:nvPr/>
        </p:nvSpPr>
        <p:spPr>
          <a:xfrm>
            <a:off x="1417320" y="3889858"/>
            <a:ext cx="5669280" cy="255118"/>
          </a:xfrm>
          <a:prstGeom prst="rect">
            <a:avLst/>
          </a:prstGeom>
          <a:solidFill>
            <a:srgbClr val="FFFFFF"/>
          </a:solidFill>
          <a:ln w="8255">
            <a:solidFill>
              <a:srgbClr val="000000"/>
            </a:solidFill>
            <a:prstDash val="solid"/>
          </a:ln>
        </p:spPr>
      </p:sp>
      <p:sp>
        <p:nvSpPr>
          <p:cNvPr id="49" name="Text 47"/>
          <p:cNvSpPr/>
          <p:nvPr/>
        </p:nvSpPr>
        <p:spPr>
          <a:xfrm>
            <a:off x="1517904" y="3903574"/>
            <a:ext cx="546811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عمر محمد الخرابشة</a:t>
            </a:r>
            <a:endParaRPr lang="ar-JO" sz="1400" dirty="0"/>
          </a:p>
        </p:txBody>
      </p:sp>
      <p:sp>
        <p:nvSpPr>
          <p:cNvPr id="50" name="Shape 48"/>
          <p:cNvSpPr/>
          <p:nvPr/>
        </p:nvSpPr>
        <p:spPr>
          <a:xfrm>
            <a:off x="7086600" y="3889858"/>
            <a:ext cx="5303520" cy="255118"/>
          </a:xfrm>
          <a:prstGeom prst="rect">
            <a:avLst/>
          </a:prstGeom>
          <a:solidFill>
            <a:srgbClr val="FFFFFF"/>
          </a:solidFill>
          <a:ln w="8255">
            <a:solidFill>
              <a:srgbClr val="000000"/>
            </a:solidFill>
            <a:prstDash val="solid"/>
          </a:ln>
        </p:spPr>
      </p:sp>
      <p:sp>
        <p:nvSpPr>
          <p:cNvPr id="51" name="Text 49"/>
          <p:cNvSpPr/>
          <p:nvPr/>
        </p:nvSpPr>
        <p:spPr>
          <a:xfrm>
            <a:off x="7187184" y="3903574"/>
            <a:ext cx="510235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وزير الصناعة والتجارة</a:t>
            </a:r>
            <a:endParaRPr lang="ar-JO" sz="1400" dirty="0"/>
          </a:p>
        </p:txBody>
      </p:sp>
      <p:sp>
        <p:nvSpPr>
          <p:cNvPr id="52" name="Shape 50"/>
          <p:cNvSpPr/>
          <p:nvPr/>
        </p:nvSpPr>
        <p:spPr>
          <a:xfrm>
            <a:off x="12390120" y="3889858"/>
            <a:ext cx="822960" cy="255118"/>
          </a:xfrm>
          <a:prstGeom prst="rect">
            <a:avLst/>
          </a:prstGeom>
          <a:solidFill>
            <a:srgbClr val="FFFFFF"/>
          </a:solidFill>
          <a:ln w="8255">
            <a:solidFill>
              <a:srgbClr val="000000"/>
            </a:solidFill>
            <a:prstDash val="solid"/>
          </a:ln>
        </p:spPr>
      </p:sp>
      <p:sp>
        <p:nvSpPr>
          <p:cNvPr id="53" name="Text 51"/>
          <p:cNvSpPr/>
          <p:nvPr/>
        </p:nvSpPr>
        <p:spPr>
          <a:xfrm>
            <a:off x="12490704" y="3903574"/>
            <a:ext cx="621792" cy="227686"/>
          </a:xfrm>
          <a:prstGeom prst="rect">
            <a:avLst/>
          </a:prstGeom>
          <a:noFill/>
          <a:ln/>
        </p:spPr>
        <p:txBody>
          <a:bodyPr wrap="square" lIns="0" tIns="0" rIns="0" bIns="0" rtlCol="0" anchor="ctr"/>
          <a:lstStyle/>
          <a:p>
            <a:pPr rtl="1" algn="r" indent="0" marL="0">
              <a:lnSpc>
                <a:spcPct val="100000"/>
              </a:lnSpc>
              <a:buNone/>
            </a:pPr>
            <a:endParaRPr lang="ar-JO" sz="1400" dirty="0"/>
          </a:p>
        </p:txBody>
      </p:sp>
      <p:sp>
        <p:nvSpPr>
          <p:cNvPr id="54" name="Shape 52"/>
          <p:cNvSpPr/>
          <p:nvPr/>
        </p:nvSpPr>
        <p:spPr>
          <a:xfrm>
            <a:off x="1417320" y="4144975"/>
            <a:ext cx="5669280" cy="255118"/>
          </a:xfrm>
          <a:prstGeom prst="rect">
            <a:avLst/>
          </a:prstGeom>
          <a:solidFill>
            <a:srgbClr val="FFFFFF"/>
          </a:solidFill>
          <a:ln w="8255">
            <a:solidFill>
              <a:srgbClr val="000000"/>
            </a:solidFill>
            <a:prstDash val="solid"/>
          </a:ln>
        </p:spPr>
      </p:sp>
      <p:sp>
        <p:nvSpPr>
          <p:cNvPr id="55" name="Text 53"/>
          <p:cNvSpPr/>
          <p:nvPr/>
        </p:nvSpPr>
        <p:spPr>
          <a:xfrm>
            <a:off x="1517904" y="4158691"/>
            <a:ext cx="546811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عاصم محمد الزغول</a:t>
            </a:r>
            <a:endParaRPr lang="ar-JO" sz="1400" dirty="0"/>
          </a:p>
        </p:txBody>
      </p:sp>
      <p:sp>
        <p:nvSpPr>
          <p:cNvPr id="56" name="Shape 54"/>
          <p:cNvSpPr/>
          <p:nvPr/>
        </p:nvSpPr>
        <p:spPr>
          <a:xfrm>
            <a:off x="7086600" y="4144975"/>
            <a:ext cx="5303520" cy="255118"/>
          </a:xfrm>
          <a:prstGeom prst="rect">
            <a:avLst/>
          </a:prstGeom>
          <a:solidFill>
            <a:srgbClr val="FFFFFF"/>
          </a:solidFill>
          <a:ln w="8255">
            <a:solidFill>
              <a:srgbClr val="000000"/>
            </a:solidFill>
            <a:prstDash val="solid"/>
          </a:ln>
        </p:spPr>
      </p:sp>
      <p:sp>
        <p:nvSpPr>
          <p:cNvPr id="57" name="Text 55"/>
          <p:cNvSpPr/>
          <p:nvPr/>
        </p:nvSpPr>
        <p:spPr>
          <a:xfrm>
            <a:off x="7187184" y="4158691"/>
            <a:ext cx="510235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وزير الطاقة والثروة المعدنية</a:t>
            </a:r>
            <a:endParaRPr lang="ar-JO" sz="1400" dirty="0"/>
          </a:p>
        </p:txBody>
      </p:sp>
      <p:sp>
        <p:nvSpPr>
          <p:cNvPr id="58" name="Shape 56"/>
          <p:cNvSpPr/>
          <p:nvPr/>
        </p:nvSpPr>
        <p:spPr>
          <a:xfrm>
            <a:off x="12390120" y="4144975"/>
            <a:ext cx="822960" cy="255118"/>
          </a:xfrm>
          <a:prstGeom prst="rect">
            <a:avLst/>
          </a:prstGeom>
          <a:solidFill>
            <a:srgbClr val="FFFFFF"/>
          </a:solidFill>
          <a:ln w="8255">
            <a:solidFill>
              <a:srgbClr val="000000"/>
            </a:solidFill>
            <a:prstDash val="solid"/>
          </a:ln>
        </p:spPr>
      </p:sp>
      <p:sp>
        <p:nvSpPr>
          <p:cNvPr id="59" name="Text 57"/>
          <p:cNvSpPr/>
          <p:nvPr/>
        </p:nvSpPr>
        <p:spPr>
          <a:xfrm>
            <a:off x="12490704" y="4158691"/>
            <a:ext cx="621792" cy="227686"/>
          </a:xfrm>
          <a:prstGeom prst="rect">
            <a:avLst/>
          </a:prstGeom>
          <a:noFill/>
          <a:ln/>
        </p:spPr>
        <p:txBody>
          <a:bodyPr wrap="square" lIns="0" tIns="0" rIns="0" bIns="0" rtlCol="0" anchor="ctr"/>
          <a:lstStyle/>
          <a:p>
            <a:pPr rtl="1" algn="r" indent="0" marL="0">
              <a:lnSpc>
                <a:spcPct val="100000"/>
              </a:lnSpc>
              <a:buNone/>
            </a:pPr>
            <a:endParaRPr lang="ar-JO" sz="1400" dirty="0"/>
          </a:p>
        </p:txBody>
      </p:sp>
      <p:sp>
        <p:nvSpPr>
          <p:cNvPr id="60" name="Shape 58"/>
          <p:cNvSpPr/>
          <p:nvPr/>
        </p:nvSpPr>
        <p:spPr>
          <a:xfrm>
            <a:off x="1417320" y="4400093"/>
            <a:ext cx="5669280" cy="255118"/>
          </a:xfrm>
          <a:prstGeom prst="rect">
            <a:avLst/>
          </a:prstGeom>
          <a:solidFill>
            <a:srgbClr val="FFFFFF"/>
          </a:solidFill>
          <a:ln w="8255">
            <a:solidFill>
              <a:srgbClr val="000000"/>
            </a:solidFill>
            <a:prstDash val="solid"/>
          </a:ln>
        </p:spPr>
      </p:sp>
      <p:sp>
        <p:nvSpPr>
          <p:cNvPr id="61" name="Text 59"/>
          <p:cNvSpPr/>
          <p:nvPr/>
        </p:nvSpPr>
        <p:spPr>
          <a:xfrm>
            <a:off x="1517904" y="4413809"/>
            <a:ext cx="546811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خالد وليد الشطي</a:t>
            </a:r>
            <a:endParaRPr lang="ar-JO" sz="1400" dirty="0"/>
          </a:p>
        </p:txBody>
      </p:sp>
      <p:sp>
        <p:nvSpPr>
          <p:cNvPr id="62" name="Shape 60"/>
          <p:cNvSpPr/>
          <p:nvPr/>
        </p:nvSpPr>
        <p:spPr>
          <a:xfrm>
            <a:off x="7086600" y="4400093"/>
            <a:ext cx="5303520" cy="255118"/>
          </a:xfrm>
          <a:prstGeom prst="rect">
            <a:avLst/>
          </a:prstGeom>
          <a:solidFill>
            <a:srgbClr val="FFFFFF"/>
          </a:solidFill>
          <a:ln w="8255">
            <a:solidFill>
              <a:srgbClr val="000000"/>
            </a:solidFill>
            <a:prstDash val="solid"/>
          </a:ln>
        </p:spPr>
      </p:sp>
      <p:sp>
        <p:nvSpPr>
          <p:cNvPr id="63" name="Text 61"/>
          <p:cNvSpPr/>
          <p:nvPr/>
        </p:nvSpPr>
        <p:spPr>
          <a:xfrm>
            <a:off x="7187184" y="4413809"/>
            <a:ext cx="510235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وزير التخطيط والتعاون الدولي</a:t>
            </a:r>
            <a:endParaRPr lang="ar-JO" sz="1400" dirty="0"/>
          </a:p>
        </p:txBody>
      </p:sp>
      <p:sp>
        <p:nvSpPr>
          <p:cNvPr id="64" name="Shape 62"/>
          <p:cNvSpPr/>
          <p:nvPr/>
        </p:nvSpPr>
        <p:spPr>
          <a:xfrm>
            <a:off x="12390120" y="4400093"/>
            <a:ext cx="822960" cy="255118"/>
          </a:xfrm>
          <a:prstGeom prst="rect">
            <a:avLst/>
          </a:prstGeom>
          <a:solidFill>
            <a:srgbClr val="FFFFFF"/>
          </a:solidFill>
          <a:ln w="8255">
            <a:solidFill>
              <a:srgbClr val="000000"/>
            </a:solidFill>
            <a:prstDash val="solid"/>
          </a:ln>
        </p:spPr>
      </p:sp>
      <p:sp>
        <p:nvSpPr>
          <p:cNvPr id="65" name="Text 63"/>
          <p:cNvSpPr/>
          <p:nvPr/>
        </p:nvSpPr>
        <p:spPr>
          <a:xfrm>
            <a:off x="12490704" y="4413809"/>
            <a:ext cx="621792" cy="227686"/>
          </a:xfrm>
          <a:prstGeom prst="rect">
            <a:avLst/>
          </a:prstGeom>
          <a:noFill/>
          <a:ln/>
        </p:spPr>
        <p:txBody>
          <a:bodyPr wrap="square" lIns="0" tIns="0" rIns="0" bIns="0" rtlCol="0" anchor="ctr"/>
          <a:lstStyle/>
          <a:p>
            <a:pPr rtl="1" algn="r" indent="0" marL="0">
              <a:lnSpc>
                <a:spcPct val="100000"/>
              </a:lnSpc>
              <a:buNone/>
            </a:pPr>
            <a:endParaRPr lang="ar-JO" sz="1400" dirty="0"/>
          </a:p>
        </p:txBody>
      </p:sp>
      <p:sp>
        <p:nvSpPr>
          <p:cNvPr id="66" name="Shape 64"/>
          <p:cNvSpPr/>
          <p:nvPr/>
        </p:nvSpPr>
        <p:spPr>
          <a:xfrm>
            <a:off x="1417320" y="4655210"/>
            <a:ext cx="5669280" cy="429768"/>
          </a:xfrm>
          <a:prstGeom prst="rect">
            <a:avLst/>
          </a:prstGeom>
          <a:solidFill>
            <a:srgbClr val="FFFFFF"/>
          </a:solidFill>
          <a:ln w="8255">
            <a:solidFill>
              <a:srgbClr val="000000"/>
            </a:solidFill>
            <a:prstDash val="solid"/>
          </a:ln>
        </p:spPr>
      </p:sp>
      <p:sp>
        <p:nvSpPr>
          <p:cNvPr id="67" name="Text 65"/>
          <p:cNvSpPr/>
          <p:nvPr/>
        </p:nvSpPr>
        <p:spPr>
          <a:xfrm>
            <a:off x="1517904" y="4668926"/>
            <a:ext cx="5468112" cy="40233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أحمد محمد عبيدات</a:t>
            </a:r>
            <a:endParaRPr lang="ar-JO" sz="1400" dirty="0"/>
          </a:p>
        </p:txBody>
      </p:sp>
      <p:sp>
        <p:nvSpPr>
          <p:cNvPr id="68" name="Shape 66"/>
          <p:cNvSpPr/>
          <p:nvPr/>
        </p:nvSpPr>
        <p:spPr>
          <a:xfrm>
            <a:off x="7086600" y="4655210"/>
            <a:ext cx="5303520" cy="429768"/>
          </a:xfrm>
          <a:prstGeom prst="rect">
            <a:avLst/>
          </a:prstGeom>
          <a:solidFill>
            <a:srgbClr val="FFFFFF"/>
          </a:solidFill>
          <a:ln w="8255">
            <a:solidFill>
              <a:srgbClr val="000000"/>
            </a:solidFill>
            <a:prstDash val="solid"/>
          </a:ln>
        </p:spPr>
      </p:sp>
      <p:sp>
        <p:nvSpPr>
          <p:cNvPr id="69" name="Text 67"/>
          <p:cNvSpPr/>
          <p:nvPr/>
        </p:nvSpPr>
        <p:spPr>
          <a:xfrm>
            <a:off x="7187184" y="4668926"/>
            <a:ext cx="5102352" cy="40233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وزير التربية والتعليم وتنمية الموارد</a:t>
            </a:r>
            <a:endParaRPr lang="ar-JO" sz="1400" dirty="0"/>
          </a:p>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البشرية</a:t>
            </a:r>
            <a:endParaRPr lang="ar-JO" sz="1400" dirty="0"/>
          </a:p>
        </p:txBody>
      </p:sp>
      <p:sp>
        <p:nvSpPr>
          <p:cNvPr id="70" name="Shape 68"/>
          <p:cNvSpPr/>
          <p:nvPr/>
        </p:nvSpPr>
        <p:spPr>
          <a:xfrm>
            <a:off x="12390120" y="4655210"/>
            <a:ext cx="822960" cy="429768"/>
          </a:xfrm>
          <a:prstGeom prst="rect">
            <a:avLst/>
          </a:prstGeom>
          <a:solidFill>
            <a:srgbClr val="FFFFFF"/>
          </a:solidFill>
          <a:ln w="8255">
            <a:solidFill>
              <a:srgbClr val="000000"/>
            </a:solidFill>
            <a:prstDash val="solid"/>
          </a:ln>
        </p:spPr>
      </p:sp>
      <p:sp>
        <p:nvSpPr>
          <p:cNvPr id="71" name="Text 69"/>
          <p:cNvSpPr/>
          <p:nvPr/>
        </p:nvSpPr>
        <p:spPr>
          <a:xfrm>
            <a:off x="12490704" y="4668926"/>
            <a:ext cx="621792" cy="402336"/>
          </a:xfrm>
          <a:prstGeom prst="rect">
            <a:avLst/>
          </a:prstGeom>
          <a:noFill/>
          <a:ln/>
        </p:spPr>
        <p:txBody>
          <a:bodyPr wrap="square" lIns="0" tIns="0" rIns="0" bIns="0" rtlCol="0" anchor="ctr"/>
          <a:lstStyle/>
          <a:p>
            <a:pPr rtl="1" algn="r" indent="0" marL="0">
              <a:lnSpc>
                <a:spcPct val="100000"/>
              </a:lnSpc>
              <a:buNone/>
            </a:pPr>
            <a:endParaRPr lang="ar-JO" sz="1400" dirty="0"/>
          </a:p>
        </p:txBody>
      </p:sp>
      <p:sp>
        <p:nvSpPr>
          <p:cNvPr id="72" name="Shape 70"/>
          <p:cNvSpPr/>
          <p:nvPr/>
        </p:nvSpPr>
        <p:spPr>
          <a:xfrm>
            <a:off x="1417320" y="5084978"/>
            <a:ext cx="5669280" cy="255118"/>
          </a:xfrm>
          <a:prstGeom prst="rect">
            <a:avLst/>
          </a:prstGeom>
          <a:solidFill>
            <a:srgbClr val="FFFFFF"/>
          </a:solidFill>
          <a:ln w="8255">
            <a:solidFill>
              <a:srgbClr val="000000"/>
            </a:solidFill>
            <a:prstDash val="solid"/>
          </a:ln>
        </p:spPr>
      </p:sp>
      <p:sp>
        <p:nvSpPr>
          <p:cNvPr id="73" name="Text 71"/>
          <p:cNvSpPr/>
          <p:nvPr/>
        </p:nvSpPr>
        <p:spPr>
          <a:xfrm>
            <a:off x="1517904" y="5098694"/>
            <a:ext cx="546811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محمد بن إبراهيم الملحم</a:t>
            </a:r>
            <a:endParaRPr lang="ar-JO" sz="1400" dirty="0"/>
          </a:p>
        </p:txBody>
      </p:sp>
      <p:sp>
        <p:nvSpPr>
          <p:cNvPr id="74" name="Shape 72"/>
          <p:cNvSpPr/>
          <p:nvPr/>
        </p:nvSpPr>
        <p:spPr>
          <a:xfrm>
            <a:off x="7086600" y="5084978"/>
            <a:ext cx="5303520" cy="255118"/>
          </a:xfrm>
          <a:prstGeom prst="rect">
            <a:avLst/>
          </a:prstGeom>
          <a:solidFill>
            <a:srgbClr val="FFFFFF"/>
          </a:solidFill>
          <a:ln w="8255">
            <a:solidFill>
              <a:srgbClr val="000000"/>
            </a:solidFill>
            <a:prstDash val="solid"/>
          </a:ln>
        </p:spPr>
      </p:sp>
      <p:sp>
        <p:nvSpPr>
          <p:cNvPr id="75" name="Text 73"/>
          <p:cNvSpPr/>
          <p:nvPr/>
        </p:nvSpPr>
        <p:spPr>
          <a:xfrm>
            <a:off x="7187184" y="5098694"/>
            <a:ext cx="510235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وزير البيئة</a:t>
            </a:r>
            <a:endParaRPr lang="ar-JO" sz="1400" dirty="0"/>
          </a:p>
        </p:txBody>
      </p:sp>
      <p:sp>
        <p:nvSpPr>
          <p:cNvPr id="76" name="Shape 74"/>
          <p:cNvSpPr/>
          <p:nvPr/>
        </p:nvSpPr>
        <p:spPr>
          <a:xfrm>
            <a:off x="12390120" y="5084978"/>
            <a:ext cx="822960" cy="255118"/>
          </a:xfrm>
          <a:prstGeom prst="rect">
            <a:avLst/>
          </a:prstGeom>
          <a:solidFill>
            <a:srgbClr val="FFFFFF"/>
          </a:solidFill>
          <a:ln w="8255">
            <a:solidFill>
              <a:srgbClr val="000000"/>
            </a:solidFill>
            <a:prstDash val="solid"/>
          </a:ln>
        </p:spPr>
      </p:sp>
      <p:sp>
        <p:nvSpPr>
          <p:cNvPr id="77" name="Text 75"/>
          <p:cNvSpPr/>
          <p:nvPr/>
        </p:nvSpPr>
        <p:spPr>
          <a:xfrm>
            <a:off x="12490704" y="5098694"/>
            <a:ext cx="621792" cy="227686"/>
          </a:xfrm>
          <a:prstGeom prst="rect">
            <a:avLst/>
          </a:prstGeom>
          <a:noFill/>
          <a:ln/>
        </p:spPr>
        <p:txBody>
          <a:bodyPr wrap="square" lIns="0" tIns="0" rIns="0" bIns="0" rtlCol="0" anchor="ctr"/>
          <a:lstStyle/>
          <a:p>
            <a:pPr rtl="1" algn="r" indent="0" marL="0">
              <a:lnSpc>
                <a:spcPct val="100000"/>
              </a:lnSpc>
              <a:buNone/>
            </a:pPr>
            <a:endParaRPr lang="ar-JO" sz="1400" dirty="0"/>
          </a:p>
        </p:txBody>
      </p:sp>
      <p:sp>
        <p:nvSpPr>
          <p:cNvPr id="78" name="Shape 76"/>
          <p:cNvSpPr/>
          <p:nvPr/>
        </p:nvSpPr>
        <p:spPr>
          <a:xfrm>
            <a:off x="1417320" y="5340096"/>
            <a:ext cx="5669280" cy="255118"/>
          </a:xfrm>
          <a:prstGeom prst="rect">
            <a:avLst/>
          </a:prstGeom>
          <a:solidFill>
            <a:srgbClr val="FFFFFF"/>
          </a:solidFill>
          <a:ln w="8255">
            <a:solidFill>
              <a:srgbClr val="000000"/>
            </a:solidFill>
            <a:prstDash val="solid"/>
          </a:ln>
        </p:spPr>
      </p:sp>
      <p:sp>
        <p:nvSpPr>
          <p:cNvPr id="79" name="Text 77"/>
          <p:cNvSpPr/>
          <p:nvPr/>
        </p:nvSpPr>
        <p:spPr>
          <a:xfrm>
            <a:off x="1517904" y="5353812"/>
            <a:ext cx="546811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عبدالله عبدالرحمن الشبانات</a:t>
            </a:r>
            <a:endParaRPr lang="ar-JO" sz="1400" dirty="0"/>
          </a:p>
        </p:txBody>
      </p:sp>
      <p:sp>
        <p:nvSpPr>
          <p:cNvPr id="80" name="Shape 78"/>
          <p:cNvSpPr/>
          <p:nvPr/>
        </p:nvSpPr>
        <p:spPr>
          <a:xfrm>
            <a:off x="7086600" y="5340096"/>
            <a:ext cx="5303520" cy="255118"/>
          </a:xfrm>
          <a:prstGeom prst="rect">
            <a:avLst/>
          </a:prstGeom>
          <a:solidFill>
            <a:srgbClr val="FFFFFF"/>
          </a:solidFill>
          <a:ln w="8255">
            <a:solidFill>
              <a:srgbClr val="000000"/>
            </a:solidFill>
            <a:prstDash val="solid"/>
          </a:ln>
        </p:spPr>
      </p:sp>
      <p:sp>
        <p:nvSpPr>
          <p:cNvPr id="81" name="Text 79"/>
          <p:cNvSpPr/>
          <p:nvPr/>
        </p:nvSpPr>
        <p:spPr>
          <a:xfrm>
            <a:off x="7187184" y="5353812"/>
            <a:ext cx="510235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وزير الاتصال الحكومي</a:t>
            </a:r>
            <a:endParaRPr lang="ar-JO" sz="1400" dirty="0"/>
          </a:p>
        </p:txBody>
      </p:sp>
      <p:sp>
        <p:nvSpPr>
          <p:cNvPr id="82" name="Shape 80"/>
          <p:cNvSpPr/>
          <p:nvPr/>
        </p:nvSpPr>
        <p:spPr>
          <a:xfrm>
            <a:off x="12390120" y="5340096"/>
            <a:ext cx="822960" cy="255118"/>
          </a:xfrm>
          <a:prstGeom prst="rect">
            <a:avLst/>
          </a:prstGeom>
          <a:solidFill>
            <a:srgbClr val="FFFFFF"/>
          </a:solidFill>
          <a:ln w="8255">
            <a:solidFill>
              <a:srgbClr val="000000"/>
            </a:solidFill>
            <a:prstDash val="solid"/>
          </a:ln>
        </p:spPr>
      </p:sp>
      <p:sp>
        <p:nvSpPr>
          <p:cNvPr id="83" name="Text 81"/>
          <p:cNvSpPr/>
          <p:nvPr/>
        </p:nvSpPr>
        <p:spPr>
          <a:xfrm>
            <a:off x="12490704" y="5353812"/>
            <a:ext cx="621792" cy="227686"/>
          </a:xfrm>
          <a:prstGeom prst="rect">
            <a:avLst/>
          </a:prstGeom>
          <a:noFill/>
          <a:ln/>
        </p:spPr>
        <p:txBody>
          <a:bodyPr wrap="square" lIns="0" tIns="0" rIns="0" bIns="0" rtlCol="0" anchor="ctr"/>
          <a:lstStyle/>
          <a:p>
            <a:pPr rtl="1" algn="r" indent="0" marL="0">
              <a:lnSpc>
                <a:spcPct val="100000"/>
              </a:lnSpc>
              <a:buNone/>
            </a:pPr>
            <a:endParaRPr lang="ar-JO" sz="1400" dirty="0"/>
          </a:p>
        </p:txBody>
      </p:sp>
      <p:sp>
        <p:nvSpPr>
          <p:cNvPr id="84" name="Shape 82"/>
          <p:cNvSpPr/>
          <p:nvPr/>
        </p:nvSpPr>
        <p:spPr>
          <a:xfrm>
            <a:off x="1417320" y="5595214"/>
            <a:ext cx="5669280" cy="429768"/>
          </a:xfrm>
          <a:prstGeom prst="rect">
            <a:avLst/>
          </a:prstGeom>
          <a:solidFill>
            <a:srgbClr val="FFFFFF"/>
          </a:solidFill>
          <a:ln w="8255">
            <a:solidFill>
              <a:srgbClr val="000000"/>
            </a:solidFill>
            <a:prstDash val="solid"/>
          </a:ln>
        </p:spPr>
      </p:sp>
      <p:sp>
        <p:nvSpPr>
          <p:cNvPr id="85" name="Text 83"/>
          <p:cNvSpPr/>
          <p:nvPr/>
        </p:nvSpPr>
        <p:spPr>
          <a:xfrm>
            <a:off x="1517904" y="5608930"/>
            <a:ext cx="5468112" cy="40233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أنس هاني عبدالله القرالة</a:t>
            </a:r>
            <a:endParaRPr lang="ar-JO" sz="1400" dirty="0"/>
          </a:p>
        </p:txBody>
      </p:sp>
      <p:sp>
        <p:nvSpPr>
          <p:cNvPr id="86" name="Shape 84"/>
          <p:cNvSpPr/>
          <p:nvPr/>
        </p:nvSpPr>
        <p:spPr>
          <a:xfrm>
            <a:off x="7086600" y="5595214"/>
            <a:ext cx="5303520" cy="429768"/>
          </a:xfrm>
          <a:prstGeom prst="rect">
            <a:avLst/>
          </a:prstGeom>
          <a:solidFill>
            <a:srgbClr val="FFFFFF"/>
          </a:solidFill>
          <a:ln w="8255">
            <a:solidFill>
              <a:srgbClr val="000000"/>
            </a:solidFill>
            <a:prstDash val="solid"/>
          </a:ln>
        </p:spPr>
      </p:sp>
      <p:sp>
        <p:nvSpPr>
          <p:cNvPr id="87" name="Text 85"/>
          <p:cNvSpPr/>
          <p:nvPr/>
        </p:nvSpPr>
        <p:spPr>
          <a:xfrm>
            <a:off x="7187184" y="5608930"/>
            <a:ext cx="5102352" cy="40233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نائب سمو رئيس المركز الوطني للأمن</a:t>
            </a:r>
            <a:endParaRPr lang="ar-JO" sz="1400" dirty="0"/>
          </a:p>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وإدارة الأزمات</a:t>
            </a:r>
            <a:endParaRPr lang="ar-JO" sz="1400" dirty="0"/>
          </a:p>
        </p:txBody>
      </p:sp>
      <p:sp>
        <p:nvSpPr>
          <p:cNvPr id="88" name="Shape 86"/>
          <p:cNvSpPr/>
          <p:nvPr/>
        </p:nvSpPr>
        <p:spPr>
          <a:xfrm>
            <a:off x="12390120" y="5595214"/>
            <a:ext cx="822960" cy="429768"/>
          </a:xfrm>
          <a:prstGeom prst="rect">
            <a:avLst/>
          </a:prstGeom>
          <a:solidFill>
            <a:srgbClr val="FFFFFF"/>
          </a:solidFill>
          <a:ln w="8255">
            <a:solidFill>
              <a:srgbClr val="000000"/>
            </a:solidFill>
            <a:prstDash val="solid"/>
          </a:ln>
        </p:spPr>
      </p:sp>
      <p:sp>
        <p:nvSpPr>
          <p:cNvPr id="89" name="Text 87"/>
          <p:cNvSpPr/>
          <p:nvPr/>
        </p:nvSpPr>
        <p:spPr>
          <a:xfrm>
            <a:off x="12490704" y="5608930"/>
            <a:ext cx="621792" cy="402336"/>
          </a:xfrm>
          <a:prstGeom prst="rect">
            <a:avLst/>
          </a:prstGeom>
          <a:noFill/>
          <a:ln/>
        </p:spPr>
        <p:txBody>
          <a:bodyPr wrap="square" lIns="0" tIns="0" rIns="0" bIns="0" rtlCol="0" anchor="ctr"/>
          <a:lstStyle/>
          <a:p>
            <a:pPr rtl="1" algn="r" indent="0" marL="0">
              <a:lnSpc>
                <a:spcPct val="100000"/>
              </a:lnSpc>
              <a:buNone/>
            </a:pPr>
            <a:endParaRPr lang="ar-JO" sz="1400" dirty="0"/>
          </a:p>
        </p:txBody>
      </p:sp>
      <p:sp>
        <p:nvSpPr>
          <p:cNvPr id="90" name="Shape 88"/>
          <p:cNvSpPr/>
          <p:nvPr/>
        </p:nvSpPr>
        <p:spPr>
          <a:xfrm>
            <a:off x="1417320" y="6024982"/>
            <a:ext cx="5669280" cy="429768"/>
          </a:xfrm>
          <a:prstGeom prst="rect">
            <a:avLst/>
          </a:prstGeom>
          <a:solidFill>
            <a:srgbClr val="FFFFFF"/>
          </a:solidFill>
          <a:ln w="8255">
            <a:solidFill>
              <a:srgbClr val="000000"/>
            </a:solidFill>
            <a:prstDash val="solid"/>
          </a:ln>
        </p:spPr>
      </p:sp>
      <p:sp>
        <p:nvSpPr>
          <p:cNvPr id="91" name="Text 89"/>
          <p:cNvSpPr/>
          <p:nvPr/>
        </p:nvSpPr>
        <p:spPr>
          <a:xfrm>
            <a:off x="1517904" y="6038698"/>
            <a:ext cx="5468112" cy="40233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سعد بن ظافر القرني</a:t>
            </a:r>
            <a:endParaRPr lang="ar-JO" sz="1400" dirty="0"/>
          </a:p>
        </p:txBody>
      </p:sp>
      <p:sp>
        <p:nvSpPr>
          <p:cNvPr id="92" name="Shape 90"/>
          <p:cNvSpPr/>
          <p:nvPr/>
        </p:nvSpPr>
        <p:spPr>
          <a:xfrm>
            <a:off x="7086600" y="6024982"/>
            <a:ext cx="5303520" cy="429768"/>
          </a:xfrm>
          <a:prstGeom prst="rect">
            <a:avLst/>
          </a:prstGeom>
          <a:solidFill>
            <a:srgbClr val="FFFFFF"/>
          </a:solidFill>
          <a:ln w="8255">
            <a:solidFill>
              <a:srgbClr val="000000"/>
            </a:solidFill>
            <a:prstDash val="solid"/>
          </a:ln>
        </p:spPr>
      </p:sp>
      <p:sp>
        <p:nvSpPr>
          <p:cNvPr id="93" name="Text 91"/>
          <p:cNvSpPr/>
          <p:nvPr/>
        </p:nvSpPr>
        <p:spPr>
          <a:xfrm>
            <a:off x="7187184" y="6038698"/>
            <a:ext cx="5102352" cy="40233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مساعد رئيس هيئة الأركان المشتركة</a:t>
            </a:r>
            <a:endParaRPr lang="ar-JO" sz="1400" dirty="0"/>
          </a:p>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للإدارة والقوة البشرية</a:t>
            </a:r>
            <a:endParaRPr lang="ar-JO" sz="1400" dirty="0"/>
          </a:p>
        </p:txBody>
      </p:sp>
      <p:sp>
        <p:nvSpPr>
          <p:cNvPr id="94" name="Shape 92"/>
          <p:cNvSpPr/>
          <p:nvPr/>
        </p:nvSpPr>
        <p:spPr>
          <a:xfrm>
            <a:off x="12390120" y="6024982"/>
            <a:ext cx="822960" cy="429768"/>
          </a:xfrm>
          <a:prstGeom prst="rect">
            <a:avLst/>
          </a:prstGeom>
          <a:solidFill>
            <a:srgbClr val="FFFFFF"/>
          </a:solidFill>
          <a:ln w="8255">
            <a:solidFill>
              <a:srgbClr val="000000"/>
            </a:solidFill>
            <a:prstDash val="solid"/>
          </a:ln>
        </p:spPr>
      </p:sp>
      <p:sp>
        <p:nvSpPr>
          <p:cNvPr id="95" name="Text 93"/>
          <p:cNvSpPr/>
          <p:nvPr/>
        </p:nvSpPr>
        <p:spPr>
          <a:xfrm>
            <a:off x="12490704" y="6038698"/>
            <a:ext cx="621792" cy="402336"/>
          </a:xfrm>
          <a:prstGeom prst="rect">
            <a:avLst/>
          </a:prstGeom>
          <a:noFill/>
          <a:ln/>
        </p:spPr>
        <p:txBody>
          <a:bodyPr wrap="square" lIns="0" tIns="0" rIns="0" bIns="0" rtlCol="0" anchor="ctr"/>
          <a:lstStyle/>
          <a:p>
            <a:pPr rtl="1" algn="r" indent="0" marL="0">
              <a:lnSpc>
                <a:spcPct val="100000"/>
              </a:lnSpc>
              <a:buNone/>
            </a:pPr>
            <a:endParaRPr lang="ar-JO" sz="1400" dirty="0"/>
          </a:p>
        </p:txBody>
      </p:sp>
      <p:sp>
        <p:nvSpPr>
          <p:cNvPr id="96" name="Shape 94"/>
          <p:cNvSpPr/>
          <p:nvPr/>
        </p:nvSpPr>
        <p:spPr>
          <a:xfrm>
            <a:off x="1417320" y="6454750"/>
            <a:ext cx="5669280" cy="255118"/>
          </a:xfrm>
          <a:prstGeom prst="rect">
            <a:avLst/>
          </a:prstGeom>
          <a:solidFill>
            <a:srgbClr val="FFFFFF"/>
          </a:solidFill>
          <a:ln w="8255">
            <a:solidFill>
              <a:srgbClr val="000000"/>
            </a:solidFill>
            <a:prstDash val="solid"/>
          </a:ln>
        </p:spPr>
      </p:sp>
      <p:sp>
        <p:nvSpPr>
          <p:cNvPr id="97" name="Text 95"/>
          <p:cNvSpPr/>
          <p:nvPr/>
        </p:nvSpPr>
        <p:spPr>
          <a:xfrm>
            <a:off x="1517904" y="6468466"/>
            <a:ext cx="546811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مفلح بن ناصر القحطاني</a:t>
            </a:r>
            <a:endParaRPr lang="ar-JO" sz="1400" dirty="0"/>
          </a:p>
        </p:txBody>
      </p:sp>
      <p:sp>
        <p:nvSpPr>
          <p:cNvPr id="98" name="Shape 96"/>
          <p:cNvSpPr/>
          <p:nvPr/>
        </p:nvSpPr>
        <p:spPr>
          <a:xfrm>
            <a:off x="7086600" y="6454750"/>
            <a:ext cx="5303520" cy="255118"/>
          </a:xfrm>
          <a:prstGeom prst="rect">
            <a:avLst/>
          </a:prstGeom>
          <a:solidFill>
            <a:srgbClr val="FFFFFF"/>
          </a:solidFill>
          <a:ln w="8255">
            <a:solidFill>
              <a:srgbClr val="000000"/>
            </a:solidFill>
            <a:prstDash val="solid"/>
          </a:ln>
        </p:spPr>
      </p:sp>
      <p:sp>
        <p:nvSpPr>
          <p:cNvPr id="99" name="Text 97"/>
          <p:cNvSpPr/>
          <p:nvPr/>
        </p:nvSpPr>
        <p:spPr>
          <a:xfrm>
            <a:off x="7187184" y="6468466"/>
            <a:ext cx="510235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وزير الاقتصاد الرقمي والريادة</a:t>
            </a:r>
            <a:endParaRPr lang="ar-JO" sz="1400" dirty="0"/>
          </a:p>
        </p:txBody>
      </p:sp>
      <p:sp>
        <p:nvSpPr>
          <p:cNvPr id="100" name="Shape 98"/>
          <p:cNvSpPr/>
          <p:nvPr/>
        </p:nvSpPr>
        <p:spPr>
          <a:xfrm>
            <a:off x="12390120" y="6454750"/>
            <a:ext cx="822960" cy="255118"/>
          </a:xfrm>
          <a:prstGeom prst="rect">
            <a:avLst/>
          </a:prstGeom>
          <a:solidFill>
            <a:srgbClr val="FFFFFF"/>
          </a:solidFill>
          <a:ln w="8255">
            <a:solidFill>
              <a:srgbClr val="000000"/>
            </a:solidFill>
            <a:prstDash val="solid"/>
          </a:ln>
        </p:spPr>
      </p:sp>
      <p:sp>
        <p:nvSpPr>
          <p:cNvPr id="101" name="Text 99"/>
          <p:cNvSpPr/>
          <p:nvPr/>
        </p:nvSpPr>
        <p:spPr>
          <a:xfrm>
            <a:off x="12490704" y="6468466"/>
            <a:ext cx="621792" cy="227686"/>
          </a:xfrm>
          <a:prstGeom prst="rect">
            <a:avLst/>
          </a:prstGeom>
          <a:noFill/>
          <a:ln/>
        </p:spPr>
        <p:txBody>
          <a:bodyPr wrap="square" lIns="0" tIns="0" rIns="0" bIns="0" rtlCol="0" anchor="ctr"/>
          <a:lstStyle/>
          <a:p>
            <a:pPr rtl="1" algn="r" indent="0" marL="0">
              <a:lnSpc>
                <a:spcPct val="100000"/>
              </a:lnSpc>
              <a:buNone/>
            </a:pPr>
            <a:endParaRPr lang="ar-JO" sz="1400" dirty="0"/>
          </a:p>
        </p:txBody>
      </p:sp>
      <p:sp>
        <p:nvSpPr>
          <p:cNvPr id="102" name="Shape 100"/>
          <p:cNvSpPr/>
          <p:nvPr/>
        </p:nvSpPr>
        <p:spPr>
          <a:xfrm>
            <a:off x="1417320" y="6709867"/>
            <a:ext cx="5669280" cy="255118"/>
          </a:xfrm>
          <a:prstGeom prst="rect">
            <a:avLst/>
          </a:prstGeom>
          <a:solidFill>
            <a:srgbClr val="FFFFFF"/>
          </a:solidFill>
          <a:ln w="8255">
            <a:solidFill>
              <a:srgbClr val="000000"/>
            </a:solidFill>
            <a:prstDash val="solid"/>
          </a:ln>
        </p:spPr>
      </p:sp>
      <p:sp>
        <p:nvSpPr>
          <p:cNvPr id="103" name="Text 101"/>
          <p:cNvSpPr/>
          <p:nvPr/>
        </p:nvSpPr>
        <p:spPr>
          <a:xfrm>
            <a:off x="1517904" y="6723583"/>
            <a:ext cx="546811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عمر بن صالح الدهام</a:t>
            </a:r>
            <a:endParaRPr lang="ar-JO" sz="1400" dirty="0"/>
          </a:p>
        </p:txBody>
      </p:sp>
      <p:sp>
        <p:nvSpPr>
          <p:cNvPr id="104" name="Shape 102"/>
          <p:cNvSpPr/>
          <p:nvPr/>
        </p:nvSpPr>
        <p:spPr>
          <a:xfrm>
            <a:off x="7086600" y="6709867"/>
            <a:ext cx="5303520" cy="255118"/>
          </a:xfrm>
          <a:prstGeom prst="rect">
            <a:avLst/>
          </a:prstGeom>
          <a:solidFill>
            <a:srgbClr val="FFFFFF"/>
          </a:solidFill>
          <a:ln w="8255">
            <a:solidFill>
              <a:srgbClr val="000000"/>
            </a:solidFill>
            <a:prstDash val="solid"/>
          </a:ln>
        </p:spPr>
      </p:sp>
      <p:sp>
        <p:nvSpPr>
          <p:cNvPr id="105" name="Text 103"/>
          <p:cNvSpPr/>
          <p:nvPr/>
        </p:nvSpPr>
        <p:spPr>
          <a:xfrm>
            <a:off x="7187184" y="6723583"/>
            <a:ext cx="510235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وزير الصحة</a:t>
            </a:r>
            <a:endParaRPr lang="ar-JO" sz="1400" dirty="0"/>
          </a:p>
        </p:txBody>
      </p:sp>
      <p:sp>
        <p:nvSpPr>
          <p:cNvPr id="106" name="Shape 104"/>
          <p:cNvSpPr/>
          <p:nvPr/>
        </p:nvSpPr>
        <p:spPr>
          <a:xfrm>
            <a:off x="12390120" y="6709867"/>
            <a:ext cx="822960" cy="255118"/>
          </a:xfrm>
          <a:prstGeom prst="rect">
            <a:avLst/>
          </a:prstGeom>
          <a:solidFill>
            <a:srgbClr val="FFFFFF"/>
          </a:solidFill>
          <a:ln w="8255">
            <a:solidFill>
              <a:srgbClr val="000000"/>
            </a:solidFill>
            <a:prstDash val="solid"/>
          </a:ln>
        </p:spPr>
      </p:sp>
      <p:sp>
        <p:nvSpPr>
          <p:cNvPr id="107" name="Text 105"/>
          <p:cNvSpPr/>
          <p:nvPr/>
        </p:nvSpPr>
        <p:spPr>
          <a:xfrm>
            <a:off x="12490704" y="6723583"/>
            <a:ext cx="621792" cy="227686"/>
          </a:xfrm>
          <a:prstGeom prst="rect">
            <a:avLst/>
          </a:prstGeom>
          <a:noFill/>
          <a:ln/>
        </p:spPr>
        <p:txBody>
          <a:bodyPr wrap="square" lIns="0" tIns="0" rIns="0" bIns="0" rtlCol="0" anchor="ctr"/>
          <a:lstStyle/>
          <a:p>
            <a:pPr rtl="1" algn="r" indent="0" marL="0">
              <a:lnSpc>
                <a:spcPct val="100000"/>
              </a:lnSpc>
              <a:buNone/>
            </a:pPr>
            <a:endParaRPr lang="ar-JO" sz="1400" dirty="0"/>
          </a:p>
        </p:txBody>
      </p:sp>
      <p:sp>
        <p:nvSpPr>
          <p:cNvPr id="108" name="Shape 106"/>
          <p:cNvSpPr/>
          <p:nvPr/>
        </p:nvSpPr>
        <p:spPr>
          <a:xfrm>
            <a:off x="1417320" y="6964985"/>
            <a:ext cx="5669280" cy="255118"/>
          </a:xfrm>
          <a:prstGeom prst="rect">
            <a:avLst/>
          </a:prstGeom>
          <a:solidFill>
            <a:srgbClr val="FFFFFF"/>
          </a:solidFill>
          <a:ln w="8255">
            <a:solidFill>
              <a:srgbClr val="000000"/>
            </a:solidFill>
            <a:prstDash val="solid"/>
          </a:ln>
        </p:spPr>
      </p:sp>
      <p:sp>
        <p:nvSpPr>
          <p:cNvPr id="109" name="Text 107"/>
          <p:cNvSpPr/>
          <p:nvPr/>
        </p:nvSpPr>
        <p:spPr>
          <a:xfrm>
            <a:off x="1517904" y="6978701"/>
            <a:ext cx="546811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وليد بن سفر العتيبي</a:t>
            </a:r>
            <a:endParaRPr lang="ar-JO" sz="1400" dirty="0"/>
          </a:p>
        </p:txBody>
      </p:sp>
      <p:sp>
        <p:nvSpPr>
          <p:cNvPr id="110" name="Shape 108"/>
          <p:cNvSpPr/>
          <p:nvPr/>
        </p:nvSpPr>
        <p:spPr>
          <a:xfrm>
            <a:off x="7086600" y="6964985"/>
            <a:ext cx="5303520" cy="255118"/>
          </a:xfrm>
          <a:prstGeom prst="rect">
            <a:avLst/>
          </a:prstGeom>
          <a:solidFill>
            <a:srgbClr val="FFFFFF"/>
          </a:solidFill>
          <a:ln w="8255">
            <a:solidFill>
              <a:srgbClr val="000000"/>
            </a:solidFill>
            <a:prstDash val="solid"/>
          </a:ln>
        </p:spPr>
      </p:sp>
      <p:sp>
        <p:nvSpPr>
          <p:cNvPr id="111" name="Text 109"/>
          <p:cNvSpPr/>
          <p:nvPr/>
        </p:nvSpPr>
        <p:spPr>
          <a:xfrm>
            <a:off x="7187184" y="6978701"/>
            <a:ext cx="510235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وزير العمل</a:t>
            </a:r>
            <a:endParaRPr lang="ar-JO" sz="1400" dirty="0"/>
          </a:p>
        </p:txBody>
      </p:sp>
      <p:sp>
        <p:nvSpPr>
          <p:cNvPr id="112" name="Shape 110"/>
          <p:cNvSpPr/>
          <p:nvPr/>
        </p:nvSpPr>
        <p:spPr>
          <a:xfrm>
            <a:off x="12390120" y="6964985"/>
            <a:ext cx="822960" cy="255118"/>
          </a:xfrm>
          <a:prstGeom prst="rect">
            <a:avLst/>
          </a:prstGeom>
          <a:solidFill>
            <a:srgbClr val="FFFFFF"/>
          </a:solidFill>
          <a:ln w="8255">
            <a:solidFill>
              <a:srgbClr val="000000"/>
            </a:solidFill>
            <a:prstDash val="solid"/>
          </a:ln>
        </p:spPr>
      </p:sp>
      <p:sp>
        <p:nvSpPr>
          <p:cNvPr id="113" name="Text 111"/>
          <p:cNvSpPr/>
          <p:nvPr/>
        </p:nvSpPr>
        <p:spPr>
          <a:xfrm>
            <a:off x="12490704" y="6978701"/>
            <a:ext cx="621792" cy="227686"/>
          </a:xfrm>
          <a:prstGeom prst="rect">
            <a:avLst/>
          </a:prstGeom>
          <a:noFill/>
          <a:ln/>
        </p:spPr>
        <p:txBody>
          <a:bodyPr wrap="square" lIns="0" tIns="0" rIns="0" bIns="0" rtlCol="0" anchor="ctr"/>
          <a:lstStyle/>
          <a:p>
            <a:pPr rtl="1" algn="r" indent="0" marL="0">
              <a:lnSpc>
                <a:spcPct val="100000"/>
              </a:lnSpc>
              <a:buNone/>
            </a:pPr>
            <a:endParaRPr lang="ar-JO" sz="1400" dirty="0"/>
          </a:p>
        </p:txBody>
      </p:sp>
      <p:sp>
        <p:nvSpPr>
          <p:cNvPr id="114" name="Shape 112"/>
          <p:cNvSpPr/>
          <p:nvPr/>
        </p:nvSpPr>
        <p:spPr>
          <a:xfrm>
            <a:off x="1417320" y="7220102"/>
            <a:ext cx="5669280" cy="255118"/>
          </a:xfrm>
          <a:prstGeom prst="rect">
            <a:avLst/>
          </a:prstGeom>
          <a:solidFill>
            <a:srgbClr val="FFFFFF"/>
          </a:solidFill>
          <a:ln w="8255">
            <a:solidFill>
              <a:srgbClr val="000000"/>
            </a:solidFill>
            <a:prstDash val="solid"/>
          </a:ln>
        </p:spPr>
      </p:sp>
      <p:sp>
        <p:nvSpPr>
          <p:cNvPr id="115" name="Text 113"/>
          <p:cNvSpPr/>
          <p:nvPr/>
        </p:nvSpPr>
        <p:spPr>
          <a:xfrm>
            <a:off x="1517904" y="7233818"/>
            <a:ext cx="546811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أحمد بن سعيد العسيري</a:t>
            </a:r>
            <a:endParaRPr lang="ar-JO" sz="1400" dirty="0"/>
          </a:p>
        </p:txBody>
      </p:sp>
      <p:sp>
        <p:nvSpPr>
          <p:cNvPr id="116" name="Shape 114"/>
          <p:cNvSpPr/>
          <p:nvPr/>
        </p:nvSpPr>
        <p:spPr>
          <a:xfrm>
            <a:off x="7086600" y="7220102"/>
            <a:ext cx="5303520" cy="255118"/>
          </a:xfrm>
          <a:prstGeom prst="rect">
            <a:avLst/>
          </a:prstGeom>
          <a:solidFill>
            <a:srgbClr val="FFFFFF"/>
          </a:solidFill>
          <a:ln w="8255">
            <a:solidFill>
              <a:srgbClr val="000000"/>
            </a:solidFill>
            <a:prstDash val="solid"/>
          </a:ln>
        </p:spPr>
      </p:sp>
      <p:sp>
        <p:nvSpPr>
          <p:cNvPr id="117" name="Text 115"/>
          <p:cNvSpPr/>
          <p:nvPr/>
        </p:nvSpPr>
        <p:spPr>
          <a:xfrm>
            <a:off x="7187184" y="7233818"/>
            <a:ext cx="510235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وزير الثقافة</a:t>
            </a:r>
            <a:endParaRPr lang="ar-JO" sz="1400" dirty="0"/>
          </a:p>
        </p:txBody>
      </p:sp>
      <p:sp>
        <p:nvSpPr>
          <p:cNvPr id="118" name="Shape 116"/>
          <p:cNvSpPr/>
          <p:nvPr/>
        </p:nvSpPr>
        <p:spPr>
          <a:xfrm>
            <a:off x="12390120" y="7220102"/>
            <a:ext cx="822960" cy="255118"/>
          </a:xfrm>
          <a:prstGeom prst="rect">
            <a:avLst/>
          </a:prstGeom>
          <a:solidFill>
            <a:srgbClr val="FFFFFF"/>
          </a:solidFill>
          <a:ln w="8255">
            <a:solidFill>
              <a:srgbClr val="000000"/>
            </a:solidFill>
            <a:prstDash val="solid"/>
          </a:ln>
        </p:spPr>
      </p:sp>
      <p:sp>
        <p:nvSpPr>
          <p:cNvPr id="119" name="Text 117"/>
          <p:cNvSpPr/>
          <p:nvPr/>
        </p:nvSpPr>
        <p:spPr>
          <a:xfrm>
            <a:off x="12490704" y="7233818"/>
            <a:ext cx="621792" cy="227686"/>
          </a:xfrm>
          <a:prstGeom prst="rect">
            <a:avLst/>
          </a:prstGeom>
          <a:noFill/>
          <a:ln/>
        </p:spPr>
        <p:txBody>
          <a:bodyPr wrap="square" lIns="0" tIns="0" rIns="0" bIns="0" rtlCol="0" anchor="ctr"/>
          <a:lstStyle/>
          <a:p>
            <a:pPr rtl="1" algn="r" indent="0" marL="0">
              <a:lnSpc>
                <a:spcPct val="100000"/>
              </a:lnSpc>
              <a:buNone/>
            </a:pPr>
            <a:endParaRPr lang="ar-JO" sz="1400" dirty="0"/>
          </a:p>
        </p:txBody>
      </p:sp>
      <p:sp>
        <p:nvSpPr>
          <p:cNvPr id="120" name="Shape 118"/>
          <p:cNvSpPr/>
          <p:nvPr/>
        </p:nvSpPr>
        <p:spPr>
          <a:xfrm>
            <a:off x="1417320" y="7475220"/>
            <a:ext cx="5669280" cy="255118"/>
          </a:xfrm>
          <a:prstGeom prst="rect">
            <a:avLst/>
          </a:prstGeom>
          <a:solidFill>
            <a:srgbClr val="FFFFFF"/>
          </a:solidFill>
          <a:ln w="8255">
            <a:solidFill>
              <a:srgbClr val="000000"/>
            </a:solidFill>
            <a:prstDash val="solid"/>
          </a:ln>
        </p:spPr>
      </p:sp>
      <p:sp>
        <p:nvSpPr>
          <p:cNvPr id="121" name="Text 119"/>
          <p:cNvSpPr/>
          <p:nvPr/>
        </p:nvSpPr>
        <p:spPr>
          <a:xfrm>
            <a:off x="1517904" y="7488936"/>
            <a:ext cx="546811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سعود بن ماجد الدوسري</a:t>
            </a:r>
            <a:endParaRPr lang="ar-JO" sz="1400" dirty="0"/>
          </a:p>
        </p:txBody>
      </p:sp>
      <p:sp>
        <p:nvSpPr>
          <p:cNvPr id="122" name="Shape 120"/>
          <p:cNvSpPr/>
          <p:nvPr/>
        </p:nvSpPr>
        <p:spPr>
          <a:xfrm>
            <a:off x="7086600" y="7475220"/>
            <a:ext cx="5303520" cy="255118"/>
          </a:xfrm>
          <a:prstGeom prst="rect">
            <a:avLst/>
          </a:prstGeom>
          <a:solidFill>
            <a:srgbClr val="FFFFFF"/>
          </a:solidFill>
          <a:ln w="8255">
            <a:solidFill>
              <a:srgbClr val="000000"/>
            </a:solidFill>
            <a:prstDash val="solid"/>
          </a:ln>
        </p:spPr>
      </p:sp>
      <p:sp>
        <p:nvSpPr>
          <p:cNvPr id="123" name="Text 121"/>
          <p:cNvSpPr/>
          <p:nvPr/>
        </p:nvSpPr>
        <p:spPr>
          <a:xfrm>
            <a:off x="7187184" y="7488936"/>
            <a:ext cx="5102352" cy="227686"/>
          </a:xfrm>
          <a:prstGeom prst="rect">
            <a:avLst/>
          </a:prstGeom>
          <a:noFill/>
          <a:ln/>
        </p:spPr>
        <p:txBody>
          <a:bodyPr wrap="square" lIns="0" tIns="0" rIns="0" bIns="0" rtlCol="0" anchor="ctr"/>
          <a:lstStyle/>
          <a:p>
            <a:pPr rtl="1" algn="r" indent="0" marL="0">
              <a:lnSpc>
                <a:spcPct val="100000"/>
              </a:lnSpc>
              <a:buNone/>
            </a:pPr>
            <a:r>
              <a:rPr lang="ar-JO" altLang="en-US" sz="1400" dirty="0">
                <a:solidFill>
                  <a:srgbClr val="000000"/>
                </a:solidFill>
                <a:latin typeface="Noto Naskh Arabic" pitchFamily="34" charset="0"/>
                <a:ea typeface="Noto Naskh Arabic" pitchFamily="34" charset="-122"/>
                <a:cs typeface="Noto Naskh Arabic" pitchFamily="34" charset="-120"/>
              </a:rPr>
              <a:t>وزير الشباب</a:t>
            </a:r>
            <a:endParaRPr lang="ar-JO" sz="1400" dirty="0"/>
          </a:p>
        </p:txBody>
      </p:sp>
      <p:sp>
        <p:nvSpPr>
          <p:cNvPr id="124" name="Shape 122"/>
          <p:cNvSpPr/>
          <p:nvPr/>
        </p:nvSpPr>
        <p:spPr>
          <a:xfrm>
            <a:off x="12390120" y="7475220"/>
            <a:ext cx="822960" cy="255118"/>
          </a:xfrm>
          <a:prstGeom prst="rect">
            <a:avLst/>
          </a:prstGeom>
          <a:solidFill>
            <a:srgbClr val="FFFFFF"/>
          </a:solidFill>
          <a:ln w="8255">
            <a:solidFill>
              <a:srgbClr val="000000"/>
            </a:solidFill>
            <a:prstDash val="solid"/>
          </a:ln>
        </p:spPr>
      </p:sp>
      <p:sp>
        <p:nvSpPr>
          <p:cNvPr id="125" name="Text 123"/>
          <p:cNvSpPr/>
          <p:nvPr/>
        </p:nvSpPr>
        <p:spPr>
          <a:xfrm>
            <a:off x="12490704" y="7488936"/>
            <a:ext cx="621792" cy="227686"/>
          </a:xfrm>
          <a:prstGeom prst="rect">
            <a:avLst/>
          </a:prstGeom>
          <a:noFill/>
          <a:ln/>
        </p:spPr>
        <p:txBody>
          <a:bodyPr wrap="square" lIns="0" tIns="0" rIns="0" bIns="0" rtlCol="0" anchor="ctr"/>
          <a:lstStyle/>
          <a:p>
            <a:pPr rtl="1" algn="r" indent="0" marL="0">
              <a:lnSpc>
                <a:spcPct val="100000"/>
              </a:lnSpc>
              <a:buNone/>
            </a:pPr>
            <a:endParaRPr lang="ar-JO"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الأول</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١. المطلب الوطني</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٢ | ١/ب</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02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دقيقة ونصف</a:t>
            </a:r>
            <a:endParaRPr lang="ar-JO" sz="1100" dirty="0"/>
          </a:p>
        </p:txBody>
      </p:sp>
      <p:sp>
        <p:nvSpPr>
          <p:cNvPr id="11" name="Shape 9"/>
          <p:cNvSpPr/>
          <p:nvPr/>
        </p:nvSpPr>
        <p:spPr>
          <a:xfrm>
            <a:off x="594360" y="7653528"/>
            <a:ext cx="867205" cy="32004"/>
          </a:xfrm>
          <a:prstGeom prst="rect">
            <a:avLst/>
          </a:prstGeom>
          <a:solidFill>
            <a:srgbClr val="000000"/>
          </a:solidFill>
          <a:ln w="12700">
            <a:solidFill>
              <a:srgbClr val="000000"/>
            </a:solidFill>
            <a:prstDash val="solid"/>
          </a:ln>
        </p:spPr>
      </p:sp>
      <p:sp>
        <p:nvSpPr>
          <p:cNvPr id="12" name="Text 10"/>
          <p:cNvSpPr/>
          <p:nvPr/>
        </p:nvSpPr>
        <p:spPr>
          <a:xfrm>
            <a:off x="960120" y="2423160"/>
            <a:ext cx="12710160" cy="2194560"/>
          </a:xfrm>
          <a:prstGeom prst="rect">
            <a:avLst/>
          </a:prstGeom>
          <a:noFill/>
          <a:ln/>
        </p:spPr>
        <p:txBody>
          <a:bodyPr wrap="square" lIns="0" tIns="0" rIns="0" bIns="0" rtlCol="0" anchor="ctr"/>
          <a:lstStyle/>
          <a:p>
            <a:pPr rtl="1" algn="r" indent="0" marL="0">
              <a:lnSpc>
                <a:spcPct val="115000"/>
              </a:lnSpc>
              <a:buNone/>
            </a:pPr>
            <a:r>
              <a:rPr lang="ar-JO" altLang="en-US" sz="3400" b="1" dirty="0">
                <a:solidFill>
                  <a:srgbClr val="000000"/>
                </a:solidFill>
                <a:latin typeface="Noto Sans Arabic" pitchFamily="34" charset="0"/>
                <a:ea typeface="Noto Sans Arabic" pitchFamily="34" charset="-122"/>
                <a:cs typeface="Noto Sans Arabic" pitchFamily="34" charset="-120"/>
              </a:rPr>
              <a:t>المطلب الوطني: أمن، حرية، ازدهار، وحياة كريمة فضلى للمواطنين في دولة آمنة ومستقرة.</a:t>
            </a:r>
            <a:endParaRPr lang="ar-JO" sz="3400" dirty="0"/>
          </a:p>
        </p:txBody>
      </p:sp>
      <p:sp>
        <p:nvSpPr>
          <p:cNvPr id="13" name="Shape 11"/>
          <p:cNvSpPr/>
          <p:nvPr/>
        </p:nvSpPr>
        <p:spPr>
          <a:xfrm>
            <a:off x="10991088" y="5532120"/>
            <a:ext cx="3035808" cy="932688"/>
          </a:xfrm>
          <a:prstGeom prst="rect">
            <a:avLst/>
          </a:prstGeom>
          <a:solidFill>
            <a:srgbClr val="FFFFFF"/>
          </a:solidFill>
          <a:ln w="12700">
            <a:solidFill>
              <a:srgbClr val="FFFFFF"/>
            </a:solidFill>
            <a:prstDash val="solid"/>
          </a:ln>
        </p:spPr>
      </p:sp>
      <p:sp>
        <p:nvSpPr>
          <p:cNvPr id="14" name="Text 12"/>
          <p:cNvSpPr/>
          <p:nvPr/>
        </p:nvSpPr>
        <p:spPr>
          <a:xfrm>
            <a:off x="10991088" y="5532120"/>
            <a:ext cx="3035808" cy="932688"/>
          </a:xfrm>
          <a:prstGeom prst="rect">
            <a:avLst/>
          </a:prstGeom>
          <a:noFill/>
          <a:ln/>
        </p:spPr>
        <p:txBody>
          <a:bodyPr wrap="square" lIns="0" tIns="0" rIns="0" bIns="0" rtlCol="0" anchor="ctr"/>
          <a:lstStyle/>
          <a:p>
            <a:pPr rtl="1" algn="ctr" indent="0" marL="0">
              <a:buNone/>
            </a:pPr>
            <a:r>
              <a:rPr lang="ar-JO" altLang="en-US" sz="2100" dirty="0">
                <a:solidFill>
                  <a:srgbClr val="000000"/>
                </a:solidFill>
                <a:latin typeface="Noto Sans Arabic" pitchFamily="34" charset="0"/>
                <a:ea typeface="Noto Sans Arabic" pitchFamily="34" charset="-122"/>
                <a:cs typeface="Noto Sans Arabic" pitchFamily="34" charset="-120"/>
              </a:rPr>
              <a:t>أمن</a:t>
            </a:r>
            <a:endParaRPr lang="ar-JO" sz="2100" dirty="0"/>
          </a:p>
        </p:txBody>
      </p:sp>
      <p:sp>
        <p:nvSpPr>
          <p:cNvPr id="15" name="Shape 13"/>
          <p:cNvSpPr/>
          <p:nvPr/>
        </p:nvSpPr>
        <p:spPr>
          <a:xfrm>
            <a:off x="7525512" y="5532120"/>
            <a:ext cx="3035808" cy="932688"/>
          </a:xfrm>
          <a:prstGeom prst="rect">
            <a:avLst/>
          </a:prstGeom>
          <a:solidFill>
            <a:srgbClr val="FFFFFF"/>
          </a:solidFill>
          <a:ln w="12700">
            <a:solidFill>
              <a:srgbClr val="FFFFFF"/>
            </a:solidFill>
            <a:prstDash val="solid"/>
          </a:ln>
        </p:spPr>
      </p:sp>
      <p:sp>
        <p:nvSpPr>
          <p:cNvPr id="16" name="Text 14"/>
          <p:cNvSpPr/>
          <p:nvPr/>
        </p:nvSpPr>
        <p:spPr>
          <a:xfrm>
            <a:off x="7525512" y="5532120"/>
            <a:ext cx="3035808" cy="932688"/>
          </a:xfrm>
          <a:prstGeom prst="rect">
            <a:avLst/>
          </a:prstGeom>
          <a:noFill/>
          <a:ln/>
        </p:spPr>
        <p:txBody>
          <a:bodyPr wrap="square" lIns="0" tIns="0" rIns="0" bIns="0" rtlCol="0" anchor="ctr"/>
          <a:lstStyle/>
          <a:p>
            <a:pPr rtl="1" algn="ctr" indent="0" marL="0">
              <a:buNone/>
            </a:pPr>
            <a:r>
              <a:rPr lang="ar-JO" altLang="en-US" sz="2100" dirty="0">
                <a:solidFill>
                  <a:srgbClr val="000000"/>
                </a:solidFill>
                <a:latin typeface="Noto Sans Arabic" pitchFamily="34" charset="0"/>
                <a:ea typeface="Noto Sans Arabic" pitchFamily="34" charset="-122"/>
                <a:cs typeface="Noto Sans Arabic" pitchFamily="34" charset="-120"/>
              </a:rPr>
              <a:t>حرية</a:t>
            </a:r>
            <a:endParaRPr lang="ar-JO" sz="2100" dirty="0"/>
          </a:p>
        </p:txBody>
      </p:sp>
      <p:sp>
        <p:nvSpPr>
          <p:cNvPr id="17" name="Shape 15"/>
          <p:cNvSpPr/>
          <p:nvPr/>
        </p:nvSpPr>
        <p:spPr>
          <a:xfrm>
            <a:off x="4059936" y="5532120"/>
            <a:ext cx="3035808" cy="932688"/>
          </a:xfrm>
          <a:prstGeom prst="rect">
            <a:avLst/>
          </a:prstGeom>
          <a:solidFill>
            <a:srgbClr val="FFFFFF"/>
          </a:solidFill>
          <a:ln w="12700">
            <a:solidFill>
              <a:srgbClr val="FFFFFF"/>
            </a:solidFill>
            <a:prstDash val="solid"/>
          </a:ln>
        </p:spPr>
      </p:sp>
      <p:sp>
        <p:nvSpPr>
          <p:cNvPr id="18" name="Text 16"/>
          <p:cNvSpPr/>
          <p:nvPr/>
        </p:nvSpPr>
        <p:spPr>
          <a:xfrm>
            <a:off x="4059936" y="5532120"/>
            <a:ext cx="3035808" cy="932688"/>
          </a:xfrm>
          <a:prstGeom prst="rect">
            <a:avLst/>
          </a:prstGeom>
          <a:noFill/>
          <a:ln/>
        </p:spPr>
        <p:txBody>
          <a:bodyPr wrap="square" lIns="0" tIns="0" rIns="0" bIns="0" rtlCol="0" anchor="ctr"/>
          <a:lstStyle/>
          <a:p>
            <a:pPr rtl="1" algn="ctr" indent="0" marL="0">
              <a:buNone/>
            </a:pPr>
            <a:r>
              <a:rPr lang="ar-JO" altLang="en-US" sz="2100" dirty="0">
                <a:solidFill>
                  <a:srgbClr val="000000"/>
                </a:solidFill>
                <a:latin typeface="Noto Sans Arabic" pitchFamily="34" charset="0"/>
                <a:ea typeface="Noto Sans Arabic" pitchFamily="34" charset="-122"/>
                <a:cs typeface="Noto Sans Arabic" pitchFamily="34" charset="-120"/>
              </a:rPr>
              <a:t>ازدهار</a:t>
            </a:r>
            <a:endParaRPr lang="ar-JO" sz="2100" dirty="0"/>
          </a:p>
        </p:txBody>
      </p:sp>
      <p:sp>
        <p:nvSpPr>
          <p:cNvPr id="19" name="Shape 17"/>
          <p:cNvSpPr/>
          <p:nvPr/>
        </p:nvSpPr>
        <p:spPr>
          <a:xfrm>
            <a:off x="594360" y="5532120"/>
            <a:ext cx="3035808" cy="932688"/>
          </a:xfrm>
          <a:prstGeom prst="rect">
            <a:avLst/>
          </a:prstGeom>
          <a:solidFill>
            <a:srgbClr val="FFFFFF"/>
          </a:solidFill>
          <a:ln w="12700">
            <a:solidFill>
              <a:srgbClr val="FFFFFF"/>
            </a:solidFill>
            <a:prstDash val="solid"/>
          </a:ln>
        </p:spPr>
      </p:sp>
      <p:sp>
        <p:nvSpPr>
          <p:cNvPr id="20" name="Text 18"/>
          <p:cNvSpPr/>
          <p:nvPr/>
        </p:nvSpPr>
        <p:spPr>
          <a:xfrm>
            <a:off x="594360" y="5532120"/>
            <a:ext cx="3035808" cy="932688"/>
          </a:xfrm>
          <a:prstGeom prst="rect">
            <a:avLst/>
          </a:prstGeom>
          <a:noFill/>
          <a:ln/>
        </p:spPr>
        <p:txBody>
          <a:bodyPr wrap="square" lIns="0" tIns="0" rIns="0" bIns="0" rtlCol="0" anchor="ctr"/>
          <a:lstStyle/>
          <a:p>
            <a:pPr rtl="1" algn="ctr" indent="0" marL="0">
              <a:buNone/>
            </a:pPr>
            <a:r>
              <a:rPr lang="ar-JO" altLang="en-US" sz="2100" dirty="0">
                <a:solidFill>
                  <a:srgbClr val="000000"/>
                </a:solidFill>
                <a:latin typeface="Noto Sans Arabic" pitchFamily="34" charset="0"/>
                <a:ea typeface="Noto Sans Arabic" pitchFamily="34" charset="-122"/>
                <a:cs typeface="Noto Sans Arabic" pitchFamily="34" charset="-120"/>
              </a:rPr>
              <a:t>حياة كريمة</a:t>
            </a:r>
            <a:endParaRPr lang="ar-JO"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ب. تصنيف المصالح الوطنية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٢. المصالح الوطنية — المصلحة الحيوية</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٢ | ٢/ب/١</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03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1300808" cy="32004"/>
          </a:xfrm>
          <a:prstGeom prst="rect">
            <a:avLst/>
          </a:prstGeom>
          <a:solidFill>
            <a:srgbClr val="000000"/>
          </a:solidFill>
          <a:ln w="12700">
            <a:solidFill>
              <a:srgbClr val="000000"/>
            </a:solidFill>
            <a:prstDash val="solid"/>
          </a:ln>
        </p:spPr>
      </p:sp>
      <p:sp>
        <p:nvSpPr>
          <p:cNvPr id="12" name="Text 10"/>
          <p:cNvSpPr/>
          <p:nvPr/>
        </p:nvSpPr>
        <p:spPr>
          <a:xfrm>
            <a:off x="960120" y="2377440"/>
            <a:ext cx="12710160" cy="457200"/>
          </a:xfrm>
          <a:prstGeom prst="rect">
            <a:avLst/>
          </a:prstGeom>
          <a:noFill/>
          <a:ln/>
        </p:spPr>
        <p:txBody>
          <a:bodyPr wrap="square" lIns="0" tIns="0" rIns="0" bIns="0" rtlCol="0" anchor="ctr"/>
          <a:lstStyle/>
          <a:p>
            <a:pPr rtl="1" algn="r" indent="0" marL="0">
              <a:buNone/>
            </a:pPr>
            <a:r>
              <a:rPr lang="ar-JO" altLang="en-US" sz="1700" b="1" dirty="0">
                <a:solidFill>
                  <a:srgbClr val="000000"/>
                </a:solidFill>
                <a:latin typeface="Noto Sans Arabic" pitchFamily="34" charset="0"/>
                <a:ea typeface="Noto Sans Arabic" pitchFamily="34" charset="-122"/>
                <a:cs typeface="Noto Sans Arabic" pitchFamily="34" charset="-120"/>
              </a:rPr>
              <a:t>الأولوية الحيوية</a:t>
            </a:r>
            <a:endParaRPr lang="ar-JO" sz="1700" dirty="0"/>
          </a:p>
        </p:txBody>
      </p:sp>
      <p:sp>
        <p:nvSpPr>
          <p:cNvPr id="13" name="Text 11"/>
          <p:cNvSpPr/>
          <p:nvPr/>
        </p:nvSpPr>
        <p:spPr>
          <a:xfrm>
            <a:off x="960120" y="3017520"/>
            <a:ext cx="12710160" cy="2194560"/>
          </a:xfrm>
          <a:prstGeom prst="rect">
            <a:avLst/>
          </a:prstGeom>
          <a:noFill/>
          <a:ln/>
        </p:spPr>
        <p:txBody>
          <a:bodyPr wrap="square" lIns="0" tIns="0" rIns="0" bIns="0" rtlCol="0" anchor="ctr"/>
          <a:lstStyle/>
          <a:p>
            <a:pPr rtl="1" algn="r" indent="0" marL="0">
              <a:lnSpc>
                <a:spcPct val="112000"/>
              </a:lnSpc>
              <a:buNone/>
            </a:pPr>
            <a:r>
              <a:rPr lang="ar-JO" altLang="en-US" sz="3100" dirty="0">
                <a:solidFill>
                  <a:srgbClr val="000000"/>
                </a:solidFill>
                <a:latin typeface="Noto Sans Arabic" pitchFamily="34" charset="0"/>
                <a:ea typeface="Noto Sans Arabic" pitchFamily="34" charset="-122"/>
                <a:cs typeface="Noto Sans Arabic" pitchFamily="34" charset="-120"/>
              </a:rPr>
              <a:t>صون أمن الدولة الأردنية وسلامتها وسيادتها، وضمان استقرار نظامها السياسي والاقتصادي والاجتماعي، والمحافظة على أمنها المائي.</a:t>
            </a:r>
            <a:endParaRPr lang="ar-JO" sz="3100" dirty="0"/>
          </a:p>
        </p:txBody>
      </p:sp>
      <p:sp>
        <p:nvSpPr>
          <p:cNvPr id="14" name="Text 12"/>
          <p:cNvSpPr/>
          <p:nvPr/>
        </p:nvSpPr>
        <p:spPr>
          <a:xfrm>
            <a:off x="960120" y="6080760"/>
            <a:ext cx="12710160" cy="502920"/>
          </a:xfrm>
          <a:prstGeom prst="rect">
            <a:avLst/>
          </a:prstGeom>
          <a:noFill/>
          <a:ln/>
        </p:spPr>
        <p:txBody>
          <a:bodyPr wrap="square" lIns="0" tIns="0" rIns="0" bIns="0" rtlCol="0" anchor="ctr"/>
          <a:lstStyle/>
          <a:p>
            <a:pPr rtl="1" algn="r" indent="0" marL="0">
              <a:buNone/>
            </a:pPr>
            <a:r>
              <a:rPr lang="ar-JO" altLang="en-US" sz="2100" dirty="0">
                <a:solidFill>
                  <a:srgbClr val="000000"/>
                </a:solidFill>
                <a:latin typeface="Noto Sans Arabic" pitchFamily="34" charset="0"/>
                <a:ea typeface="Noto Sans Arabic" pitchFamily="34" charset="-122"/>
                <a:cs typeface="Noto Sans Arabic" pitchFamily="34" charset="-120"/>
              </a:rPr>
              <a:t>السيادة · الاستقرار · الأمن المائي</a:t>
            </a:r>
            <a:endParaRPr lang="ar-JO" sz="2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الثاني · المصالح الأساسية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المصالح الأساسية — من (أ) إلى (جـ)</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٢–٣ | ٢/ب/٢</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04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٤٥ ثانية</a:t>
            </a:r>
            <a:endParaRPr lang="ar-JO" sz="1100" dirty="0"/>
          </a:p>
        </p:txBody>
      </p:sp>
      <p:sp>
        <p:nvSpPr>
          <p:cNvPr id="11" name="Shape 9"/>
          <p:cNvSpPr/>
          <p:nvPr/>
        </p:nvSpPr>
        <p:spPr>
          <a:xfrm>
            <a:off x="594360" y="7653528"/>
            <a:ext cx="1734410" cy="32004"/>
          </a:xfrm>
          <a:prstGeom prst="rect">
            <a:avLst/>
          </a:prstGeom>
          <a:solidFill>
            <a:srgbClr val="000000"/>
          </a:solidFill>
          <a:ln w="12700">
            <a:solidFill>
              <a:srgbClr val="000000"/>
            </a:solidFill>
            <a:prstDash val="solid"/>
          </a:ln>
        </p:spPr>
      </p:sp>
      <p:sp>
        <p:nvSpPr>
          <p:cNvPr id="12" name="Shape 10"/>
          <p:cNvSpPr/>
          <p:nvPr/>
        </p:nvSpPr>
        <p:spPr>
          <a:xfrm>
            <a:off x="594360" y="2103120"/>
            <a:ext cx="13441680" cy="1539240"/>
          </a:xfrm>
          <a:prstGeom prst="rect">
            <a:avLst/>
          </a:prstGeom>
          <a:solidFill>
            <a:srgbClr val="FFFFFF"/>
          </a:solidFill>
          <a:ln w="7620">
            <a:solidFill>
              <a:srgbClr val="000000"/>
            </a:solidFill>
            <a:prstDash val="solid"/>
          </a:ln>
        </p:spPr>
      </p:sp>
      <p:sp>
        <p:nvSpPr>
          <p:cNvPr id="13" name="Shape 11"/>
          <p:cNvSpPr/>
          <p:nvPr/>
        </p:nvSpPr>
        <p:spPr>
          <a:xfrm>
            <a:off x="13962888" y="2103120"/>
            <a:ext cx="73152" cy="1539240"/>
          </a:xfrm>
          <a:prstGeom prst="rect">
            <a:avLst/>
          </a:prstGeom>
          <a:solidFill>
            <a:srgbClr val="000000"/>
          </a:solidFill>
          <a:ln w="12700">
            <a:solidFill>
              <a:srgbClr val="000000"/>
            </a:solidFill>
            <a:prstDash val="solid"/>
          </a:ln>
        </p:spPr>
      </p:sp>
      <p:sp>
        <p:nvSpPr>
          <p:cNvPr id="14" name="Shape 12"/>
          <p:cNvSpPr/>
          <p:nvPr/>
        </p:nvSpPr>
        <p:spPr>
          <a:xfrm>
            <a:off x="12938760" y="2304288"/>
            <a:ext cx="713232" cy="484632"/>
          </a:xfrm>
          <a:prstGeom prst="rect">
            <a:avLst/>
          </a:prstGeom>
          <a:solidFill>
            <a:srgbClr val="000000"/>
          </a:solidFill>
          <a:ln w="12700">
            <a:solidFill>
              <a:srgbClr val="000000"/>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أ</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تسوية القضية الفلسطينية في الضفة الغربية وقطاع غزة بوصفهما قضية واحدة، وصولاً إلى إقامة دولة فلسطينية مستقلة على خطوط الرابع من حزيران 1967، تكون القدس الشرقية عاصمتها.</a:t>
            </a:r>
            <a:endParaRPr lang="ar-JO" sz="2300" dirty="0"/>
          </a:p>
        </p:txBody>
      </p:sp>
      <p:sp>
        <p:nvSpPr>
          <p:cNvPr id="17" name="Shape 15"/>
          <p:cNvSpPr/>
          <p:nvPr/>
        </p:nvSpPr>
        <p:spPr>
          <a:xfrm>
            <a:off x="594360" y="3779520"/>
            <a:ext cx="13441680" cy="1539240"/>
          </a:xfrm>
          <a:prstGeom prst="rect">
            <a:avLst/>
          </a:prstGeom>
          <a:solidFill>
            <a:srgbClr val="FFFFFF"/>
          </a:solidFill>
          <a:ln w="7620">
            <a:solidFill>
              <a:srgbClr val="000000"/>
            </a:solidFill>
            <a:prstDash val="solid"/>
          </a:ln>
        </p:spPr>
      </p:sp>
      <p:sp>
        <p:nvSpPr>
          <p:cNvPr id="18" name="Shape 16"/>
          <p:cNvSpPr/>
          <p:nvPr/>
        </p:nvSpPr>
        <p:spPr>
          <a:xfrm>
            <a:off x="13962888" y="3779520"/>
            <a:ext cx="73152" cy="1539240"/>
          </a:xfrm>
          <a:prstGeom prst="rect">
            <a:avLst/>
          </a:prstGeom>
          <a:solidFill>
            <a:srgbClr val="000000"/>
          </a:solidFill>
          <a:ln w="12700">
            <a:solidFill>
              <a:srgbClr val="000000"/>
            </a:solidFill>
            <a:prstDash val="solid"/>
          </a:ln>
        </p:spPr>
      </p:sp>
      <p:sp>
        <p:nvSpPr>
          <p:cNvPr id="19" name="Shape 17"/>
          <p:cNvSpPr/>
          <p:nvPr/>
        </p:nvSpPr>
        <p:spPr>
          <a:xfrm>
            <a:off x="12938760" y="3980688"/>
            <a:ext cx="713232" cy="484632"/>
          </a:xfrm>
          <a:prstGeom prst="rect">
            <a:avLst/>
          </a:prstGeom>
          <a:solidFill>
            <a:srgbClr val="000000"/>
          </a:solidFill>
          <a:ln w="12700">
            <a:solidFill>
              <a:srgbClr val="000000"/>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ب</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تنمية القدرات الدفاعية والأمنية ذات الجاهزية العالية لتبقى الحصن المنيع وسياج الوطن ودرعه في مواجهة التهديدات المختلفة.</a:t>
            </a:r>
            <a:endParaRPr lang="ar-JO" sz="2300" dirty="0"/>
          </a:p>
        </p:txBody>
      </p:sp>
      <p:sp>
        <p:nvSpPr>
          <p:cNvPr id="22" name="Shape 20"/>
          <p:cNvSpPr/>
          <p:nvPr/>
        </p:nvSpPr>
        <p:spPr>
          <a:xfrm>
            <a:off x="594360" y="5455920"/>
            <a:ext cx="13441680" cy="1539240"/>
          </a:xfrm>
          <a:prstGeom prst="rect">
            <a:avLst/>
          </a:prstGeom>
          <a:solidFill>
            <a:srgbClr val="FFFFFF"/>
          </a:solidFill>
          <a:ln w="7620">
            <a:solidFill>
              <a:srgbClr val="000000"/>
            </a:solidFill>
            <a:prstDash val="solid"/>
          </a:ln>
        </p:spPr>
      </p:sp>
      <p:sp>
        <p:nvSpPr>
          <p:cNvPr id="23" name="Shape 21"/>
          <p:cNvSpPr/>
          <p:nvPr/>
        </p:nvSpPr>
        <p:spPr>
          <a:xfrm>
            <a:off x="13962888" y="5455920"/>
            <a:ext cx="73152" cy="1539240"/>
          </a:xfrm>
          <a:prstGeom prst="rect">
            <a:avLst/>
          </a:prstGeom>
          <a:solidFill>
            <a:srgbClr val="000000"/>
          </a:solidFill>
          <a:ln w="12700">
            <a:solidFill>
              <a:srgbClr val="000000"/>
            </a:solidFill>
            <a:prstDash val="solid"/>
          </a:ln>
        </p:spPr>
      </p:sp>
      <p:sp>
        <p:nvSpPr>
          <p:cNvPr id="24" name="Shape 22"/>
          <p:cNvSpPr/>
          <p:nvPr/>
        </p:nvSpPr>
        <p:spPr>
          <a:xfrm>
            <a:off x="12938760" y="5657088"/>
            <a:ext cx="713232" cy="484632"/>
          </a:xfrm>
          <a:prstGeom prst="rect">
            <a:avLst/>
          </a:prstGeom>
          <a:solidFill>
            <a:srgbClr val="000000"/>
          </a:solidFill>
          <a:ln w="12700">
            <a:solidFill>
              <a:srgbClr val="000000"/>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جـ</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جعل تنمية القدرات الوطنية وتطويرها مشروعاً مستقبلياً للدولة، بما يعزز جاهزيتها وقدرتها على تحقيق أهدافها.</a:t>
            </a:r>
            <a:endParaRPr lang="ar-JO" sz="2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الثاني · المصالح الأساسية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المصالح الأساسية — من (د) إلى (و)</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٢–٣ | ٢/ب/٢</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05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٤٥ ثانية</a:t>
            </a:r>
            <a:endParaRPr lang="ar-JO" sz="1100" dirty="0"/>
          </a:p>
        </p:txBody>
      </p:sp>
      <p:sp>
        <p:nvSpPr>
          <p:cNvPr id="11" name="Shape 9"/>
          <p:cNvSpPr/>
          <p:nvPr/>
        </p:nvSpPr>
        <p:spPr>
          <a:xfrm>
            <a:off x="594360" y="7653528"/>
            <a:ext cx="2168013" cy="32004"/>
          </a:xfrm>
          <a:prstGeom prst="rect">
            <a:avLst/>
          </a:prstGeom>
          <a:solidFill>
            <a:srgbClr val="000000"/>
          </a:solidFill>
          <a:ln w="12700">
            <a:solidFill>
              <a:srgbClr val="000000"/>
            </a:solidFill>
            <a:prstDash val="solid"/>
          </a:ln>
        </p:spPr>
      </p:sp>
      <p:sp>
        <p:nvSpPr>
          <p:cNvPr id="12" name="Shape 10"/>
          <p:cNvSpPr/>
          <p:nvPr/>
        </p:nvSpPr>
        <p:spPr>
          <a:xfrm>
            <a:off x="594360" y="2103120"/>
            <a:ext cx="13441680" cy="1539240"/>
          </a:xfrm>
          <a:prstGeom prst="rect">
            <a:avLst/>
          </a:prstGeom>
          <a:solidFill>
            <a:srgbClr val="FFFFFF"/>
          </a:solidFill>
          <a:ln w="7620">
            <a:solidFill>
              <a:srgbClr val="000000"/>
            </a:solidFill>
            <a:prstDash val="solid"/>
          </a:ln>
        </p:spPr>
      </p:sp>
      <p:sp>
        <p:nvSpPr>
          <p:cNvPr id="13" name="Shape 11"/>
          <p:cNvSpPr/>
          <p:nvPr/>
        </p:nvSpPr>
        <p:spPr>
          <a:xfrm>
            <a:off x="13962888" y="2103120"/>
            <a:ext cx="73152" cy="1539240"/>
          </a:xfrm>
          <a:prstGeom prst="rect">
            <a:avLst/>
          </a:prstGeom>
          <a:solidFill>
            <a:srgbClr val="000000"/>
          </a:solidFill>
          <a:ln w="12700">
            <a:solidFill>
              <a:srgbClr val="000000"/>
            </a:solidFill>
            <a:prstDash val="solid"/>
          </a:ln>
        </p:spPr>
      </p:sp>
      <p:sp>
        <p:nvSpPr>
          <p:cNvPr id="14" name="Shape 12"/>
          <p:cNvSpPr/>
          <p:nvPr/>
        </p:nvSpPr>
        <p:spPr>
          <a:xfrm>
            <a:off x="12938760" y="2304288"/>
            <a:ext cx="713232" cy="484632"/>
          </a:xfrm>
          <a:prstGeom prst="rect">
            <a:avLst/>
          </a:prstGeom>
          <a:solidFill>
            <a:srgbClr val="000000"/>
          </a:solidFill>
          <a:ln w="12700">
            <a:solidFill>
              <a:srgbClr val="000000"/>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د</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إدامة وحدة الجبهة الداخلية وصلابتها، وصون النسيج الوطني القائم على الوسطية والاعتدال واحترام حرية الأديان.</a:t>
            </a:r>
            <a:endParaRPr lang="ar-JO" sz="2300" dirty="0"/>
          </a:p>
        </p:txBody>
      </p:sp>
      <p:sp>
        <p:nvSpPr>
          <p:cNvPr id="17" name="Shape 15"/>
          <p:cNvSpPr/>
          <p:nvPr/>
        </p:nvSpPr>
        <p:spPr>
          <a:xfrm>
            <a:off x="594360" y="3779520"/>
            <a:ext cx="13441680" cy="1539240"/>
          </a:xfrm>
          <a:prstGeom prst="rect">
            <a:avLst/>
          </a:prstGeom>
          <a:solidFill>
            <a:srgbClr val="FFFFFF"/>
          </a:solidFill>
          <a:ln w="7620">
            <a:solidFill>
              <a:srgbClr val="000000"/>
            </a:solidFill>
            <a:prstDash val="solid"/>
          </a:ln>
        </p:spPr>
      </p:sp>
      <p:sp>
        <p:nvSpPr>
          <p:cNvPr id="18" name="Shape 16"/>
          <p:cNvSpPr/>
          <p:nvPr/>
        </p:nvSpPr>
        <p:spPr>
          <a:xfrm>
            <a:off x="13962888" y="3779520"/>
            <a:ext cx="73152" cy="1539240"/>
          </a:xfrm>
          <a:prstGeom prst="rect">
            <a:avLst/>
          </a:prstGeom>
          <a:solidFill>
            <a:srgbClr val="000000"/>
          </a:solidFill>
          <a:ln w="12700">
            <a:solidFill>
              <a:srgbClr val="000000"/>
            </a:solidFill>
            <a:prstDash val="solid"/>
          </a:ln>
        </p:spPr>
      </p:sp>
      <p:sp>
        <p:nvSpPr>
          <p:cNvPr id="19" name="Shape 17"/>
          <p:cNvSpPr/>
          <p:nvPr/>
        </p:nvSpPr>
        <p:spPr>
          <a:xfrm>
            <a:off x="12938760" y="3980688"/>
            <a:ext cx="713232" cy="484632"/>
          </a:xfrm>
          <a:prstGeom prst="rect">
            <a:avLst/>
          </a:prstGeom>
          <a:solidFill>
            <a:srgbClr val="000000"/>
          </a:solidFill>
          <a:ln w="12700">
            <a:solidFill>
              <a:srgbClr val="000000"/>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هـ</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مواصلة تنفيذ رؤية التحديث الاقتصادي الشاملة، بالاستناد إلى مسارات التحديث السياسي والاقتصادي والاجتماعي والإداري، حتى بلوغ النتائج المستهدفة.</a:t>
            </a:r>
            <a:endParaRPr lang="ar-JO" sz="2300" dirty="0"/>
          </a:p>
        </p:txBody>
      </p:sp>
      <p:sp>
        <p:nvSpPr>
          <p:cNvPr id="22" name="Shape 20"/>
          <p:cNvSpPr/>
          <p:nvPr/>
        </p:nvSpPr>
        <p:spPr>
          <a:xfrm>
            <a:off x="594360" y="5455920"/>
            <a:ext cx="13441680" cy="1539240"/>
          </a:xfrm>
          <a:prstGeom prst="rect">
            <a:avLst/>
          </a:prstGeom>
          <a:solidFill>
            <a:srgbClr val="FFFFFF"/>
          </a:solidFill>
          <a:ln w="7620">
            <a:solidFill>
              <a:srgbClr val="000000"/>
            </a:solidFill>
            <a:prstDash val="solid"/>
          </a:ln>
        </p:spPr>
      </p:sp>
      <p:sp>
        <p:nvSpPr>
          <p:cNvPr id="23" name="Shape 21"/>
          <p:cNvSpPr/>
          <p:nvPr/>
        </p:nvSpPr>
        <p:spPr>
          <a:xfrm>
            <a:off x="13962888" y="5455920"/>
            <a:ext cx="73152" cy="1539240"/>
          </a:xfrm>
          <a:prstGeom prst="rect">
            <a:avLst/>
          </a:prstGeom>
          <a:solidFill>
            <a:srgbClr val="000000"/>
          </a:solidFill>
          <a:ln w="12700">
            <a:solidFill>
              <a:srgbClr val="000000"/>
            </a:solidFill>
            <a:prstDash val="solid"/>
          </a:ln>
        </p:spPr>
      </p:sp>
      <p:sp>
        <p:nvSpPr>
          <p:cNvPr id="24" name="Shape 22"/>
          <p:cNvSpPr/>
          <p:nvPr/>
        </p:nvSpPr>
        <p:spPr>
          <a:xfrm>
            <a:off x="12938760" y="5657088"/>
            <a:ext cx="713232" cy="484632"/>
          </a:xfrm>
          <a:prstGeom prst="rect">
            <a:avLst/>
          </a:prstGeom>
          <a:solidFill>
            <a:srgbClr val="000000"/>
          </a:solidFill>
          <a:ln w="12700">
            <a:solidFill>
              <a:srgbClr val="000000"/>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و</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توثيق العمل العربي المشترك وتعزيز الروابط مع دول الإقليم لمواجهة التهديدات الإقليمية، مع توظيف مكانة الأردن مركزاً للتجارة والصناعة والتكنولوجيا.</a:t>
            </a:r>
            <a:endParaRPr lang="ar-JO" sz="2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الثاني · المصالح الأساسية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المصالح الأساسية — من (ز) إلى (ط)</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٢–٣ | ٢/ب/٢</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06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٤٥ ثانية</a:t>
            </a:r>
            <a:endParaRPr lang="ar-JO" sz="1100" dirty="0"/>
          </a:p>
        </p:txBody>
      </p:sp>
      <p:sp>
        <p:nvSpPr>
          <p:cNvPr id="11" name="Shape 9"/>
          <p:cNvSpPr/>
          <p:nvPr/>
        </p:nvSpPr>
        <p:spPr>
          <a:xfrm>
            <a:off x="594360" y="7653528"/>
            <a:ext cx="2601615" cy="32004"/>
          </a:xfrm>
          <a:prstGeom prst="rect">
            <a:avLst/>
          </a:prstGeom>
          <a:solidFill>
            <a:srgbClr val="000000"/>
          </a:solidFill>
          <a:ln w="12700">
            <a:solidFill>
              <a:srgbClr val="000000"/>
            </a:solidFill>
            <a:prstDash val="solid"/>
          </a:ln>
        </p:spPr>
      </p:sp>
      <p:sp>
        <p:nvSpPr>
          <p:cNvPr id="12" name="Shape 10"/>
          <p:cNvSpPr/>
          <p:nvPr/>
        </p:nvSpPr>
        <p:spPr>
          <a:xfrm>
            <a:off x="594360" y="2103120"/>
            <a:ext cx="13441680" cy="1539240"/>
          </a:xfrm>
          <a:prstGeom prst="rect">
            <a:avLst/>
          </a:prstGeom>
          <a:solidFill>
            <a:srgbClr val="FFFFFF"/>
          </a:solidFill>
          <a:ln w="7620">
            <a:solidFill>
              <a:srgbClr val="000000"/>
            </a:solidFill>
            <a:prstDash val="solid"/>
          </a:ln>
        </p:spPr>
      </p:sp>
      <p:sp>
        <p:nvSpPr>
          <p:cNvPr id="13" name="Shape 11"/>
          <p:cNvSpPr/>
          <p:nvPr/>
        </p:nvSpPr>
        <p:spPr>
          <a:xfrm>
            <a:off x="13962888" y="2103120"/>
            <a:ext cx="73152" cy="1539240"/>
          </a:xfrm>
          <a:prstGeom prst="rect">
            <a:avLst/>
          </a:prstGeom>
          <a:solidFill>
            <a:srgbClr val="000000"/>
          </a:solidFill>
          <a:ln w="12700">
            <a:solidFill>
              <a:srgbClr val="000000"/>
            </a:solidFill>
            <a:prstDash val="solid"/>
          </a:ln>
        </p:spPr>
      </p:sp>
      <p:sp>
        <p:nvSpPr>
          <p:cNvPr id="14" name="Shape 12"/>
          <p:cNvSpPr/>
          <p:nvPr/>
        </p:nvSpPr>
        <p:spPr>
          <a:xfrm>
            <a:off x="12938760" y="2304288"/>
            <a:ext cx="713232" cy="484632"/>
          </a:xfrm>
          <a:prstGeom prst="rect">
            <a:avLst/>
          </a:prstGeom>
          <a:solidFill>
            <a:srgbClr val="000000"/>
          </a:solidFill>
          <a:ln w="12700">
            <a:solidFill>
              <a:srgbClr val="000000"/>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ز</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بلورة موقف دولي مساند لأمن سوريا وسيادتها ووحدة أراضيها، وبما يتيح عودة اللاجئين بصورة طوعية.</a:t>
            </a:r>
            <a:endParaRPr lang="ar-JO" sz="2300" dirty="0"/>
          </a:p>
        </p:txBody>
      </p:sp>
      <p:sp>
        <p:nvSpPr>
          <p:cNvPr id="17" name="Shape 15"/>
          <p:cNvSpPr/>
          <p:nvPr/>
        </p:nvSpPr>
        <p:spPr>
          <a:xfrm>
            <a:off x="594360" y="3779520"/>
            <a:ext cx="13441680" cy="1539240"/>
          </a:xfrm>
          <a:prstGeom prst="rect">
            <a:avLst/>
          </a:prstGeom>
          <a:solidFill>
            <a:srgbClr val="FFFFFF"/>
          </a:solidFill>
          <a:ln w="7620">
            <a:solidFill>
              <a:srgbClr val="000000"/>
            </a:solidFill>
            <a:prstDash val="solid"/>
          </a:ln>
        </p:spPr>
      </p:sp>
      <p:sp>
        <p:nvSpPr>
          <p:cNvPr id="18" name="Shape 16"/>
          <p:cNvSpPr/>
          <p:nvPr/>
        </p:nvSpPr>
        <p:spPr>
          <a:xfrm>
            <a:off x="13962888" y="3779520"/>
            <a:ext cx="73152" cy="1539240"/>
          </a:xfrm>
          <a:prstGeom prst="rect">
            <a:avLst/>
          </a:prstGeom>
          <a:solidFill>
            <a:srgbClr val="000000"/>
          </a:solidFill>
          <a:ln w="12700">
            <a:solidFill>
              <a:srgbClr val="000000"/>
            </a:solidFill>
            <a:prstDash val="solid"/>
          </a:ln>
        </p:spPr>
      </p:sp>
      <p:sp>
        <p:nvSpPr>
          <p:cNvPr id="19" name="Shape 17"/>
          <p:cNvSpPr/>
          <p:nvPr/>
        </p:nvSpPr>
        <p:spPr>
          <a:xfrm>
            <a:off x="12938760" y="3980688"/>
            <a:ext cx="713232" cy="484632"/>
          </a:xfrm>
          <a:prstGeom prst="rect">
            <a:avLst/>
          </a:prstGeom>
          <a:solidFill>
            <a:srgbClr val="000000"/>
          </a:solidFill>
          <a:ln w="12700">
            <a:solidFill>
              <a:srgbClr val="000000"/>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ح</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الحفاظ على الاستقرار الاقتصادي وحماية المنعة الاقتصادية وتسريع التنمية والنمو.</a:t>
            </a:r>
            <a:endParaRPr lang="ar-JO" sz="2300" dirty="0"/>
          </a:p>
        </p:txBody>
      </p:sp>
      <p:sp>
        <p:nvSpPr>
          <p:cNvPr id="22" name="Shape 20"/>
          <p:cNvSpPr/>
          <p:nvPr/>
        </p:nvSpPr>
        <p:spPr>
          <a:xfrm>
            <a:off x="594360" y="5455920"/>
            <a:ext cx="13441680" cy="1539240"/>
          </a:xfrm>
          <a:prstGeom prst="rect">
            <a:avLst/>
          </a:prstGeom>
          <a:solidFill>
            <a:srgbClr val="FFFFFF"/>
          </a:solidFill>
          <a:ln w="7620">
            <a:solidFill>
              <a:srgbClr val="000000"/>
            </a:solidFill>
            <a:prstDash val="solid"/>
          </a:ln>
        </p:spPr>
      </p:sp>
      <p:sp>
        <p:nvSpPr>
          <p:cNvPr id="23" name="Shape 21"/>
          <p:cNvSpPr/>
          <p:nvPr/>
        </p:nvSpPr>
        <p:spPr>
          <a:xfrm>
            <a:off x="13962888" y="5455920"/>
            <a:ext cx="73152" cy="1539240"/>
          </a:xfrm>
          <a:prstGeom prst="rect">
            <a:avLst/>
          </a:prstGeom>
          <a:solidFill>
            <a:srgbClr val="000000"/>
          </a:solidFill>
          <a:ln w="12700">
            <a:solidFill>
              <a:srgbClr val="000000"/>
            </a:solidFill>
            <a:prstDash val="solid"/>
          </a:ln>
        </p:spPr>
      </p:sp>
      <p:sp>
        <p:nvSpPr>
          <p:cNvPr id="24" name="Shape 22"/>
          <p:cNvSpPr/>
          <p:nvPr/>
        </p:nvSpPr>
        <p:spPr>
          <a:xfrm>
            <a:off x="12938760" y="5657088"/>
            <a:ext cx="713232" cy="484632"/>
          </a:xfrm>
          <a:prstGeom prst="rect">
            <a:avLst/>
          </a:prstGeom>
          <a:solidFill>
            <a:srgbClr val="000000"/>
          </a:solidFill>
          <a:ln w="12700">
            <a:solidFill>
              <a:srgbClr val="000000"/>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ط</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العمل على تعزيز القيم الوطنية والمجتمعية واحترام سيادة القانون ضمن الدولة المدنية.</a:t>
            </a:r>
            <a:endParaRPr lang="ar-JO" sz="2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الثاني · المصالح الأساسية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المصالح الأساسية — من (ي) إلى (ل)</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٢–٣ | ٢/ب/٢</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07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٤٥ ثانية</a:t>
            </a:r>
            <a:endParaRPr lang="ar-JO" sz="1100" dirty="0"/>
          </a:p>
        </p:txBody>
      </p:sp>
      <p:sp>
        <p:nvSpPr>
          <p:cNvPr id="11" name="Shape 9"/>
          <p:cNvSpPr/>
          <p:nvPr/>
        </p:nvSpPr>
        <p:spPr>
          <a:xfrm>
            <a:off x="594360" y="7653528"/>
            <a:ext cx="3035218" cy="32004"/>
          </a:xfrm>
          <a:prstGeom prst="rect">
            <a:avLst/>
          </a:prstGeom>
          <a:solidFill>
            <a:srgbClr val="000000"/>
          </a:solidFill>
          <a:ln w="12700">
            <a:solidFill>
              <a:srgbClr val="000000"/>
            </a:solidFill>
            <a:prstDash val="solid"/>
          </a:ln>
        </p:spPr>
      </p:sp>
      <p:sp>
        <p:nvSpPr>
          <p:cNvPr id="12" name="Shape 10"/>
          <p:cNvSpPr/>
          <p:nvPr/>
        </p:nvSpPr>
        <p:spPr>
          <a:xfrm>
            <a:off x="594360" y="2103120"/>
            <a:ext cx="13441680" cy="1539240"/>
          </a:xfrm>
          <a:prstGeom prst="rect">
            <a:avLst/>
          </a:prstGeom>
          <a:solidFill>
            <a:srgbClr val="FFFFFF"/>
          </a:solidFill>
          <a:ln w="7620">
            <a:solidFill>
              <a:srgbClr val="000000"/>
            </a:solidFill>
            <a:prstDash val="solid"/>
          </a:ln>
        </p:spPr>
      </p:sp>
      <p:sp>
        <p:nvSpPr>
          <p:cNvPr id="13" name="Shape 11"/>
          <p:cNvSpPr/>
          <p:nvPr/>
        </p:nvSpPr>
        <p:spPr>
          <a:xfrm>
            <a:off x="13962888" y="2103120"/>
            <a:ext cx="73152" cy="1539240"/>
          </a:xfrm>
          <a:prstGeom prst="rect">
            <a:avLst/>
          </a:prstGeom>
          <a:solidFill>
            <a:srgbClr val="000000"/>
          </a:solidFill>
          <a:ln w="12700">
            <a:solidFill>
              <a:srgbClr val="000000"/>
            </a:solidFill>
            <a:prstDash val="solid"/>
          </a:ln>
        </p:spPr>
      </p:sp>
      <p:sp>
        <p:nvSpPr>
          <p:cNvPr id="14" name="Shape 12"/>
          <p:cNvSpPr/>
          <p:nvPr/>
        </p:nvSpPr>
        <p:spPr>
          <a:xfrm>
            <a:off x="12938760" y="2304288"/>
            <a:ext cx="713232" cy="484632"/>
          </a:xfrm>
          <a:prstGeom prst="rect">
            <a:avLst/>
          </a:prstGeom>
          <a:solidFill>
            <a:srgbClr val="000000"/>
          </a:solidFill>
          <a:ln w="12700">
            <a:solidFill>
              <a:srgbClr val="000000"/>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ي</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ترسيخ أسس العدالة والنزاهة وصيانة الحقوق في مختلف مؤسسات الدولة.</a:t>
            </a:r>
            <a:endParaRPr lang="ar-JO" sz="2300" dirty="0"/>
          </a:p>
        </p:txBody>
      </p:sp>
      <p:sp>
        <p:nvSpPr>
          <p:cNvPr id="17" name="Shape 15"/>
          <p:cNvSpPr/>
          <p:nvPr/>
        </p:nvSpPr>
        <p:spPr>
          <a:xfrm>
            <a:off x="594360" y="3779520"/>
            <a:ext cx="13441680" cy="1539240"/>
          </a:xfrm>
          <a:prstGeom prst="rect">
            <a:avLst/>
          </a:prstGeom>
          <a:solidFill>
            <a:srgbClr val="FFFFFF"/>
          </a:solidFill>
          <a:ln w="7620">
            <a:solidFill>
              <a:srgbClr val="000000"/>
            </a:solidFill>
            <a:prstDash val="solid"/>
          </a:ln>
        </p:spPr>
      </p:sp>
      <p:sp>
        <p:nvSpPr>
          <p:cNvPr id="18" name="Shape 16"/>
          <p:cNvSpPr/>
          <p:nvPr/>
        </p:nvSpPr>
        <p:spPr>
          <a:xfrm>
            <a:off x="13962888" y="3779520"/>
            <a:ext cx="73152" cy="1539240"/>
          </a:xfrm>
          <a:prstGeom prst="rect">
            <a:avLst/>
          </a:prstGeom>
          <a:solidFill>
            <a:srgbClr val="000000"/>
          </a:solidFill>
          <a:ln w="12700">
            <a:solidFill>
              <a:srgbClr val="000000"/>
            </a:solidFill>
            <a:prstDash val="solid"/>
          </a:ln>
        </p:spPr>
      </p:sp>
      <p:sp>
        <p:nvSpPr>
          <p:cNvPr id="19" name="Shape 17"/>
          <p:cNvSpPr/>
          <p:nvPr/>
        </p:nvSpPr>
        <p:spPr>
          <a:xfrm>
            <a:off x="12938760" y="3980688"/>
            <a:ext cx="713232" cy="484632"/>
          </a:xfrm>
          <a:prstGeom prst="rect">
            <a:avLst/>
          </a:prstGeom>
          <a:solidFill>
            <a:srgbClr val="000000"/>
          </a:solidFill>
          <a:ln w="12700">
            <a:solidFill>
              <a:srgbClr val="000000"/>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ك</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مواصلة حمل أمانة الوصاية الهاشمية، وصون الوضع التاريخي والقانوني للمقدسات الإسلامية والمسيحية في القدس.</a:t>
            </a:r>
            <a:endParaRPr lang="ar-JO" sz="2300" dirty="0"/>
          </a:p>
        </p:txBody>
      </p:sp>
      <p:sp>
        <p:nvSpPr>
          <p:cNvPr id="22" name="Shape 20"/>
          <p:cNvSpPr/>
          <p:nvPr/>
        </p:nvSpPr>
        <p:spPr>
          <a:xfrm>
            <a:off x="594360" y="5455920"/>
            <a:ext cx="13441680" cy="1539240"/>
          </a:xfrm>
          <a:prstGeom prst="rect">
            <a:avLst/>
          </a:prstGeom>
          <a:solidFill>
            <a:srgbClr val="FFFFFF"/>
          </a:solidFill>
          <a:ln w="7620">
            <a:solidFill>
              <a:srgbClr val="000000"/>
            </a:solidFill>
            <a:prstDash val="solid"/>
          </a:ln>
        </p:spPr>
      </p:sp>
      <p:sp>
        <p:nvSpPr>
          <p:cNvPr id="23" name="Shape 21"/>
          <p:cNvSpPr/>
          <p:nvPr/>
        </p:nvSpPr>
        <p:spPr>
          <a:xfrm>
            <a:off x="13962888" y="5455920"/>
            <a:ext cx="73152" cy="1539240"/>
          </a:xfrm>
          <a:prstGeom prst="rect">
            <a:avLst/>
          </a:prstGeom>
          <a:solidFill>
            <a:srgbClr val="000000"/>
          </a:solidFill>
          <a:ln w="12700">
            <a:solidFill>
              <a:srgbClr val="000000"/>
            </a:solidFill>
            <a:prstDash val="solid"/>
          </a:ln>
        </p:spPr>
      </p:sp>
      <p:sp>
        <p:nvSpPr>
          <p:cNvPr id="24" name="Shape 22"/>
          <p:cNvSpPr/>
          <p:nvPr/>
        </p:nvSpPr>
        <p:spPr>
          <a:xfrm>
            <a:off x="12938760" y="5657088"/>
            <a:ext cx="713232" cy="484632"/>
          </a:xfrm>
          <a:prstGeom prst="rect">
            <a:avLst/>
          </a:prstGeom>
          <a:solidFill>
            <a:srgbClr val="000000"/>
          </a:solidFill>
          <a:ln w="12700">
            <a:solidFill>
              <a:srgbClr val="000000"/>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ل</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توسيع قاعدة الشراكات الاستراتيجية والمحافظة على استدامتها مع التكتلات الاقتصادية الكبرى، وفي مقدمتها جمهورية الصين الشعبية.</a:t>
            </a:r>
            <a:endParaRPr lang="ar-JO" sz="2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الثاني · المصالح الأساسية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المصالح الأساسية — من (م) إلى (ن)</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٢–٣ | ٢/ب/٢</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08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٤٥ ثانية</a:t>
            </a:r>
            <a:endParaRPr lang="ar-JO" sz="1100" dirty="0"/>
          </a:p>
        </p:txBody>
      </p:sp>
      <p:sp>
        <p:nvSpPr>
          <p:cNvPr id="11" name="Shape 9"/>
          <p:cNvSpPr/>
          <p:nvPr/>
        </p:nvSpPr>
        <p:spPr>
          <a:xfrm>
            <a:off x="594360" y="7653528"/>
            <a:ext cx="3468821" cy="32004"/>
          </a:xfrm>
          <a:prstGeom prst="rect">
            <a:avLst/>
          </a:prstGeom>
          <a:solidFill>
            <a:srgbClr val="000000"/>
          </a:solidFill>
          <a:ln w="12700">
            <a:solidFill>
              <a:srgbClr val="000000"/>
            </a:solidFill>
            <a:prstDash val="solid"/>
          </a:ln>
        </p:spPr>
      </p:sp>
      <p:sp>
        <p:nvSpPr>
          <p:cNvPr id="12" name="Shape 10"/>
          <p:cNvSpPr/>
          <p:nvPr/>
        </p:nvSpPr>
        <p:spPr>
          <a:xfrm>
            <a:off x="594360" y="2103120"/>
            <a:ext cx="13441680" cy="2377440"/>
          </a:xfrm>
          <a:prstGeom prst="rect">
            <a:avLst/>
          </a:prstGeom>
          <a:solidFill>
            <a:srgbClr val="FFFFFF"/>
          </a:solidFill>
          <a:ln w="7620">
            <a:solidFill>
              <a:srgbClr val="000000"/>
            </a:solidFill>
            <a:prstDash val="solid"/>
          </a:ln>
        </p:spPr>
      </p:sp>
      <p:sp>
        <p:nvSpPr>
          <p:cNvPr id="13" name="Shape 11"/>
          <p:cNvSpPr/>
          <p:nvPr/>
        </p:nvSpPr>
        <p:spPr>
          <a:xfrm>
            <a:off x="13962888" y="2103120"/>
            <a:ext cx="73152" cy="2377440"/>
          </a:xfrm>
          <a:prstGeom prst="rect">
            <a:avLst/>
          </a:prstGeom>
          <a:solidFill>
            <a:srgbClr val="000000"/>
          </a:solidFill>
          <a:ln w="12700">
            <a:solidFill>
              <a:srgbClr val="000000"/>
            </a:solidFill>
            <a:prstDash val="solid"/>
          </a:ln>
        </p:spPr>
      </p:sp>
      <p:sp>
        <p:nvSpPr>
          <p:cNvPr id="14" name="Shape 12"/>
          <p:cNvSpPr/>
          <p:nvPr/>
        </p:nvSpPr>
        <p:spPr>
          <a:xfrm>
            <a:off x="12938760" y="2304288"/>
            <a:ext cx="713232" cy="484632"/>
          </a:xfrm>
          <a:prstGeom prst="rect">
            <a:avLst/>
          </a:prstGeom>
          <a:solidFill>
            <a:srgbClr val="000000"/>
          </a:solidFill>
          <a:ln w="12700">
            <a:solidFill>
              <a:srgbClr val="000000"/>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م</a:t>
            </a:r>
            <a:endParaRPr lang="ar-JO" sz="1800" dirty="0"/>
          </a:p>
        </p:txBody>
      </p:sp>
      <p:sp>
        <p:nvSpPr>
          <p:cNvPr id="16" name="Text 14"/>
          <p:cNvSpPr/>
          <p:nvPr/>
        </p:nvSpPr>
        <p:spPr>
          <a:xfrm>
            <a:off x="932688" y="2240280"/>
            <a:ext cx="11612880" cy="21031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المحافظة على ديمومة العلاقات الاستراتيجية مع الولايات المتحدة الأمريكية وتطوير التعاون معها في مختلف المجالات.</a:t>
            </a:r>
            <a:endParaRPr lang="ar-JO" sz="2300" dirty="0"/>
          </a:p>
        </p:txBody>
      </p:sp>
      <p:sp>
        <p:nvSpPr>
          <p:cNvPr id="17" name="Shape 15"/>
          <p:cNvSpPr/>
          <p:nvPr/>
        </p:nvSpPr>
        <p:spPr>
          <a:xfrm>
            <a:off x="594360" y="4617720"/>
            <a:ext cx="13441680" cy="2377440"/>
          </a:xfrm>
          <a:prstGeom prst="rect">
            <a:avLst/>
          </a:prstGeom>
          <a:solidFill>
            <a:srgbClr val="FFFFFF"/>
          </a:solidFill>
          <a:ln w="7620">
            <a:solidFill>
              <a:srgbClr val="000000"/>
            </a:solidFill>
            <a:prstDash val="solid"/>
          </a:ln>
        </p:spPr>
      </p:sp>
      <p:sp>
        <p:nvSpPr>
          <p:cNvPr id="18" name="Shape 16"/>
          <p:cNvSpPr/>
          <p:nvPr/>
        </p:nvSpPr>
        <p:spPr>
          <a:xfrm>
            <a:off x="13962888" y="4617720"/>
            <a:ext cx="73152" cy="2377440"/>
          </a:xfrm>
          <a:prstGeom prst="rect">
            <a:avLst/>
          </a:prstGeom>
          <a:solidFill>
            <a:srgbClr val="000000"/>
          </a:solidFill>
          <a:ln w="12700">
            <a:solidFill>
              <a:srgbClr val="000000"/>
            </a:solidFill>
            <a:prstDash val="solid"/>
          </a:ln>
        </p:spPr>
      </p:sp>
      <p:sp>
        <p:nvSpPr>
          <p:cNvPr id="19" name="Shape 17"/>
          <p:cNvSpPr/>
          <p:nvPr/>
        </p:nvSpPr>
        <p:spPr>
          <a:xfrm>
            <a:off x="12938760" y="4818888"/>
            <a:ext cx="713232" cy="484632"/>
          </a:xfrm>
          <a:prstGeom prst="rect">
            <a:avLst/>
          </a:prstGeom>
          <a:solidFill>
            <a:srgbClr val="000000"/>
          </a:solidFill>
          <a:ln w="12700">
            <a:solidFill>
              <a:srgbClr val="000000"/>
            </a:solidFill>
            <a:prstDash val="solid"/>
          </a:ln>
        </p:spPr>
      </p:sp>
      <p:sp>
        <p:nvSpPr>
          <p:cNvPr id="20" name="Text 18"/>
          <p:cNvSpPr/>
          <p:nvPr/>
        </p:nvSpPr>
        <p:spPr>
          <a:xfrm>
            <a:off x="12938760" y="48188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ن</a:t>
            </a:r>
            <a:endParaRPr lang="ar-JO" sz="1800" dirty="0"/>
          </a:p>
        </p:txBody>
      </p:sp>
      <p:sp>
        <p:nvSpPr>
          <p:cNvPr id="21" name="Text 19"/>
          <p:cNvSpPr/>
          <p:nvPr/>
        </p:nvSpPr>
        <p:spPr>
          <a:xfrm>
            <a:off x="932688" y="4754880"/>
            <a:ext cx="11612880" cy="21031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توسيع آفاق الانفتاح السياسي واستعداد الأردن والتزامه بمواقفه للتفاعل مع جميع دول العالم والمنظمات الدولية للوصول إلى الأمن والسلم الدوليين.</a:t>
            </a:r>
            <a:endParaRPr lang="ar-JO" sz="2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الثاني · المصالح الثانوية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المصالح الثانوية — من (أ) إلى (ج)</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٣–٤ | ٢/ب/٣</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09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٤٥ ثانية</a:t>
            </a:r>
            <a:endParaRPr lang="ar-JO" sz="1100" dirty="0"/>
          </a:p>
        </p:txBody>
      </p:sp>
      <p:sp>
        <p:nvSpPr>
          <p:cNvPr id="11" name="Shape 9"/>
          <p:cNvSpPr/>
          <p:nvPr/>
        </p:nvSpPr>
        <p:spPr>
          <a:xfrm>
            <a:off x="594360" y="7653528"/>
            <a:ext cx="3902423" cy="32004"/>
          </a:xfrm>
          <a:prstGeom prst="rect">
            <a:avLst/>
          </a:prstGeom>
          <a:solidFill>
            <a:srgbClr val="000000"/>
          </a:solidFill>
          <a:ln w="12700">
            <a:solidFill>
              <a:srgbClr val="000000"/>
            </a:solidFill>
            <a:prstDash val="solid"/>
          </a:ln>
        </p:spPr>
      </p:sp>
      <p:sp>
        <p:nvSpPr>
          <p:cNvPr id="12" name="Shape 10"/>
          <p:cNvSpPr/>
          <p:nvPr/>
        </p:nvSpPr>
        <p:spPr>
          <a:xfrm>
            <a:off x="594360" y="2103120"/>
            <a:ext cx="13441680" cy="1539240"/>
          </a:xfrm>
          <a:prstGeom prst="rect">
            <a:avLst/>
          </a:prstGeom>
          <a:solidFill>
            <a:srgbClr val="FFFFFF"/>
          </a:solidFill>
          <a:ln w="7620">
            <a:solidFill>
              <a:srgbClr val="000000"/>
            </a:solidFill>
            <a:prstDash val="solid"/>
          </a:ln>
        </p:spPr>
      </p:sp>
      <p:sp>
        <p:nvSpPr>
          <p:cNvPr id="13" name="Shape 11"/>
          <p:cNvSpPr/>
          <p:nvPr/>
        </p:nvSpPr>
        <p:spPr>
          <a:xfrm>
            <a:off x="13962888" y="2103120"/>
            <a:ext cx="73152" cy="1539240"/>
          </a:xfrm>
          <a:prstGeom prst="rect">
            <a:avLst/>
          </a:prstGeom>
          <a:solidFill>
            <a:srgbClr val="000000"/>
          </a:solidFill>
          <a:ln w="12700">
            <a:solidFill>
              <a:srgbClr val="000000"/>
            </a:solidFill>
            <a:prstDash val="solid"/>
          </a:ln>
        </p:spPr>
      </p:sp>
      <p:sp>
        <p:nvSpPr>
          <p:cNvPr id="14" name="Shape 12"/>
          <p:cNvSpPr/>
          <p:nvPr/>
        </p:nvSpPr>
        <p:spPr>
          <a:xfrm>
            <a:off x="12938760" y="2304288"/>
            <a:ext cx="713232" cy="484632"/>
          </a:xfrm>
          <a:prstGeom prst="rect">
            <a:avLst/>
          </a:prstGeom>
          <a:solidFill>
            <a:srgbClr val="000000"/>
          </a:solidFill>
          <a:ln w="12700">
            <a:solidFill>
              <a:srgbClr val="000000"/>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أ</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زيادة كثافة الجهود وتهيئة البيئة الحاضنة والممكنة للاستثمار ليكون الأساس لتمويل المشاريع والبنى الاقتصادية.</a:t>
            </a:r>
            <a:endParaRPr lang="ar-JO" sz="2300" dirty="0"/>
          </a:p>
        </p:txBody>
      </p:sp>
      <p:sp>
        <p:nvSpPr>
          <p:cNvPr id="17" name="Shape 15"/>
          <p:cNvSpPr/>
          <p:nvPr/>
        </p:nvSpPr>
        <p:spPr>
          <a:xfrm>
            <a:off x="594360" y="3779520"/>
            <a:ext cx="13441680" cy="1539240"/>
          </a:xfrm>
          <a:prstGeom prst="rect">
            <a:avLst/>
          </a:prstGeom>
          <a:solidFill>
            <a:srgbClr val="FFFFFF"/>
          </a:solidFill>
          <a:ln w="7620">
            <a:solidFill>
              <a:srgbClr val="000000"/>
            </a:solidFill>
            <a:prstDash val="solid"/>
          </a:ln>
        </p:spPr>
      </p:sp>
      <p:sp>
        <p:nvSpPr>
          <p:cNvPr id="18" name="Shape 16"/>
          <p:cNvSpPr/>
          <p:nvPr/>
        </p:nvSpPr>
        <p:spPr>
          <a:xfrm>
            <a:off x="13962888" y="3779520"/>
            <a:ext cx="73152" cy="1539240"/>
          </a:xfrm>
          <a:prstGeom prst="rect">
            <a:avLst/>
          </a:prstGeom>
          <a:solidFill>
            <a:srgbClr val="000000"/>
          </a:solidFill>
          <a:ln w="12700">
            <a:solidFill>
              <a:srgbClr val="000000"/>
            </a:solidFill>
            <a:prstDash val="solid"/>
          </a:ln>
        </p:spPr>
      </p:sp>
      <p:sp>
        <p:nvSpPr>
          <p:cNvPr id="19" name="Shape 17"/>
          <p:cNvSpPr/>
          <p:nvPr/>
        </p:nvSpPr>
        <p:spPr>
          <a:xfrm>
            <a:off x="12938760" y="3980688"/>
            <a:ext cx="713232" cy="484632"/>
          </a:xfrm>
          <a:prstGeom prst="rect">
            <a:avLst/>
          </a:prstGeom>
          <a:solidFill>
            <a:srgbClr val="000000"/>
          </a:solidFill>
          <a:ln w="12700">
            <a:solidFill>
              <a:srgbClr val="000000"/>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ب</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جعل الأردن مركزاً إقليمياً ودولياً متقدماً ومنافساً في المنطقة عبر الاستثمارات الدولية والعربية.</a:t>
            </a:r>
            <a:endParaRPr lang="ar-JO" sz="2300" dirty="0"/>
          </a:p>
        </p:txBody>
      </p:sp>
      <p:sp>
        <p:nvSpPr>
          <p:cNvPr id="22" name="Shape 20"/>
          <p:cNvSpPr/>
          <p:nvPr/>
        </p:nvSpPr>
        <p:spPr>
          <a:xfrm>
            <a:off x="594360" y="5455920"/>
            <a:ext cx="13441680" cy="1539240"/>
          </a:xfrm>
          <a:prstGeom prst="rect">
            <a:avLst/>
          </a:prstGeom>
          <a:solidFill>
            <a:srgbClr val="FFFFFF"/>
          </a:solidFill>
          <a:ln w="7620">
            <a:solidFill>
              <a:srgbClr val="000000"/>
            </a:solidFill>
            <a:prstDash val="solid"/>
          </a:ln>
        </p:spPr>
      </p:sp>
      <p:sp>
        <p:nvSpPr>
          <p:cNvPr id="23" name="Shape 21"/>
          <p:cNvSpPr/>
          <p:nvPr/>
        </p:nvSpPr>
        <p:spPr>
          <a:xfrm>
            <a:off x="13962888" y="5455920"/>
            <a:ext cx="73152" cy="1539240"/>
          </a:xfrm>
          <a:prstGeom prst="rect">
            <a:avLst/>
          </a:prstGeom>
          <a:solidFill>
            <a:srgbClr val="000000"/>
          </a:solidFill>
          <a:ln w="12700">
            <a:solidFill>
              <a:srgbClr val="000000"/>
            </a:solidFill>
            <a:prstDash val="solid"/>
          </a:ln>
        </p:spPr>
      </p:sp>
      <p:sp>
        <p:nvSpPr>
          <p:cNvPr id="24" name="Shape 22"/>
          <p:cNvSpPr/>
          <p:nvPr/>
        </p:nvSpPr>
        <p:spPr>
          <a:xfrm>
            <a:off x="12938760" y="5657088"/>
            <a:ext cx="713232" cy="484632"/>
          </a:xfrm>
          <a:prstGeom prst="rect">
            <a:avLst/>
          </a:prstGeom>
          <a:solidFill>
            <a:srgbClr val="000000"/>
          </a:solidFill>
          <a:ln w="12700">
            <a:solidFill>
              <a:srgbClr val="000000"/>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ج</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السعي إلى تطوير الإدارة العامة لتحسين الخدمات ومواكبة الحداثة والتطوير، وترسيخ ثقافة الإنجاز والتميز في المؤسسات الحكومية.</a:t>
            </a:r>
            <a:endParaRPr lang="ar-JO" sz="2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الثاني · المصالح الثانوية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المصالح الثانوية — من (د) إلى (و)</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٣–٤ | ٢/ب/٣</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10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٤٥ ثانية</a:t>
            </a:r>
            <a:endParaRPr lang="ar-JO" sz="1100" dirty="0"/>
          </a:p>
        </p:txBody>
      </p:sp>
      <p:sp>
        <p:nvSpPr>
          <p:cNvPr id="11" name="Shape 9"/>
          <p:cNvSpPr/>
          <p:nvPr/>
        </p:nvSpPr>
        <p:spPr>
          <a:xfrm>
            <a:off x="594360" y="7653528"/>
            <a:ext cx="4336026" cy="32004"/>
          </a:xfrm>
          <a:prstGeom prst="rect">
            <a:avLst/>
          </a:prstGeom>
          <a:solidFill>
            <a:srgbClr val="000000"/>
          </a:solidFill>
          <a:ln w="12700">
            <a:solidFill>
              <a:srgbClr val="000000"/>
            </a:solidFill>
            <a:prstDash val="solid"/>
          </a:ln>
        </p:spPr>
      </p:sp>
      <p:sp>
        <p:nvSpPr>
          <p:cNvPr id="12" name="Shape 10"/>
          <p:cNvSpPr/>
          <p:nvPr/>
        </p:nvSpPr>
        <p:spPr>
          <a:xfrm>
            <a:off x="594360" y="2103120"/>
            <a:ext cx="13441680" cy="1539240"/>
          </a:xfrm>
          <a:prstGeom prst="rect">
            <a:avLst/>
          </a:prstGeom>
          <a:solidFill>
            <a:srgbClr val="FFFFFF"/>
          </a:solidFill>
          <a:ln w="7620">
            <a:solidFill>
              <a:srgbClr val="000000"/>
            </a:solidFill>
            <a:prstDash val="solid"/>
          </a:ln>
        </p:spPr>
      </p:sp>
      <p:sp>
        <p:nvSpPr>
          <p:cNvPr id="13" name="Shape 11"/>
          <p:cNvSpPr/>
          <p:nvPr/>
        </p:nvSpPr>
        <p:spPr>
          <a:xfrm>
            <a:off x="13962888" y="2103120"/>
            <a:ext cx="73152" cy="1539240"/>
          </a:xfrm>
          <a:prstGeom prst="rect">
            <a:avLst/>
          </a:prstGeom>
          <a:solidFill>
            <a:srgbClr val="000000"/>
          </a:solidFill>
          <a:ln w="12700">
            <a:solidFill>
              <a:srgbClr val="000000"/>
            </a:solidFill>
            <a:prstDash val="solid"/>
          </a:ln>
        </p:spPr>
      </p:sp>
      <p:sp>
        <p:nvSpPr>
          <p:cNvPr id="14" name="Shape 12"/>
          <p:cNvSpPr/>
          <p:nvPr/>
        </p:nvSpPr>
        <p:spPr>
          <a:xfrm>
            <a:off x="12938760" y="2304288"/>
            <a:ext cx="713232" cy="484632"/>
          </a:xfrm>
          <a:prstGeom prst="rect">
            <a:avLst/>
          </a:prstGeom>
          <a:solidFill>
            <a:srgbClr val="000000"/>
          </a:solidFill>
          <a:ln w="12700">
            <a:solidFill>
              <a:srgbClr val="000000"/>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د</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تطوير قدرات دائرة الإحصاءات العامة لتكون مرجعاً وطنياً شاملاً للبيانات والمعلومات، يدعم القرار الحكومي الفاعل والشفاف في تحقيق الأهداف.</a:t>
            </a:r>
            <a:endParaRPr lang="ar-JO" sz="2300" dirty="0"/>
          </a:p>
        </p:txBody>
      </p:sp>
      <p:sp>
        <p:nvSpPr>
          <p:cNvPr id="17" name="Shape 15"/>
          <p:cNvSpPr/>
          <p:nvPr/>
        </p:nvSpPr>
        <p:spPr>
          <a:xfrm>
            <a:off x="594360" y="3779520"/>
            <a:ext cx="13441680" cy="1539240"/>
          </a:xfrm>
          <a:prstGeom prst="rect">
            <a:avLst/>
          </a:prstGeom>
          <a:solidFill>
            <a:srgbClr val="FFFFFF"/>
          </a:solidFill>
          <a:ln w="7620">
            <a:solidFill>
              <a:srgbClr val="000000"/>
            </a:solidFill>
            <a:prstDash val="solid"/>
          </a:ln>
        </p:spPr>
      </p:sp>
      <p:sp>
        <p:nvSpPr>
          <p:cNvPr id="18" name="Shape 16"/>
          <p:cNvSpPr/>
          <p:nvPr/>
        </p:nvSpPr>
        <p:spPr>
          <a:xfrm>
            <a:off x="13962888" y="3779520"/>
            <a:ext cx="73152" cy="1539240"/>
          </a:xfrm>
          <a:prstGeom prst="rect">
            <a:avLst/>
          </a:prstGeom>
          <a:solidFill>
            <a:srgbClr val="000000"/>
          </a:solidFill>
          <a:ln w="12700">
            <a:solidFill>
              <a:srgbClr val="000000"/>
            </a:solidFill>
            <a:prstDash val="solid"/>
          </a:ln>
        </p:spPr>
      </p:sp>
      <p:sp>
        <p:nvSpPr>
          <p:cNvPr id="19" name="Shape 17"/>
          <p:cNvSpPr/>
          <p:nvPr/>
        </p:nvSpPr>
        <p:spPr>
          <a:xfrm>
            <a:off x="12938760" y="3980688"/>
            <a:ext cx="713232" cy="484632"/>
          </a:xfrm>
          <a:prstGeom prst="rect">
            <a:avLst/>
          </a:prstGeom>
          <a:solidFill>
            <a:srgbClr val="000000"/>
          </a:solidFill>
          <a:ln w="12700">
            <a:solidFill>
              <a:srgbClr val="000000"/>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هـ</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إظهار التنوع الثقافي والانفتاح الأردني، مع احتضان المواهب الأدبية والفكرية ورعاية إبداعها.</a:t>
            </a:r>
            <a:endParaRPr lang="ar-JO" sz="2300" dirty="0"/>
          </a:p>
        </p:txBody>
      </p:sp>
      <p:sp>
        <p:nvSpPr>
          <p:cNvPr id="22" name="Shape 20"/>
          <p:cNvSpPr/>
          <p:nvPr/>
        </p:nvSpPr>
        <p:spPr>
          <a:xfrm>
            <a:off x="594360" y="5455920"/>
            <a:ext cx="13441680" cy="1539240"/>
          </a:xfrm>
          <a:prstGeom prst="rect">
            <a:avLst/>
          </a:prstGeom>
          <a:solidFill>
            <a:srgbClr val="FFFFFF"/>
          </a:solidFill>
          <a:ln w="7620">
            <a:solidFill>
              <a:srgbClr val="000000"/>
            </a:solidFill>
            <a:prstDash val="solid"/>
          </a:ln>
        </p:spPr>
      </p:sp>
      <p:sp>
        <p:nvSpPr>
          <p:cNvPr id="23" name="Shape 21"/>
          <p:cNvSpPr/>
          <p:nvPr/>
        </p:nvSpPr>
        <p:spPr>
          <a:xfrm>
            <a:off x="13962888" y="5455920"/>
            <a:ext cx="73152" cy="1539240"/>
          </a:xfrm>
          <a:prstGeom prst="rect">
            <a:avLst/>
          </a:prstGeom>
          <a:solidFill>
            <a:srgbClr val="000000"/>
          </a:solidFill>
          <a:ln w="12700">
            <a:solidFill>
              <a:srgbClr val="000000"/>
            </a:solidFill>
            <a:prstDash val="solid"/>
          </a:ln>
        </p:spPr>
      </p:sp>
      <p:sp>
        <p:nvSpPr>
          <p:cNvPr id="24" name="Shape 22"/>
          <p:cNvSpPr/>
          <p:nvPr/>
        </p:nvSpPr>
        <p:spPr>
          <a:xfrm>
            <a:off x="12938760" y="5657088"/>
            <a:ext cx="713232" cy="484632"/>
          </a:xfrm>
          <a:prstGeom prst="rect">
            <a:avLst/>
          </a:prstGeom>
          <a:solidFill>
            <a:srgbClr val="000000"/>
          </a:solidFill>
          <a:ln w="12700">
            <a:solidFill>
              <a:srgbClr val="000000"/>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و</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توسيع آفاق الانفتاح على دول العالم والمنظمات الدولية، والتفاعل معها وتبادل الخبرات والتعاون في ميادين شتى لتطوير قدرات الدولة الأردنية وتقديم الخدمات الفضلى للأردنيين في الوطن وحول العالم.</a:t>
            </a:r>
            <a:endParaRPr lang="ar-JO" sz="2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الثاني · المصالح الثانوية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المصالح الثانوية — من (ز) إلى (ط)</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٣–٤ | ٢/ب/٣</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11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٤٥ ثانية</a:t>
            </a:r>
            <a:endParaRPr lang="ar-JO" sz="1100" dirty="0"/>
          </a:p>
        </p:txBody>
      </p:sp>
      <p:sp>
        <p:nvSpPr>
          <p:cNvPr id="11" name="Shape 9"/>
          <p:cNvSpPr/>
          <p:nvPr/>
        </p:nvSpPr>
        <p:spPr>
          <a:xfrm>
            <a:off x="594360" y="7653528"/>
            <a:ext cx="4769628" cy="32004"/>
          </a:xfrm>
          <a:prstGeom prst="rect">
            <a:avLst/>
          </a:prstGeom>
          <a:solidFill>
            <a:srgbClr val="000000"/>
          </a:solidFill>
          <a:ln w="12700">
            <a:solidFill>
              <a:srgbClr val="000000"/>
            </a:solidFill>
            <a:prstDash val="solid"/>
          </a:ln>
        </p:spPr>
      </p:sp>
      <p:sp>
        <p:nvSpPr>
          <p:cNvPr id="12" name="Shape 10"/>
          <p:cNvSpPr/>
          <p:nvPr/>
        </p:nvSpPr>
        <p:spPr>
          <a:xfrm>
            <a:off x="594360" y="2103120"/>
            <a:ext cx="13441680" cy="1539240"/>
          </a:xfrm>
          <a:prstGeom prst="rect">
            <a:avLst/>
          </a:prstGeom>
          <a:solidFill>
            <a:srgbClr val="FFFFFF"/>
          </a:solidFill>
          <a:ln w="7620">
            <a:solidFill>
              <a:srgbClr val="000000"/>
            </a:solidFill>
            <a:prstDash val="solid"/>
          </a:ln>
        </p:spPr>
      </p:sp>
      <p:sp>
        <p:nvSpPr>
          <p:cNvPr id="13" name="Shape 11"/>
          <p:cNvSpPr/>
          <p:nvPr/>
        </p:nvSpPr>
        <p:spPr>
          <a:xfrm>
            <a:off x="13962888" y="2103120"/>
            <a:ext cx="73152" cy="1539240"/>
          </a:xfrm>
          <a:prstGeom prst="rect">
            <a:avLst/>
          </a:prstGeom>
          <a:solidFill>
            <a:srgbClr val="000000"/>
          </a:solidFill>
          <a:ln w="12700">
            <a:solidFill>
              <a:srgbClr val="000000"/>
            </a:solidFill>
            <a:prstDash val="solid"/>
          </a:ln>
        </p:spPr>
      </p:sp>
      <p:sp>
        <p:nvSpPr>
          <p:cNvPr id="14" name="Shape 12"/>
          <p:cNvSpPr/>
          <p:nvPr/>
        </p:nvSpPr>
        <p:spPr>
          <a:xfrm>
            <a:off x="12938760" y="2304288"/>
            <a:ext cx="713232" cy="484632"/>
          </a:xfrm>
          <a:prstGeom prst="rect">
            <a:avLst/>
          </a:prstGeom>
          <a:solidFill>
            <a:srgbClr val="000000"/>
          </a:solidFill>
          <a:ln w="12700">
            <a:solidFill>
              <a:srgbClr val="000000"/>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ز</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فتح أسواق جديدة أمام القطاع الصناعي، وتوظيف الاتفاقيات الاقتصادية والتجارية التي تربط الأردن مع دول العالم، ومن المهم استكشاف الأسواق الناشئة لتعزيز تصدير المنتجات والخدمات الأردنية.</a:t>
            </a:r>
            <a:endParaRPr lang="ar-JO" sz="2300" dirty="0"/>
          </a:p>
        </p:txBody>
      </p:sp>
      <p:sp>
        <p:nvSpPr>
          <p:cNvPr id="17" name="Shape 15"/>
          <p:cNvSpPr/>
          <p:nvPr/>
        </p:nvSpPr>
        <p:spPr>
          <a:xfrm>
            <a:off x="594360" y="3779520"/>
            <a:ext cx="13441680" cy="1539240"/>
          </a:xfrm>
          <a:prstGeom prst="rect">
            <a:avLst/>
          </a:prstGeom>
          <a:solidFill>
            <a:srgbClr val="FFFFFF"/>
          </a:solidFill>
          <a:ln w="7620">
            <a:solidFill>
              <a:srgbClr val="000000"/>
            </a:solidFill>
            <a:prstDash val="solid"/>
          </a:ln>
        </p:spPr>
      </p:sp>
      <p:sp>
        <p:nvSpPr>
          <p:cNvPr id="18" name="Shape 16"/>
          <p:cNvSpPr/>
          <p:nvPr/>
        </p:nvSpPr>
        <p:spPr>
          <a:xfrm>
            <a:off x="13962888" y="3779520"/>
            <a:ext cx="73152" cy="1539240"/>
          </a:xfrm>
          <a:prstGeom prst="rect">
            <a:avLst/>
          </a:prstGeom>
          <a:solidFill>
            <a:srgbClr val="000000"/>
          </a:solidFill>
          <a:ln w="12700">
            <a:solidFill>
              <a:srgbClr val="000000"/>
            </a:solidFill>
            <a:prstDash val="solid"/>
          </a:ln>
        </p:spPr>
      </p:sp>
      <p:sp>
        <p:nvSpPr>
          <p:cNvPr id="19" name="Shape 17"/>
          <p:cNvSpPr/>
          <p:nvPr/>
        </p:nvSpPr>
        <p:spPr>
          <a:xfrm>
            <a:off x="12938760" y="3980688"/>
            <a:ext cx="713232" cy="484632"/>
          </a:xfrm>
          <a:prstGeom prst="rect">
            <a:avLst/>
          </a:prstGeom>
          <a:solidFill>
            <a:srgbClr val="000000"/>
          </a:solidFill>
          <a:ln w="12700">
            <a:solidFill>
              <a:srgbClr val="000000"/>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ح</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العمل من أجل منطقة شرق أوسط خالية من أسلحة الدمار الشامل.</a:t>
            </a:r>
            <a:endParaRPr lang="ar-JO" sz="2300" dirty="0"/>
          </a:p>
        </p:txBody>
      </p:sp>
      <p:sp>
        <p:nvSpPr>
          <p:cNvPr id="22" name="Shape 20"/>
          <p:cNvSpPr/>
          <p:nvPr/>
        </p:nvSpPr>
        <p:spPr>
          <a:xfrm>
            <a:off x="594360" y="5455920"/>
            <a:ext cx="13441680" cy="1539240"/>
          </a:xfrm>
          <a:prstGeom prst="rect">
            <a:avLst/>
          </a:prstGeom>
          <a:solidFill>
            <a:srgbClr val="FFFFFF"/>
          </a:solidFill>
          <a:ln w="7620">
            <a:solidFill>
              <a:srgbClr val="000000"/>
            </a:solidFill>
            <a:prstDash val="solid"/>
          </a:ln>
        </p:spPr>
      </p:sp>
      <p:sp>
        <p:nvSpPr>
          <p:cNvPr id="23" name="Shape 21"/>
          <p:cNvSpPr/>
          <p:nvPr/>
        </p:nvSpPr>
        <p:spPr>
          <a:xfrm>
            <a:off x="13962888" y="5455920"/>
            <a:ext cx="73152" cy="1539240"/>
          </a:xfrm>
          <a:prstGeom prst="rect">
            <a:avLst/>
          </a:prstGeom>
          <a:solidFill>
            <a:srgbClr val="000000"/>
          </a:solidFill>
          <a:ln w="12700">
            <a:solidFill>
              <a:srgbClr val="000000"/>
            </a:solidFill>
            <a:prstDash val="solid"/>
          </a:ln>
        </p:spPr>
      </p:sp>
      <p:sp>
        <p:nvSpPr>
          <p:cNvPr id="24" name="Shape 22"/>
          <p:cNvSpPr/>
          <p:nvPr/>
        </p:nvSpPr>
        <p:spPr>
          <a:xfrm>
            <a:off x="12938760" y="5657088"/>
            <a:ext cx="713232" cy="484632"/>
          </a:xfrm>
          <a:prstGeom prst="rect">
            <a:avLst/>
          </a:prstGeom>
          <a:solidFill>
            <a:srgbClr val="000000"/>
          </a:solidFill>
          <a:ln w="12700">
            <a:solidFill>
              <a:srgbClr val="000000"/>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ط</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السعي نحو تدعيم الأمن الغذائي ومواجهة التغيرات المناخية.</a:t>
            </a:r>
            <a:endParaRPr lang="ar-JO" sz="2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الثالث</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٣. الأهداف الوطنية — أ. المفهوم العام</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٤ | ٣/أ</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12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دقيقة ونصف</a:t>
            </a:r>
            <a:endParaRPr lang="ar-JO" sz="1100" dirty="0"/>
          </a:p>
        </p:txBody>
      </p:sp>
      <p:sp>
        <p:nvSpPr>
          <p:cNvPr id="11" name="Shape 9"/>
          <p:cNvSpPr/>
          <p:nvPr/>
        </p:nvSpPr>
        <p:spPr>
          <a:xfrm>
            <a:off x="594360" y="7653528"/>
            <a:ext cx="5203231" cy="32004"/>
          </a:xfrm>
          <a:prstGeom prst="rect">
            <a:avLst/>
          </a:prstGeom>
          <a:solidFill>
            <a:srgbClr val="000000"/>
          </a:solidFill>
          <a:ln w="12700">
            <a:solidFill>
              <a:srgbClr val="000000"/>
            </a:solidFill>
            <a:prstDash val="solid"/>
          </a:ln>
        </p:spPr>
      </p:sp>
      <p:sp>
        <p:nvSpPr>
          <p:cNvPr id="12" name="Text 10"/>
          <p:cNvSpPr/>
          <p:nvPr/>
        </p:nvSpPr>
        <p:spPr>
          <a:xfrm>
            <a:off x="960120" y="2304288"/>
            <a:ext cx="12664440" cy="2240280"/>
          </a:xfrm>
          <a:prstGeom prst="rect">
            <a:avLst/>
          </a:prstGeom>
          <a:noFill/>
          <a:ln/>
        </p:spPr>
        <p:txBody>
          <a:bodyPr wrap="square" lIns="0" tIns="0" rIns="0" bIns="0" rtlCol="0" anchor="ctr"/>
          <a:lstStyle/>
          <a:p>
            <a:pPr rtl="1" algn="r" indent="0" marL="0">
              <a:lnSpc>
                <a:spcPct val="115000"/>
              </a:lnSpc>
              <a:buNone/>
            </a:pPr>
            <a:r>
              <a:rPr lang="ar-JO" altLang="en-US" sz="2700" dirty="0">
                <a:solidFill>
                  <a:srgbClr val="000000"/>
                </a:solidFill>
                <a:latin typeface="Noto Sans Arabic" pitchFamily="34" charset="0"/>
                <a:ea typeface="Noto Sans Arabic" pitchFamily="34" charset="-122"/>
                <a:cs typeface="Noto Sans Arabic" pitchFamily="34" charset="-120"/>
              </a:rPr>
              <a:t>تُترجم المصالح الوطنية إلى أهداف وطنية ذات مضمون سياسي واستراتيجي قابل للتنفيذ والتقييم. وترتبط هذه الأهداف بطبيعة المرحلة ومتطلباتها وبسقوف زمنية وأولويات واضحة، بما يحول المصالح من غايات عامة إلى نتائج عملية مستهدفة.</a:t>
            </a:r>
            <a:endParaRPr lang="ar-JO" sz="2700" dirty="0"/>
          </a:p>
        </p:txBody>
      </p:sp>
      <p:sp>
        <p:nvSpPr>
          <p:cNvPr id="13" name="Shape 11"/>
          <p:cNvSpPr/>
          <p:nvPr/>
        </p:nvSpPr>
        <p:spPr>
          <a:xfrm>
            <a:off x="9784080" y="5257800"/>
            <a:ext cx="3803904" cy="1216152"/>
          </a:xfrm>
          <a:prstGeom prst="rect">
            <a:avLst/>
          </a:prstGeom>
          <a:solidFill>
            <a:srgbClr val="FFFFFF"/>
          </a:solidFill>
          <a:ln w="12700">
            <a:solidFill>
              <a:srgbClr val="FFFFFF"/>
            </a:solidFill>
            <a:prstDash val="solid"/>
          </a:ln>
        </p:spPr>
      </p:sp>
      <p:sp>
        <p:nvSpPr>
          <p:cNvPr id="14" name="Text 12"/>
          <p:cNvSpPr/>
          <p:nvPr/>
        </p:nvSpPr>
        <p:spPr>
          <a:xfrm>
            <a:off x="9966960" y="5449824"/>
            <a:ext cx="3438144" cy="822960"/>
          </a:xfrm>
          <a:prstGeom prst="rect">
            <a:avLst/>
          </a:prstGeom>
          <a:noFill/>
          <a:ln/>
        </p:spPr>
        <p:txBody>
          <a:bodyPr wrap="square" lIns="0" tIns="0" rIns="0" bIns="0" rtlCol="0" anchor="ctr"/>
          <a:lstStyle/>
          <a:p>
            <a:pPr rtl="1" algn="ctr" indent="0" marL="0">
              <a:buNone/>
            </a:pPr>
            <a:r>
              <a:rPr lang="ar-JO" altLang="en-US" sz="2100" b="1" dirty="0">
                <a:solidFill>
                  <a:srgbClr val="000000"/>
                </a:solidFill>
                <a:latin typeface="Noto Sans Arabic" pitchFamily="34" charset="0"/>
                <a:ea typeface="Noto Sans Arabic" pitchFamily="34" charset="-122"/>
                <a:cs typeface="Noto Sans Arabic" pitchFamily="34" charset="-120"/>
              </a:rPr>
              <a:t>قابلية التنفيذ والتقييم</a:t>
            </a:r>
            <a:endParaRPr lang="ar-JO" sz="2100" dirty="0"/>
          </a:p>
        </p:txBody>
      </p:sp>
      <p:sp>
        <p:nvSpPr>
          <p:cNvPr id="15" name="Shape 13"/>
          <p:cNvSpPr/>
          <p:nvPr/>
        </p:nvSpPr>
        <p:spPr>
          <a:xfrm>
            <a:off x="5623560" y="5257800"/>
            <a:ext cx="3803904" cy="1216152"/>
          </a:xfrm>
          <a:prstGeom prst="rect">
            <a:avLst/>
          </a:prstGeom>
          <a:solidFill>
            <a:srgbClr val="FFFFFF"/>
          </a:solidFill>
          <a:ln w="12700">
            <a:solidFill>
              <a:srgbClr val="FFFFFF"/>
            </a:solidFill>
            <a:prstDash val="solid"/>
          </a:ln>
        </p:spPr>
      </p:sp>
      <p:sp>
        <p:nvSpPr>
          <p:cNvPr id="16" name="Text 14"/>
          <p:cNvSpPr/>
          <p:nvPr/>
        </p:nvSpPr>
        <p:spPr>
          <a:xfrm>
            <a:off x="5806440" y="5449824"/>
            <a:ext cx="3438144" cy="822960"/>
          </a:xfrm>
          <a:prstGeom prst="rect">
            <a:avLst/>
          </a:prstGeom>
          <a:noFill/>
          <a:ln/>
        </p:spPr>
        <p:txBody>
          <a:bodyPr wrap="square" lIns="0" tIns="0" rIns="0" bIns="0" rtlCol="0" anchor="ctr"/>
          <a:lstStyle/>
          <a:p>
            <a:pPr rtl="1" algn="ctr" indent="0" marL="0">
              <a:buNone/>
            </a:pPr>
            <a:r>
              <a:rPr lang="ar-JO" altLang="en-US" sz="2100" b="1" dirty="0">
                <a:solidFill>
                  <a:srgbClr val="000000"/>
                </a:solidFill>
                <a:latin typeface="Noto Sans Arabic" pitchFamily="34" charset="0"/>
                <a:ea typeface="Noto Sans Arabic" pitchFamily="34" charset="-122"/>
                <a:cs typeface="Noto Sans Arabic" pitchFamily="34" charset="-120"/>
              </a:rPr>
              <a:t>سقوف زمنية</a:t>
            </a:r>
            <a:endParaRPr lang="ar-JO" sz="2100" dirty="0"/>
          </a:p>
        </p:txBody>
      </p:sp>
      <p:sp>
        <p:nvSpPr>
          <p:cNvPr id="17" name="Shape 15"/>
          <p:cNvSpPr/>
          <p:nvPr/>
        </p:nvSpPr>
        <p:spPr>
          <a:xfrm>
            <a:off x="1463040" y="5257800"/>
            <a:ext cx="3803904" cy="1216152"/>
          </a:xfrm>
          <a:prstGeom prst="rect">
            <a:avLst/>
          </a:prstGeom>
          <a:solidFill>
            <a:srgbClr val="FFFFFF"/>
          </a:solidFill>
          <a:ln w="12700">
            <a:solidFill>
              <a:srgbClr val="FFFFFF"/>
            </a:solidFill>
            <a:prstDash val="solid"/>
          </a:ln>
        </p:spPr>
      </p:sp>
      <p:sp>
        <p:nvSpPr>
          <p:cNvPr id="18" name="Text 16"/>
          <p:cNvSpPr/>
          <p:nvPr/>
        </p:nvSpPr>
        <p:spPr>
          <a:xfrm>
            <a:off x="1645920" y="5449824"/>
            <a:ext cx="3438144" cy="822960"/>
          </a:xfrm>
          <a:prstGeom prst="rect">
            <a:avLst/>
          </a:prstGeom>
          <a:noFill/>
          <a:ln/>
        </p:spPr>
        <p:txBody>
          <a:bodyPr wrap="square" lIns="0" tIns="0" rIns="0" bIns="0" rtlCol="0" anchor="ctr"/>
          <a:lstStyle/>
          <a:p>
            <a:pPr rtl="1" algn="ctr" indent="0" marL="0">
              <a:buNone/>
            </a:pPr>
            <a:r>
              <a:rPr lang="ar-JO" altLang="en-US" sz="2100" b="1" dirty="0">
                <a:solidFill>
                  <a:srgbClr val="000000"/>
                </a:solidFill>
                <a:latin typeface="Noto Sans Arabic" pitchFamily="34" charset="0"/>
                <a:ea typeface="Noto Sans Arabic" pitchFamily="34" charset="-122"/>
                <a:cs typeface="Noto Sans Arabic" pitchFamily="34" charset="-120"/>
              </a:rPr>
              <a:t>أولويات واضحة</a:t>
            </a:r>
            <a:endParaRPr lang="ar-JO" sz="2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الثالث · الأهداف الوطنية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الأهداف الوطنية — من (1) إلى (3)</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4 | ٣/ب | الأهداف 1–3</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13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5636834" cy="32004"/>
          </a:xfrm>
          <a:prstGeom prst="rect">
            <a:avLst/>
          </a:prstGeom>
          <a:solidFill>
            <a:srgbClr val="000000"/>
          </a:solidFill>
          <a:ln w="12700">
            <a:solidFill>
              <a:srgbClr val="000000"/>
            </a:solidFill>
            <a:prstDash val="solid"/>
          </a:ln>
        </p:spPr>
      </p:sp>
      <p:sp>
        <p:nvSpPr>
          <p:cNvPr id="12" name="Shape 10"/>
          <p:cNvSpPr/>
          <p:nvPr/>
        </p:nvSpPr>
        <p:spPr>
          <a:xfrm>
            <a:off x="594360" y="2103120"/>
            <a:ext cx="13441680" cy="1539240"/>
          </a:xfrm>
          <a:prstGeom prst="rect">
            <a:avLst/>
          </a:prstGeom>
          <a:solidFill>
            <a:srgbClr val="FFFFFF"/>
          </a:solidFill>
          <a:ln w="7620">
            <a:solidFill>
              <a:srgbClr val="000000"/>
            </a:solidFill>
            <a:prstDash val="solid"/>
          </a:ln>
        </p:spPr>
      </p:sp>
      <p:sp>
        <p:nvSpPr>
          <p:cNvPr id="13" name="Shape 11"/>
          <p:cNvSpPr/>
          <p:nvPr/>
        </p:nvSpPr>
        <p:spPr>
          <a:xfrm>
            <a:off x="13962888" y="2103120"/>
            <a:ext cx="73152" cy="1539240"/>
          </a:xfrm>
          <a:prstGeom prst="rect">
            <a:avLst/>
          </a:prstGeom>
          <a:solidFill>
            <a:srgbClr val="000000"/>
          </a:solidFill>
          <a:ln w="12700">
            <a:solidFill>
              <a:srgbClr val="000000"/>
            </a:solidFill>
            <a:prstDash val="solid"/>
          </a:ln>
        </p:spPr>
      </p:sp>
      <p:sp>
        <p:nvSpPr>
          <p:cNvPr id="14" name="Shape 12"/>
          <p:cNvSpPr/>
          <p:nvPr/>
        </p:nvSpPr>
        <p:spPr>
          <a:xfrm>
            <a:off x="12938760" y="2304288"/>
            <a:ext cx="713232" cy="484632"/>
          </a:xfrm>
          <a:prstGeom prst="rect">
            <a:avLst/>
          </a:prstGeom>
          <a:solidFill>
            <a:srgbClr val="000000"/>
          </a:solidFill>
          <a:ln w="12700">
            <a:solidFill>
              <a:srgbClr val="000000"/>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1</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تقديم مختلف أشكال الدعم والمساندة لأشقائنا في فلسطين حتى الحصول على كامل حقوقهم المشروعة عبر التوصل إلى تسوية سلمية للصراع العربي الإسرائيلي.</a:t>
            </a:r>
            <a:endParaRPr lang="ar-JO" sz="2300" dirty="0"/>
          </a:p>
        </p:txBody>
      </p:sp>
      <p:sp>
        <p:nvSpPr>
          <p:cNvPr id="17" name="Shape 15"/>
          <p:cNvSpPr/>
          <p:nvPr/>
        </p:nvSpPr>
        <p:spPr>
          <a:xfrm>
            <a:off x="594360" y="3779520"/>
            <a:ext cx="13441680" cy="1539240"/>
          </a:xfrm>
          <a:prstGeom prst="rect">
            <a:avLst/>
          </a:prstGeom>
          <a:solidFill>
            <a:srgbClr val="FFFFFF"/>
          </a:solidFill>
          <a:ln w="7620">
            <a:solidFill>
              <a:srgbClr val="000000"/>
            </a:solidFill>
            <a:prstDash val="solid"/>
          </a:ln>
        </p:spPr>
      </p:sp>
      <p:sp>
        <p:nvSpPr>
          <p:cNvPr id="18" name="Shape 16"/>
          <p:cNvSpPr/>
          <p:nvPr/>
        </p:nvSpPr>
        <p:spPr>
          <a:xfrm>
            <a:off x="13962888" y="3779520"/>
            <a:ext cx="73152" cy="1539240"/>
          </a:xfrm>
          <a:prstGeom prst="rect">
            <a:avLst/>
          </a:prstGeom>
          <a:solidFill>
            <a:srgbClr val="000000"/>
          </a:solidFill>
          <a:ln w="12700">
            <a:solidFill>
              <a:srgbClr val="000000"/>
            </a:solidFill>
            <a:prstDash val="solid"/>
          </a:ln>
        </p:spPr>
      </p:sp>
      <p:sp>
        <p:nvSpPr>
          <p:cNvPr id="19" name="Shape 17"/>
          <p:cNvSpPr/>
          <p:nvPr/>
        </p:nvSpPr>
        <p:spPr>
          <a:xfrm>
            <a:off x="12938760" y="3980688"/>
            <a:ext cx="713232" cy="484632"/>
          </a:xfrm>
          <a:prstGeom prst="rect">
            <a:avLst/>
          </a:prstGeom>
          <a:solidFill>
            <a:srgbClr val="000000"/>
          </a:solidFill>
          <a:ln w="12700">
            <a:solidFill>
              <a:srgbClr val="000000"/>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2</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رفع كفاءة وتحديث جاهزية القوات المسلحة الأردنية والأجهزة الأمنية بما يواكب التطورات الجديدة.</a:t>
            </a:r>
            <a:endParaRPr lang="ar-JO" sz="2300" dirty="0"/>
          </a:p>
        </p:txBody>
      </p:sp>
      <p:sp>
        <p:nvSpPr>
          <p:cNvPr id="22" name="Shape 20"/>
          <p:cNvSpPr/>
          <p:nvPr/>
        </p:nvSpPr>
        <p:spPr>
          <a:xfrm>
            <a:off x="594360" y="5455920"/>
            <a:ext cx="13441680" cy="1539240"/>
          </a:xfrm>
          <a:prstGeom prst="rect">
            <a:avLst/>
          </a:prstGeom>
          <a:solidFill>
            <a:srgbClr val="FFFFFF"/>
          </a:solidFill>
          <a:ln w="7620">
            <a:solidFill>
              <a:srgbClr val="000000"/>
            </a:solidFill>
            <a:prstDash val="solid"/>
          </a:ln>
        </p:spPr>
      </p:sp>
      <p:sp>
        <p:nvSpPr>
          <p:cNvPr id="23" name="Shape 21"/>
          <p:cNvSpPr/>
          <p:nvPr/>
        </p:nvSpPr>
        <p:spPr>
          <a:xfrm>
            <a:off x="13962888" y="5455920"/>
            <a:ext cx="73152" cy="1539240"/>
          </a:xfrm>
          <a:prstGeom prst="rect">
            <a:avLst/>
          </a:prstGeom>
          <a:solidFill>
            <a:srgbClr val="000000"/>
          </a:solidFill>
          <a:ln w="12700">
            <a:solidFill>
              <a:srgbClr val="000000"/>
            </a:solidFill>
            <a:prstDash val="solid"/>
          </a:ln>
        </p:spPr>
      </p:sp>
      <p:sp>
        <p:nvSpPr>
          <p:cNvPr id="24" name="Shape 22"/>
          <p:cNvSpPr/>
          <p:nvPr/>
        </p:nvSpPr>
        <p:spPr>
          <a:xfrm>
            <a:off x="12938760" y="5657088"/>
            <a:ext cx="713232" cy="484632"/>
          </a:xfrm>
          <a:prstGeom prst="rect">
            <a:avLst/>
          </a:prstGeom>
          <a:solidFill>
            <a:srgbClr val="000000"/>
          </a:solidFill>
          <a:ln w="12700">
            <a:solidFill>
              <a:srgbClr val="000000"/>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3</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استكمال برامج التحديث الوطنية المختلفة من أجل صون الأمن الوطني.</a:t>
            </a:r>
            <a:endParaRPr lang="ar-JO" sz="2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الثالث · الأهداف الوطنية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الأهداف الوطنية — من (4) إلى (6)</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4–5 | ٣/ب | الأهداف 4–6</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14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6070436" cy="32004"/>
          </a:xfrm>
          <a:prstGeom prst="rect">
            <a:avLst/>
          </a:prstGeom>
          <a:solidFill>
            <a:srgbClr val="000000"/>
          </a:solidFill>
          <a:ln w="12700">
            <a:solidFill>
              <a:srgbClr val="000000"/>
            </a:solidFill>
            <a:prstDash val="solid"/>
          </a:ln>
        </p:spPr>
      </p:sp>
      <p:sp>
        <p:nvSpPr>
          <p:cNvPr id="12" name="Shape 10"/>
          <p:cNvSpPr/>
          <p:nvPr/>
        </p:nvSpPr>
        <p:spPr>
          <a:xfrm>
            <a:off x="594360" y="2103120"/>
            <a:ext cx="13441680" cy="1539240"/>
          </a:xfrm>
          <a:prstGeom prst="rect">
            <a:avLst/>
          </a:prstGeom>
          <a:solidFill>
            <a:srgbClr val="FFFFFF"/>
          </a:solidFill>
          <a:ln w="7620">
            <a:solidFill>
              <a:srgbClr val="000000"/>
            </a:solidFill>
            <a:prstDash val="solid"/>
          </a:ln>
        </p:spPr>
      </p:sp>
      <p:sp>
        <p:nvSpPr>
          <p:cNvPr id="13" name="Shape 11"/>
          <p:cNvSpPr/>
          <p:nvPr/>
        </p:nvSpPr>
        <p:spPr>
          <a:xfrm>
            <a:off x="13962888" y="2103120"/>
            <a:ext cx="73152" cy="1539240"/>
          </a:xfrm>
          <a:prstGeom prst="rect">
            <a:avLst/>
          </a:prstGeom>
          <a:solidFill>
            <a:srgbClr val="000000"/>
          </a:solidFill>
          <a:ln w="12700">
            <a:solidFill>
              <a:srgbClr val="000000"/>
            </a:solidFill>
            <a:prstDash val="solid"/>
          </a:ln>
        </p:spPr>
      </p:sp>
      <p:sp>
        <p:nvSpPr>
          <p:cNvPr id="14" name="Shape 12"/>
          <p:cNvSpPr/>
          <p:nvPr/>
        </p:nvSpPr>
        <p:spPr>
          <a:xfrm>
            <a:off x="12938760" y="2304288"/>
            <a:ext cx="713232" cy="484632"/>
          </a:xfrm>
          <a:prstGeom prst="rect">
            <a:avLst/>
          </a:prstGeom>
          <a:solidFill>
            <a:srgbClr val="000000"/>
          </a:solidFill>
          <a:ln w="12700">
            <a:solidFill>
              <a:srgbClr val="000000"/>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4</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زيادة كثافة التواصل الميداني المباشر مع المواطنين والاطلاع على قضاياهم وأولوياتهم، والاستماع إلى آرائهم ومشاركتهم التوجهات والرؤى، بحيث يتم التعامل مع التحديات والاحتياجات والتطلعات وإيجاد الحلول الممكنة والبناء على الفرص المتاحة.</a:t>
            </a:r>
            <a:endParaRPr lang="ar-JO" sz="2300" dirty="0"/>
          </a:p>
        </p:txBody>
      </p:sp>
      <p:sp>
        <p:nvSpPr>
          <p:cNvPr id="17" name="Shape 15"/>
          <p:cNvSpPr/>
          <p:nvPr/>
        </p:nvSpPr>
        <p:spPr>
          <a:xfrm>
            <a:off x="594360" y="3779520"/>
            <a:ext cx="13441680" cy="1539240"/>
          </a:xfrm>
          <a:prstGeom prst="rect">
            <a:avLst/>
          </a:prstGeom>
          <a:solidFill>
            <a:srgbClr val="FFFFFF"/>
          </a:solidFill>
          <a:ln w="7620">
            <a:solidFill>
              <a:srgbClr val="000000"/>
            </a:solidFill>
            <a:prstDash val="solid"/>
          </a:ln>
        </p:spPr>
      </p:sp>
      <p:sp>
        <p:nvSpPr>
          <p:cNvPr id="18" name="Shape 16"/>
          <p:cNvSpPr/>
          <p:nvPr/>
        </p:nvSpPr>
        <p:spPr>
          <a:xfrm>
            <a:off x="13962888" y="3779520"/>
            <a:ext cx="73152" cy="1539240"/>
          </a:xfrm>
          <a:prstGeom prst="rect">
            <a:avLst/>
          </a:prstGeom>
          <a:solidFill>
            <a:srgbClr val="000000"/>
          </a:solidFill>
          <a:ln w="12700">
            <a:solidFill>
              <a:srgbClr val="000000"/>
            </a:solidFill>
            <a:prstDash val="solid"/>
          </a:ln>
        </p:spPr>
      </p:sp>
      <p:sp>
        <p:nvSpPr>
          <p:cNvPr id="19" name="Shape 17"/>
          <p:cNvSpPr/>
          <p:nvPr/>
        </p:nvSpPr>
        <p:spPr>
          <a:xfrm>
            <a:off x="12938760" y="3980688"/>
            <a:ext cx="713232" cy="484632"/>
          </a:xfrm>
          <a:prstGeom prst="rect">
            <a:avLst/>
          </a:prstGeom>
          <a:solidFill>
            <a:srgbClr val="000000"/>
          </a:solidFill>
          <a:ln w="12700">
            <a:solidFill>
              <a:srgbClr val="000000"/>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5</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تعزيز الأمن المائي عبر إطلاق تنفيذ مشروع الناقل الوطني للمياه، وخفض الفاقد المائي، والحد من الاعتداءات على خطوط المياه ومحاسبة المعتدين.</a:t>
            </a:r>
            <a:endParaRPr lang="ar-JO" sz="2300" dirty="0"/>
          </a:p>
        </p:txBody>
      </p:sp>
      <p:sp>
        <p:nvSpPr>
          <p:cNvPr id="22" name="Shape 20"/>
          <p:cNvSpPr/>
          <p:nvPr/>
        </p:nvSpPr>
        <p:spPr>
          <a:xfrm>
            <a:off x="594360" y="5455920"/>
            <a:ext cx="13441680" cy="1539240"/>
          </a:xfrm>
          <a:prstGeom prst="rect">
            <a:avLst/>
          </a:prstGeom>
          <a:solidFill>
            <a:srgbClr val="FFFFFF"/>
          </a:solidFill>
          <a:ln w="7620">
            <a:solidFill>
              <a:srgbClr val="000000"/>
            </a:solidFill>
            <a:prstDash val="solid"/>
          </a:ln>
        </p:spPr>
      </p:sp>
      <p:sp>
        <p:nvSpPr>
          <p:cNvPr id="23" name="Shape 21"/>
          <p:cNvSpPr/>
          <p:nvPr/>
        </p:nvSpPr>
        <p:spPr>
          <a:xfrm>
            <a:off x="13962888" y="5455920"/>
            <a:ext cx="73152" cy="1539240"/>
          </a:xfrm>
          <a:prstGeom prst="rect">
            <a:avLst/>
          </a:prstGeom>
          <a:solidFill>
            <a:srgbClr val="000000"/>
          </a:solidFill>
          <a:ln w="12700">
            <a:solidFill>
              <a:srgbClr val="000000"/>
            </a:solidFill>
            <a:prstDash val="solid"/>
          </a:ln>
        </p:spPr>
      </p:sp>
      <p:sp>
        <p:nvSpPr>
          <p:cNvPr id="24" name="Shape 22"/>
          <p:cNvSpPr/>
          <p:nvPr/>
        </p:nvSpPr>
        <p:spPr>
          <a:xfrm>
            <a:off x="12938760" y="5657088"/>
            <a:ext cx="713232" cy="484632"/>
          </a:xfrm>
          <a:prstGeom prst="rect">
            <a:avLst/>
          </a:prstGeom>
          <a:solidFill>
            <a:srgbClr val="000000"/>
          </a:solidFill>
          <a:ln w="12700">
            <a:solidFill>
              <a:srgbClr val="000000"/>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6</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استدامة الجهود لتدعيم الأمن الغذائي ضمن أطر مؤسسية، وبما يدعم الاعتماد على الذات ومواجهة تقلبات الأسعار والأزمات الإقليمية والدولية.</a:t>
            </a:r>
            <a:endParaRPr lang="ar-JO" sz="2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الثالث · الأهداف الوطنية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الأهداف الوطنية — من (7) إلى (9)</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5 | ٣/ب | الأهداف 7–9</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15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6504039" cy="32004"/>
          </a:xfrm>
          <a:prstGeom prst="rect">
            <a:avLst/>
          </a:prstGeom>
          <a:solidFill>
            <a:srgbClr val="000000"/>
          </a:solidFill>
          <a:ln w="12700">
            <a:solidFill>
              <a:srgbClr val="000000"/>
            </a:solidFill>
            <a:prstDash val="solid"/>
          </a:ln>
        </p:spPr>
      </p:sp>
      <p:sp>
        <p:nvSpPr>
          <p:cNvPr id="12" name="Shape 10"/>
          <p:cNvSpPr/>
          <p:nvPr/>
        </p:nvSpPr>
        <p:spPr>
          <a:xfrm>
            <a:off x="594360" y="2103120"/>
            <a:ext cx="13441680" cy="1539240"/>
          </a:xfrm>
          <a:prstGeom prst="rect">
            <a:avLst/>
          </a:prstGeom>
          <a:solidFill>
            <a:srgbClr val="FFFFFF"/>
          </a:solidFill>
          <a:ln w="7620">
            <a:solidFill>
              <a:srgbClr val="000000"/>
            </a:solidFill>
            <a:prstDash val="solid"/>
          </a:ln>
        </p:spPr>
      </p:sp>
      <p:sp>
        <p:nvSpPr>
          <p:cNvPr id="13" name="Shape 11"/>
          <p:cNvSpPr/>
          <p:nvPr/>
        </p:nvSpPr>
        <p:spPr>
          <a:xfrm>
            <a:off x="13962888" y="2103120"/>
            <a:ext cx="73152" cy="1539240"/>
          </a:xfrm>
          <a:prstGeom prst="rect">
            <a:avLst/>
          </a:prstGeom>
          <a:solidFill>
            <a:srgbClr val="000000"/>
          </a:solidFill>
          <a:ln w="12700">
            <a:solidFill>
              <a:srgbClr val="000000"/>
            </a:solidFill>
            <a:prstDash val="solid"/>
          </a:ln>
        </p:spPr>
      </p:sp>
      <p:sp>
        <p:nvSpPr>
          <p:cNvPr id="14" name="Shape 12"/>
          <p:cNvSpPr/>
          <p:nvPr/>
        </p:nvSpPr>
        <p:spPr>
          <a:xfrm>
            <a:off x="12938760" y="2304288"/>
            <a:ext cx="713232" cy="484632"/>
          </a:xfrm>
          <a:prstGeom prst="rect">
            <a:avLst/>
          </a:prstGeom>
          <a:solidFill>
            <a:srgbClr val="000000"/>
          </a:solidFill>
          <a:ln w="12700">
            <a:solidFill>
              <a:srgbClr val="000000"/>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7</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استكمال البرامج والمشاريع الأساسية المنبثقة عن الرؤية الشاملة للتحديث، وتسريع إنجازها وإبقاؤها على مسارها التنفيذي المقرر.</a:t>
            </a:r>
            <a:endParaRPr lang="ar-JO" sz="2300" dirty="0"/>
          </a:p>
        </p:txBody>
      </p:sp>
      <p:sp>
        <p:nvSpPr>
          <p:cNvPr id="17" name="Shape 15"/>
          <p:cNvSpPr/>
          <p:nvPr/>
        </p:nvSpPr>
        <p:spPr>
          <a:xfrm>
            <a:off x="594360" y="3779520"/>
            <a:ext cx="13441680" cy="1539240"/>
          </a:xfrm>
          <a:prstGeom prst="rect">
            <a:avLst/>
          </a:prstGeom>
          <a:solidFill>
            <a:srgbClr val="FFFFFF"/>
          </a:solidFill>
          <a:ln w="7620">
            <a:solidFill>
              <a:srgbClr val="000000"/>
            </a:solidFill>
            <a:prstDash val="solid"/>
          </a:ln>
        </p:spPr>
      </p:sp>
      <p:sp>
        <p:nvSpPr>
          <p:cNvPr id="18" name="Shape 16"/>
          <p:cNvSpPr/>
          <p:nvPr/>
        </p:nvSpPr>
        <p:spPr>
          <a:xfrm>
            <a:off x="13962888" y="3779520"/>
            <a:ext cx="73152" cy="1539240"/>
          </a:xfrm>
          <a:prstGeom prst="rect">
            <a:avLst/>
          </a:prstGeom>
          <a:solidFill>
            <a:srgbClr val="000000"/>
          </a:solidFill>
          <a:ln w="12700">
            <a:solidFill>
              <a:srgbClr val="000000"/>
            </a:solidFill>
            <a:prstDash val="solid"/>
          </a:ln>
        </p:spPr>
      </p:sp>
      <p:sp>
        <p:nvSpPr>
          <p:cNvPr id="19" name="Shape 17"/>
          <p:cNvSpPr/>
          <p:nvPr/>
        </p:nvSpPr>
        <p:spPr>
          <a:xfrm>
            <a:off x="12938760" y="3980688"/>
            <a:ext cx="713232" cy="484632"/>
          </a:xfrm>
          <a:prstGeom prst="rect">
            <a:avLst/>
          </a:prstGeom>
          <a:solidFill>
            <a:srgbClr val="000000"/>
          </a:solidFill>
          <a:ln w="12700">
            <a:solidFill>
              <a:srgbClr val="000000"/>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8</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التنسيق مع مجلس النواب لتعميق الممارسة الديمقراطية وترسيخ المشاركة السياسية وتطوير المؤسسات الدستورية.</a:t>
            </a:r>
            <a:endParaRPr lang="ar-JO" sz="2300" dirty="0"/>
          </a:p>
        </p:txBody>
      </p:sp>
      <p:sp>
        <p:nvSpPr>
          <p:cNvPr id="22" name="Shape 20"/>
          <p:cNvSpPr/>
          <p:nvPr/>
        </p:nvSpPr>
        <p:spPr>
          <a:xfrm>
            <a:off x="594360" y="5455920"/>
            <a:ext cx="13441680" cy="1539240"/>
          </a:xfrm>
          <a:prstGeom prst="rect">
            <a:avLst/>
          </a:prstGeom>
          <a:solidFill>
            <a:srgbClr val="FFFFFF"/>
          </a:solidFill>
          <a:ln w="7620">
            <a:solidFill>
              <a:srgbClr val="000000"/>
            </a:solidFill>
            <a:prstDash val="solid"/>
          </a:ln>
        </p:spPr>
      </p:sp>
      <p:sp>
        <p:nvSpPr>
          <p:cNvPr id="23" name="Shape 21"/>
          <p:cNvSpPr/>
          <p:nvPr/>
        </p:nvSpPr>
        <p:spPr>
          <a:xfrm>
            <a:off x="13962888" y="5455920"/>
            <a:ext cx="73152" cy="1539240"/>
          </a:xfrm>
          <a:prstGeom prst="rect">
            <a:avLst/>
          </a:prstGeom>
          <a:solidFill>
            <a:srgbClr val="000000"/>
          </a:solidFill>
          <a:ln w="12700">
            <a:solidFill>
              <a:srgbClr val="000000"/>
            </a:solidFill>
            <a:prstDash val="solid"/>
          </a:ln>
        </p:spPr>
      </p:sp>
      <p:sp>
        <p:nvSpPr>
          <p:cNvPr id="24" name="Shape 22"/>
          <p:cNvSpPr/>
          <p:nvPr/>
        </p:nvSpPr>
        <p:spPr>
          <a:xfrm>
            <a:off x="12938760" y="5657088"/>
            <a:ext cx="713232" cy="484632"/>
          </a:xfrm>
          <a:prstGeom prst="rect">
            <a:avLst/>
          </a:prstGeom>
          <a:solidFill>
            <a:srgbClr val="000000"/>
          </a:solidFill>
          <a:ln w="12700">
            <a:solidFill>
              <a:srgbClr val="000000"/>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9</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إشراك المواطنين في ترتيب الأولويات التنموية المحلية، وربطها بأولويات رؤية التحديث الاقتصادي، بما يضمن التوزيع الأمثل والعادل لمكتسبات التنمية.</a:t>
            </a:r>
            <a:endParaRPr lang="ar-JO" sz="2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الثالث · الأهداف الوطنية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الأهداف الوطنية — من (10) إلى (12)</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5 | ٣/ب | الأهداف 10–12</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16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6937641" cy="32004"/>
          </a:xfrm>
          <a:prstGeom prst="rect">
            <a:avLst/>
          </a:prstGeom>
          <a:solidFill>
            <a:srgbClr val="000000"/>
          </a:solidFill>
          <a:ln w="12700">
            <a:solidFill>
              <a:srgbClr val="000000"/>
            </a:solidFill>
            <a:prstDash val="solid"/>
          </a:ln>
        </p:spPr>
      </p:sp>
      <p:sp>
        <p:nvSpPr>
          <p:cNvPr id="12" name="Shape 10"/>
          <p:cNvSpPr/>
          <p:nvPr/>
        </p:nvSpPr>
        <p:spPr>
          <a:xfrm>
            <a:off x="594360" y="2103120"/>
            <a:ext cx="13441680" cy="1539240"/>
          </a:xfrm>
          <a:prstGeom prst="rect">
            <a:avLst/>
          </a:prstGeom>
          <a:solidFill>
            <a:srgbClr val="FFFFFF"/>
          </a:solidFill>
          <a:ln w="7620">
            <a:solidFill>
              <a:srgbClr val="000000"/>
            </a:solidFill>
            <a:prstDash val="solid"/>
          </a:ln>
        </p:spPr>
      </p:sp>
      <p:sp>
        <p:nvSpPr>
          <p:cNvPr id="13" name="Shape 11"/>
          <p:cNvSpPr/>
          <p:nvPr/>
        </p:nvSpPr>
        <p:spPr>
          <a:xfrm>
            <a:off x="13962888" y="2103120"/>
            <a:ext cx="73152" cy="1539240"/>
          </a:xfrm>
          <a:prstGeom prst="rect">
            <a:avLst/>
          </a:prstGeom>
          <a:solidFill>
            <a:srgbClr val="000000"/>
          </a:solidFill>
          <a:ln w="12700">
            <a:solidFill>
              <a:srgbClr val="000000"/>
            </a:solidFill>
            <a:prstDash val="solid"/>
          </a:ln>
        </p:spPr>
      </p:sp>
      <p:sp>
        <p:nvSpPr>
          <p:cNvPr id="14" name="Shape 12"/>
          <p:cNvSpPr/>
          <p:nvPr/>
        </p:nvSpPr>
        <p:spPr>
          <a:xfrm>
            <a:off x="12938760" y="2304288"/>
            <a:ext cx="713232" cy="484632"/>
          </a:xfrm>
          <a:prstGeom prst="rect">
            <a:avLst/>
          </a:prstGeom>
          <a:solidFill>
            <a:srgbClr val="000000"/>
          </a:solidFill>
          <a:ln w="12700">
            <a:solidFill>
              <a:srgbClr val="000000"/>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10</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تنفيذ رؤية التحديث الاقتصادي وفق برامج معلنة ومحددة زمنياً تخضع للتقييم والمتابعة، بما يطلق الإمكانات ويحقق نمواً شاملاً مستداماً ويضاعف الاستثمار ويخفض البطالة ويوفر حياة فضلى للمواطنين.</a:t>
            </a:r>
            <a:endParaRPr lang="ar-JO" sz="2300" dirty="0"/>
          </a:p>
        </p:txBody>
      </p:sp>
      <p:sp>
        <p:nvSpPr>
          <p:cNvPr id="17" name="Shape 15"/>
          <p:cNvSpPr/>
          <p:nvPr/>
        </p:nvSpPr>
        <p:spPr>
          <a:xfrm>
            <a:off x="594360" y="3779520"/>
            <a:ext cx="13441680" cy="1539240"/>
          </a:xfrm>
          <a:prstGeom prst="rect">
            <a:avLst/>
          </a:prstGeom>
          <a:solidFill>
            <a:srgbClr val="FFFFFF"/>
          </a:solidFill>
          <a:ln w="7620">
            <a:solidFill>
              <a:srgbClr val="000000"/>
            </a:solidFill>
            <a:prstDash val="solid"/>
          </a:ln>
        </p:spPr>
      </p:sp>
      <p:sp>
        <p:nvSpPr>
          <p:cNvPr id="18" name="Shape 16"/>
          <p:cNvSpPr/>
          <p:nvPr/>
        </p:nvSpPr>
        <p:spPr>
          <a:xfrm>
            <a:off x="13962888" y="3779520"/>
            <a:ext cx="73152" cy="1539240"/>
          </a:xfrm>
          <a:prstGeom prst="rect">
            <a:avLst/>
          </a:prstGeom>
          <a:solidFill>
            <a:srgbClr val="000000"/>
          </a:solidFill>
          <a:ln w="12700">
            <a:solidFill>
              <a:srgbClr val="000000"/>
            </a:solidFill>
            <a:prstDash val="solid"/>
          </a:ln>
        </p:spPr>
      </p:sp>
      <p:sp>
        <p:nvSpPr>
          <p:cNvPr id="19" name="Shape 17"/>
          <p:cNvSpPr/>
          <p:nvPr/>
        </p:nvSpPr>
        <p:spPr>
          <a:xfrm>
            <a:off x="12938760" y="3980688"/>
            <a:ext cx="713232" cy="484632"/>
          </a:xfrm>
          <a:prstGeom prst="rect">
            <a:avLst/>
          </a:prstGeom>
          <a:solidFill>
            <a:srgbClr val="000000"/>
          </a:solidFill>
          <a:ln w="12700">
            <a:solidFill>
              <a:srgbClr val="000000"/>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11</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إعطاء المشاريع الاستراتيجية الكبرى أولوية حكومية، ولا سيما في قطاعات المياه والنقل والطاقة والقطاعات الاقتصادية الواعدة.</a:t>
            </a:r>
            <a:endParaRPr lang="ar-JO" sz="2300" dirty="0"/>
          </a:p>
        </p:txBody>
      </p:sp>
      <p:sp>
        <p:nvSpPr>
          <p:cNvPr id="22" name="Shape 20"/>
          <p:cNvSpPr/>
          <p:nvPr/>
        </p:nvSpPr>
        <p:spPr>
          <a:xfrm>
            <a:off x="594360" y="5455920"/>
            <a:ext cx="13441680" cy="1539240"/>
          </a:xfrm>
          <a:prstGeom prst="rect">
            <a:avLst/>
          </a:prstGeom>
          <a:solidFill>
            <a:srgbClr val="FFFFFF"/>
          </a:solidFill>
          <a:ln w="7620">
            <a:solidFill>
              <a:srgbClr val="000000"/>
            </a:solidFill>
            <a:prstDash val="solid"/>
          </a:ln>
        </p:spPr>
      </p:sp>
      <p:sp>
        <p:nvSpPr>
          <p:cNvPr id="23" name="Shape 21"/>
          <p:cNvSpPr/>
          <p:nvPr/>
        </p:nvSpPr>
        <p:spPr>
          <a:xfrm>
            <a:off x="13962888" y="5455920"/>
            <a:ext cx="73152" cy="1539240"/>
          </a:xfrm>
          <a:prstGeom prst="rect">
            <a:avLst/>
          </a:prstGeom>
          <a:solidFill>
            <a:srgbClr val="000000"/>
          </a:solidFill>
          <a:ln w="12700">
            <a:solidFill>
              <a:srgbClr val="000000"/>
            </a:solidFill>
            <a:prstDash val="solid"/>
          </a:ln>
        </p:spPr>
      </p:sp>
      <p:sp>
        <p:nvSpPr>
          <p:cNvPr id="24" name="Shape 22"/>
          <p:cNvSpPr/>
          <p:nvPr/>
        </p:nvSpPr>
        <p:spPr>
          <a:xfrm>
            <a:off x="12938760" y="5657088"/>
            <a:ext cx="713232" cy="484632"/>
          </a:xfrm>
          <a:prstGeom prst="rect">
            <a:avLst/>
          </a:prstGeom>
          <a:solidFill>
            <a:srgbClr val="000000"/>
          </a:solidFill>
          <a:ln w="12700">
            <a:solidFill>
              <a:srgbClr val="000000"/>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12</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تحديث منظومة إدارة الأزمات والكوارث الوطنية لتحقيق الاستجابة المثلى للأزمات والكوارث وتخفيف آثارها.</a:t>
            </a:r>
            <a:endParaRPr lang="ar-JO" sz="2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الثالث · الأهداف الوطنية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الأهداف الوطنية — من (13) إلى (15)</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5 | ٣/ب | الأهداف 13–15</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17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7371244" cy="32004"/>
          </a:xfrm>
          <a:prstGeom prst="rect">
            <a:avLst/>
          </a:prstGeom>
          <a:solidFill>
            <a:srgbClr val="000000"/>
          </a:solidFill>
          <a:ln w="12700">
            <a:solidFill>
              <a:srgbClr val="000000"/>
            </a:solidFill>
            <a:prstDash val="solid"/>
          </a:ln>
        </p:spPr>
      </p:sp>
      <p:sp>
        <p:nvSpPr>
          <p:cNvPr id="12" name="Shape 10"/>
          <p:cNvSpPr/>
          <p:nvPr/>
        </p:nvSpPr>
        <p:spPr>
          <a:xfrm>
            <a:off x="594360" y="2103120"/>
            <a:ext cx="13441680" cy="1539240"/>
          </a:xfrm>
          <a:prstGeom prst="rect">
            <a:avLst/>
          </a:prstGeom>
          <a:solidFill>
            <a:srgbClr val="FFFFFF"/>
          </a:solidFill>
          <a:ln w="7620">
            <a:solidFill>
              <a:srgbClr val="000000"/>
            </a:solidFill>
            <a:prstDash val="solid"/>
          </a:ln>
        </p:spPr>
      </p:sp>
      <p:sp>
        <p:nvSpPr>
          <p:cNvPr id="13" name="Shape 11"/>
          <p:cNvSpPr/>
          <p:nvPr/>
        </p:nvSpPr>
        <p:spPr>
          <a:xfrm>
            <a:off x="13962888" y="2103120"/>
            <a:ext cx="73152" cy="1539240"/>
          </a:xfrm>
          <a:prstGeom prst="rect">
            <a:avLst/>
          </a:prstGeom>
          <a:solidFill>
            <a:srgbClr val="000000"/>
          </a:solidFill>
          <a:ln w="12700">
            <a:solidFill>
              <a:srgbClr val="000000"/>
            </a:solidFill>
            <a:prstDash val="solid"/>
          </a:ln>
        </p:spPr>
      </p:sp>
      <p:sp>
        <p:nvSpPr>
          <p:cNvPr id="14" name="Shape 12"/>
          <p:cNvSpPr/>
          <p:nvPr/>
        </p:nvSpPr>
        <p:spPr>
          <a:xfrm>
            <a:off x="12938760" y="2304288"/>
            <a:ext cx="713232" cy="484632"/>
          </a:xfrm>
          <a:prstGeom prst="rect">
            <a:avLst/>
          </a:prstGeom>
          <a:solidFill>
            <a:srgbClr val="000000"/>
          </a:solidFill>
          <a:ln w="12700">
            <a:solidFill>
              <a:srgbClr val="000000"/>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13</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توظيف تكنولوجيا المستقبل، عبر الشراكة والتعاون مع القطاع الخاص والجامعات وجميع الجهات المعنية محلياً وعالمياً وضمن أطر زمنية واضحة.</a:t>
            </a:r>
            <a:endParaRPr lang="ar-JO" sz="2300" dirty="0"/>
          </a:p>
        </p:txBody>
      </p:sp>
      <p:sp>
        <p:nvSpPr>
          <p:cNvPr id="17" name="Shape 15"/>
          <p:cNvSpPr/>
          <p:nvPr/>
        </p:nvSpPr>
        <p:spPr>
          <a:xfrm>
            <a:off x="594360" y="3779520"/>
            <a:ext cx="13441680" cy="1539240"/>
          </a:xfrm>
          <a:prstGeom prst="rect">
            <a:avLst/>
          </a:prstGeom>
          <a:solidFill>
            <a:srgbClr val="FFFFFF"/>
          </a:solidFill>
          <a:ln w="7620">
            <a:solidFill>
              <a:srgbClr val="000000"/>
            </a:solidFill>
            <a:prstDash val="solid"/>
          </a:ln>
        </p:spPr>
      </p:sp>
      <p:sp>
        <p:nvSpPr>
          <p:cNvPr id="18" name="Shape 16"/>
          <p:cNvSpPr/>
          <p:nvPr/>
        </p:nvSpPr>
        <p:spPr>
          <a:xfrm>
            <a:off x="13962888" y="3779520"/>
            <a:ext cx="73152" cy="1539240"/>
          </a:xfrm>
          <a:prstGeom prst="rect">
            <a:avLst/>
          </a:prstGeom>
          <a:solidFill>
            <a:srgbClr val="000000"/>
          </a:solidFill>
          <a:ln w="12700">
            <a:solidFill>
              <a:srgbClr val="000000"/>
            </a:solidFill>
            <a:prstDash val="solid"/>
          </a:ln>
        </p:spPr>
      </p:sp>
      <p:sp>
        <p:nvSpPr>
          <p:cNvPr id="19" name="Shape 17"/>
          <p:cNvSpPr/>
          <p:nvPr/>
        </p:nvSpPr>
        <p:spPr>
          <a:xfrm>
            <a:off x="12938760" y="3980688"/>
            <a:ext cx="713232" cy="484632"/>
          </a:xfrm>
          <a:prstGeom prst="rect">
            <a:avLst/>
          </a:prstGeom>
          <a:solidFill>
            <a:srgbClr val="000000"/>
          </a:solidFill>
          <a:ln w="12700">
            <a:solidFill>
              <a:srgbClr val="000000"/>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14</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200" dirty="0">
                <a:solidFill>
                  <a:srgbClr val="000000"/>
                </a:solidFill>
                <a:latin typeface="Noto Sans Arabic" pitchFamily="34" charset="0"/>
                <a:ea typeface="Noto Sans Arabic" pitchFamily="34" charset="-122"/>
                <a:cs typeface="Noto Sans Arabic" pitchFamily="34" charset="-120"/>
              </a:rPr>
              <a:t>التقيد ببرامج التحول الرقمي وجداولها الزمنية في مؤسسات الدولة، وتوظيف الابتكار والتقنيات الحديثة، مع دعم المركز الوطني للأمن السيبراني في إعداد وتنفيذ البرنامج المنبثق عن الاستراتيجية الوطنية للأمن السيبراني 2024–2028، لبناء منظومة متكاملة ومستدامة للرصد المبكر والاستجابة للحوادث والتهديدات السيبرانية.</a:t>
            </a:r>
            <a:endParaRPr lang="ar-JO" sz="2200" dirty="0"/>
          </a:p>
        </p:txBody>
      </p:sp>
      <p:sp>
        <p:nvSpPr>
          <p:cNvPr id="22" name="Shape 20"/>
          <p:cNvSpPr/>
          <p:nvPr/>
        </p:nvSpPr>
        <p:spPr>
          <a:xfrm>
            <a:off x="594360" y="5455920"/>
            <a:ext cx="13441680" cy="1539240"/>
          </a:xfrm>
          <a:prstGeom prst="rect">
            <a:avLst/>
          </a:prstGeom>
          <a:solidFill>
            <a:srgbClr val="FFFFFF"/>
          </a:solidFill>
          <a:ln w="7620">
            <a:solidFill>
              <a:srgbClr val="000000"/>
            </a:solidFill>
            <a:prstDash val="solid"/>
          </a:ln>
        </p:spPr>
      </p:sp>
      <p:sp>
        <p:nvSpPr>
          <p:cNvPr id="23" name="Shape 21"/>
          <p:cNvSpPr/>
          <p:nvPr/>
        </p:nvSpPr>
        <p:spPr>
          <a:xfrm>
            <a:off x="13962888" y="5455920"/>
            <a:ext cx="73152" cy="1539240"/>
          </a:xfrm>
          <a:prstGeom prst="rect">
            <a:avLst/>
          </a:prstGeom>
          <a:solidFill>
            <a:srgbClr val="000000"/>
          </a:solidFill>
          <a:ln w="12700">
            <a:solidFill>
              <a:srgbClr val="000000"/>
            </a:solidFill>
            <a:prstDash val="solid"/>
          </a:ln>
        </p:spPr>
      </p:sp>
      <p:sp>
        <p:nvSpPr>
          <p:cNvPr id="24" name="Shape 22"/>
          <p:cNvSpPr/>
          <p:nvPr/>
        </p:nvSpPr>
        <p:spPr>
          <a:xfrm>
            <a:off x="12938760" y="5657088"/>
            <a:ext cx="713232" cy="484632"/>
          </a:xfrm>
          <a:prstGeom prst="rect">
            <a:avLst/>
          </a:prstGeom>
          <a:solidFill>
            <a:srgbClr val="000000"/>
          </a:solidFill>
          <a:ln w="12700">
            <a:solidFill>
              <a:srgbClr val="000000"/>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15</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استدامة أعمال مراكز الخدمات الحكومية، التي تعد تجربة متقدمة في توفير خدمات نوعية للمواطنين.</a:t>
            </a:r>
            <a:endParaRPr lang="ar-JO" sz="2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الثالث · الأهداف الوطنية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الأهداف الوطنية — من (16) إلى (18)</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6 | ٣/ب | الأهداف 16–18</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18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7804846" cy="32004"/>
          </a:xfrm>
          <a:prstGeom prst="rect">
            <a:avLst/>
          </a:prstGeom>
          <a:solidFill>
            <a:srgbClr val="000000"/>
          </a:solidFill>
          <a:ln w="12700">
            <a:solidFill>
              <a:srgbClr val="000000"/>
            </a:solidFill>
            <a:prstDash val="solid"/>
          </a:ln>
        </p:spPr>
      </p:sp>
      <p:sp>
        <p:nvSpPr>
          <p:cNvPr id="12" name="Shape 10"/>
          <p:cNvSpPr/>
          <p:nvPr/>
        </p:nvSpPr>
        <p:spPr>
          <a:xfrm>
            <a:off x="594360" y="2103120"/>
            <a:ext cx="13441680" cy="1539240"/>
          </a:xfrm>
          <a:prstGeom prst="rect">
            <a:avLst/>
          </a:prstGeom>
          <a:solidFill>
            <a:srgbClr val="FFFFFF"/>
          </a:solidFill>
          <a:ln w="7620">
            <a:solidFill>
              <a:srgbClr val="000000"/>
            </a:solidFill>
            <a:prstDash val="solid"/>
          </a:ln>
        </p:spPr>
      </p:sp>
      <p:sp>
        <p:nvSpPr>
          <p:cNvPr id="13" name="Shape 11"/>
          <p:cNvSpPr/>
          <p:nvPr/>
        </p:nvSpPr>
        <p:spPr>
          <a:xfrm>
            <a:off x="13962888" y="2103120"/>
            <a:ext cx="73152" cy="1539240"/>
          </a:xfrm>
          <a:prstGeom prst="rect">
            <a:avLst/>
          </a:prstGeom>
          <a:solidFill>
            <a:srgbClr val="000000"/>
          </a:solidFill>
          <a:ln w="12700">
            <a:solidFill>
              <a:srgbClr val="000000"/>
            </a:solidFill>
            <a:prstDash val="solid"/>
          </a:ln>
        </p:spPr>
      </p:sp>
      <p:sp>
        <p:nvSpPr>
          <p:cNvPr id="14" name="Shape 12"/>
          <p:cNvSpPr/>
          <p:nvPr/>
        </p:nvSpPr>
        <p:spPr>
          <a:xfrm>
            <a:off x="12938760" y="2304288"/>
            <a:ext cx="713232" cy="484632"/>
          </a:xfrm>
          <a:prstGeom prst="rect">
            <a:avLst/>
          </a:prstGeom>
          <a:solidFill>
            <a:srgbClr val="000000"/>
          </a:solidFill>
          <a:ln w="12700">
            <a:solidFill>
              <a:srgbClr val="000000"/>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16</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الاستمرار في تطوير قطاع الخدمات والأسواق المالية، ليكون ممكناً للنمو الاقتصادي ومبنياً على أسس حصيفة، ويكون رافعاً للقطاع الخاص والصناديق الاستثمارية.</a:t>
            </a:r>
            <a:endParaRPr lang="ar-JO" sz="2300" dirty="0"/>
          </a:p>
        </p:txBody>
      </p:sp>
      <p:sp>
        <p:nvSpPr>
          <p:cNvPr id="17" name="Shape 15"/>
          <p:cNvSpPr/>
          <p:nvPr/>
        </p:nvSpPr>
        <p:spPr>
          <a:xfrm>
            <a:off x="594360" y="3779520"/>
            <a:ext cx="13441680" cy="1539240"/>
          </a:xfrm>
          <a:prstGeom prst="rect">
            <a:avLst/>
          </a:prstGeom>
          <a:solidFill>
            <a:srgbClr val="FFFFFF"/>
          </a:solidFill>
          <a:ln w="7620">
            <a:solidFill>
              <a:srgbClr val="000000"/>
            </a:solidFill>
            <a:prstDash val="solid"/>
          </a:ln>
        </p:spPr>
      </p:sp>
      <p:sp>
        <p:nvSpPr>
          <p:cNvPr id="18" name="Shape 16"/>
          <p:cNvSpPr/>
          <p:nvPr/>
        </p:nvSpPr>
        <p:spPr>
          <a:xfrm>
            <a:off x="13962888" y="3779520"/>
            <a:ext cx="73152" cy="1539240"/>
          </a:xfrm>
          <a:prstGeom prst="rect">
            <a:avLst/>
          </a:prstGeom>
          <a:solidFill>
            <a:srgbClr val="000000"/>
          </a:solidFill>
          <a:ln w="12700">
            <a:solidFill>
              <a:srgbClr val="000000"/>
            </a:solidFill>
            <a:prstDash val="solid"/>
          </a:ln>
        </p:spPr>
      </p:sp>
      <p:sp>
        <p:nvSpPr>
          <p:cNvPr id="19" name="Shape 17"/>
          <p:cNvSpPr/>
          <p:nvPr/>
        </p:nvSpPr>
        <p:spPr>
          <a:xfrm>
            <a:off x="12938760" y="3980688"/>
            <a:ext cx="713232" cy="484632"/>
          </a:xfrm>
          <a:prstGeom prst="rect">
            <a:avLst/>
          </a:prstGeom>
          <a:solidFill>
            <a:srgbClr val="000000"/>
          </a:solidFill>
          <a:ln w="12700">
            <a:solidFill>
              <a:srgbClr val="000000"/>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17</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تحسين سبل العيش للمواطنين في مدنهم والوصول إلى خيارات أفضل من الخدمات عبر التنمية الحضرية، مع الحرص على زيادة الرقعة الخضراء وانتشار الحدائق العامة.</a:t>
            </a:r>
            <a:endParaRPr lang="ar-JO" sz="2300" dirty="0"/>
          </a:p>
        </p:txBody>
      </p:sp>
      <p:sp>
        <p:nvSpPr>
          <p:cNvPr id="22" name="Shape 20"/>
          <p:cNvSpPr/>
          <p:nvPr/>
        </p:nvSpPr>
        <p:spPr>
          <a:xfrm>
            <a:off x="594360" y="5455920"/>
            <a:ext cx="13441680" cy="1539240"/>
          </a:xfrm>
          <a:prstGeom prst="rect">
            <a:avLst/>
          </a:prstGeom>
          <a:solidFill>
            <a:srgbClr val="FFFFFF"/>
          </a:solidFill>
          <a:ln w="7620">
            <a:solidFill>
              <a:srgbClr val="000000"/>
            </a:solidFill>
            <a:prstDash val="solid"/>
          </a:ln>
        </p:spPr>
      </p:sp>
      <p:sp>
        <p:nvSpPr>
          <p:cNvPr id="23" name="Shape 21"/>
          <p:cNvSpPr/>
          <p:nvPr/>
        </p:nvSpPr>
        <p:spPr>
          <a:xfrm>
            <a:off x="13962888" y="5455920"/>
            <a:ext cx="73152" cy="1539240"/>
          </a:xfrm>
          <a:prstGeom prst="rect">
            <a:avLst/>
          </a:prstGeom>
          <a:solidFill>
            <a:srgbClr val="000000"/>
          </a:solidFill>
          <a:ln w="12700">
            <a:solidFill>
              <a:srgbClr val="000000"/>
            </a:solidFill>
            <a:prstDash val="solid"/>
          </a:ln>
        </p:spPr>
      </p:sp>
      <p:sp>
        <p:nvSpPr>
          <p:cNvPr id="24" name="Shape 22"/>
          <p:cNvSpPr/>
          <p:nvPr/>
        </p:nvSpPr>
        <p:spPr>
          <a:xfrm>
            <a:off x="12938760" y="5657088"/>
            <a:ext cx="713232" cy="484632"/>
          </a:xfrm>
          <a:prstGeom prst="rect">
            <a:avLst/>
          </a:prstGeom>
          <a:solidFill>
            <a:srgbClr val="000000"/>
          </a:solidFill>
          <a:ln w="12700">
            <a:solidFill>
              <a:srgbClr val="000000"/>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18</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متابعة التحضير لمشروع المدينة الجديدة بالشراكة مع القطاع الخاص، لتخفيف الضغط الحضري على عمان والزرقاء وتعظيم عوائده الاستثمارية والاجتماعية والاقتصادية.</a:t>
            </a:r>
            <a:endParaRPr lang="ar-JO" sz="2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الثالث · الأهداف الوطنية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الأهداف الوطنية — من (19) إلى (21)</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6 | ٣/ب | الأهداف 19–21</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19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8238449" cy="32004"/>
          </a:xfrm>
          <a:prstGeom prst="rect">
            <a:avLst/>
          </a:prstGeom>
          <a:solidFill>
            <a:srgbClr val="000000"/>
          </a:solidFill>
          <a:ln w="12700">
            <a:solidFill>
              <a:srgbClr val="000000"/>
            </a:solidFill>
            <a:prstDash val="solid"/>
          </a:ln>
        </p:spPr>
      </p:sp>
      <p:sp>
        <p:nvSpPr>
          <p:cNvPr id="12" name="Shape 10"/>
          <p:cNvSpPr/>
          <p:nvPr/>
        </p:nvSpPr>
        <p:spPr>
          <a:xfrm>
            <a:off x="594360" y="2103120"/>
            <a:ext cx="13441680" cy="1539240"/>
          </a:xfrm>
          <a:prstGeom prst="rect">
            <a:avLst/>
          </a:prstGeom>
          <a:solidFill>
            <a:srgbClr val="FFFFFF"/>
          </a:solidFill>
          <a:ln w="7620">
            <a:solidFill>
              <a:srgbClr val="000000"/>
            </a:solidFill>
            <a:prstDash val="solid"/>
          </a:ln>
        </p:spPr>
      </p:sp>
      <p:sp>
        <p:nvSpPr>
          <p:cNvPr id="13" name="Shape 11"/>
          <p:cNvSpPr/>
          <p:nvPr/>
        </p:nvSpPr>
        <p:spPr>
          <a:xfrm>
            <a:off x="13962888" y="2103120"/>
            <a:ext cx="73152" cy="1539240"/>
          </a:xfrm>
          <a:prstGeom prst="rect">
            <a:avLst/>
          </a:prstGeom>
          <a:solidFill>
            <a:srgbClr val="000000"/>
          </a:solidFill>
          <a:ln w="12700">
            <a:solidFill>
              <a:srgbClr val="000000"/>
            </a:solidFill>
            <a:prstDash val="solid"/>
          </a:ln>
        </p:spPr>
      </p:sp>
      <p:sp>
        <p:nvSpPr>
          <p:cNvPr id="14" name="Shape 12"/>
          <p:cNvSpPr/>
          <p:nvPr/>
        </p:nvSpPr>
        <p:spPr>
          <a:xfrm>
            <a:off x="12938760" y="2304288"/>
            <a:ext cx="713232" cy="484632"/>
          </a:xfrm>
          <a:prstGeom prst="rect">
            <a:avLst/>
          </a:prstGeom>
          <a:solidFill>
            <a:srgbClr val="000000"/>
          </a:solidFill>
          <a:ln w="12700">
            <a:solidFill>
              <a:srgbClr val="000000"/>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19</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إيلاء اهتمام بقطاع التعدين كأحد القطاعات الواعدة في النمو الاقتصادي.</a:t>
            </a:r>
            <a:endParaRPr lang="ar-JO" sz="2300" dirty="0"/>
          </a:p>
        </p:txBody>
      </p:sp>
      <p:sp>
        <p:nvSpPr>
          <p:cNvPr id="17" name="Shape 15"/>
          <p:cNvSpPr/>
          <p:nvPr/>
        </p:nvSpPr>
        <p:spPr>
          <a:xfrm>
            <a:off x="594360" y="3779520"/>
            <a:ext cx="13441680" cy="1539240"/>
          </a:xfrm>
          <a:prstGeom prst="rect">
            <a:avLst/>
          </a:prstGeom>
          <a:solidFill>
            <a:srgbClr val="FFFFFF"/>
          </a:solidFill>
          <a:ln w="7620">
            <a:solidFill>
              <a:srgbClr val="000000"/>
            </a:solidFill>
            <a:prstDash val="solid"/>
          </a:ln>
        </p:spPr>
      </p:sp>
      <p:sp>
        <p:nvSpPr>
          <p:cNvPr id="18" name="Shape 16"/>
          <p:cNvSpPr/>
          <p:nvPr/>
        </p:nvSpPr>
        <p:spPr>
          <a:xfrm>
            <a:off x="13962888" y="3779520"/>
            <a:ext cx="73152" cy="1539240"/>
          </a:xfrm>
          <a:prstGeom prst="rect">
            <a:avLst/>
          </a:prstGeom>
          <a:solidFill>
            <a:srgbClr val="000000"/>
          </a:solidFill>
          <a:ln w="12700">
            <a:solidFill>
              <a:srgbClr val="000000"/>
            </a:solidFill>
            <a:prstDash val="solid"/>
          </a:ln>
        </p:spPr>
      </p:sp>
      <p:sp>
        <p:nvSpPr>
          <p:cNvPr id="19" name="Shape 17"/>
          <p:cNvSpPr/>
          <p:nvPr/>
        </p:nvSpPr>
        <p:spPr>
          <a:xfrm>
            <a:off x="12938760" y="3980688"/>
            <a:ext cx="713232" cy="484632"/>
          </a:xfrm>
          <a:prstGeom prst="rect">
            <a:avLst/>
          </a:prstGeom>
          <a:solidFill>
            <a:srgbClr val="000000"/>
          </a:solidFill>
          <a:ln w="12700">
            <a:solidFill>
              <a:srgbClr val="000000"/>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20</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تمكين القطاع الصناعي ليكون منافساً في الأسواق الوطنية والخارجية.</a:t>
            </a:r>
            <a:endParaRPr lang="ar-JO" sz="2300" dirty="0"/>
          </a:p>
        </p:txBody>
      </p:sp>
      <p:sp>
        <p:nvSpPr>
          <p:cNvPr id="22" name="Shape 20"/>
          <p:cNvSpPr/>
          <p:nvPr/>
        </p:nvSpPr>
        <p:spPr>
          <a:xfrm>
            <a:off x="594360" y="5455920"/>
            <a:ext cx="13441680" cy="1539240"/>
          </a:xfrm>
          <a:prstGeom prst="rect">
            <a:avLst/>
          </a:prstGeom>
          <a:solidFill>
            <a:srgbClr val="FFFFFF"/>
          </a:solidFill>
          <a:ln w="7620">
            <a:solidFill>
              <a:srgbClr val="000000"/>
            </a:solidFill>
            <a:prstDash val="solid"/>
          </a:ln>
        </p:spPr>
      </p:sp>
      <p:sp>
        <p:nvSpPr>
          <p:cNvPr id="23" name="Shape 21"/>
          <p:cNvSpPr/>
          <p:nvPr/>
        </p:nvSpPr>
        <p:spPr>
          <a:xfrm>
            <a:off x="13962888" y="5455920"/>
            <a:ext cx="73152" cy="1539240"/>
          </a:xfrm>
          <a:prstGeom prst="rect">
            <a:avLst/>
          </a:prstGeom>
          <a:solidFill>
            <a:srgbClr val="000000"/>
          </a:solidFill>
          <a:ln w="12700">
            <a:solidFill>
              <a:srgbClr val="000000"/>
            </a:solidFill>
            <a:prstDash val="solid"/>
          </a:ln>
        </p:spPr>
      </p:sp>
      <p:sp>
        <p:nvSpPr>
          <p:cNvPr id="24" name="Shape 22"/>
          <p:cNvSpPr/>
          <p:nvPr/>
        </p:nvSpPr>
        <p:spPr>
          <a:xfrm>
            <a:off x="12938760" y="5657088"/>
            <a:ext cx="713232" cy="484632"/>
          </a:xfrm>
          <a:prstGeom prst="rect">
            <a:avLst/>
          </a:prstGeom>
          <a:solidFill>
            <a:srgbClr val="000000"/>
          </a:solidFill>
          <a:ln w="12700">
            <a:solidFill>
              <a:srgbClr val="000000"/>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21</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العمل على تعزيز منعة قطاع السياحة وإعداد خطط واضحة للتعامل مع التحديات التي تواجهه، وتفعيل نظام صندوق تنمية وتطوير القطاع السياحي.</a:t>
            </a:r>
            <a:endParaRPr lang="ar-JO" sz="2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الثالث · الأهداف الوطنية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الأهداف الوطنية — من (22) إلى (24)</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6 | ٣/ب | الأهداف 22–24</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20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8672052" cy="32004"/>
          </a:xfrm>
          <a:prstGeom prst="rect">
            <a:avLst/>
          </a:prstGeom>
          <a:solidFill>
            <a:srgbClr val="000000"/>
          </a:solidFill>
          <a:ln w="12700">
            <a:solidFill>
              <a:srgbClr val="000000"/>
            </a:solidFill>
            <a:prstDash val="solid"/>
          </a:ln>
        </p:spPr>
      </p:sp>
      <p:sp>
        <p:nvSpPr>
          <p:cNvPr id="12" name="Shape 10"/>
          <p:cNvSpPr/>
          <p:nvPr/>
        </p:nvSpPr>
        <p:spPr>
          <a:xfrm>
            <a:off x="594360" y="2103120"/>
            <a:ext cx="13441680" cy="1539240"/>
          </a:xfrm>
          <a:prstGeom prst="rect">
            <a:avLst/>
          </a:prstGeom>
          <a:solidFill>
            <a:srgbClr val="FFFFFF"/>
          </a:solidFill>
          <a:ln w="7620">
            <a:solidFill>
              <a:srgbClr val="000000"/>
            </a:solidFill>
            <a:prstDash val="solid"/>
          </a:ln>
        </p:spPr>
      </p:sp>
      <p:sp>
        <p:nvSpPr>
          <p:cNvPr id="13" name="Shape 11"/>
          <p:cNvSpPr/>
          <p:nvPr/>
        </p:nvSpPr>
        <p:spPr>
          <a:xfrm>
            <a:off x="13962888" y="2103120"/>
            <a:ext cx="73152" cy="1539240"/>
          </a:xfrm>
          <a:prstGeom prst="rect">
            <a:avLst/>
          </a:prstGeom>
          <a:solidFill>
            <a:srgbClr val="000000"/>
          </a:solidFill>
          <a:ln w="12700">
            <a:solidFill>
              <a:srgbClr val="000000"/>
            </a:solidFill>
            <a:prstDash val="solid"/>
          </a:ln>
        </p:spPr>
      </p:sp>
      <p:sp>
        <p:nvSpPr>
          <p:cNvPr id="14" name="Shape 12"/>
          <p:cNvSpPr/>
          <p:nvPr/>
        </p:nvSpPr>
        <p:spPr>
          <a:xfrm>
            <a:off x="12938760" y="2304288"/>
            <a:ext cx="713232" cy="484632"/>
          </a:xfrm>
          <a:prstGeom prst="rect">
            <a:avLst/>
          </a:prstGeom>
          <a:solidFill>
            <a:srgbClr val="000000"/>
          </a:solidFill>
          <a:ln w="12700">
            <a:solidFill>
              <a:srgbClr val="000000"/>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22</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مراجعة الاستراتيجية الوطنية للحماية الاجتماعية وتحديثها وإطلاق تنفيذها بما يتوافق مع رؤية التحديث الاقتصادي وبرنامجها التنفيذي.</a:t>
            </a:r>
            <a:endParaRPr lang="ar-JO" sz="2300" dirty="0"/>
          </a:p>
        </p:txBody>
      </p:sp>
      <p:sp>
        <p:nvSpPr>
          <p:cNvPr id="17" name="Shape 15"/>
          <p:cNvSpPr/>
          <p:nvPr/>
        </p:nvSpPr>
        <p:spPr>
          <a:xfrm>
            <a:off x="594360" y="3779520"/>
            <a:ext cx="13441680" cy="1539240"/>
          </a:xfrm>
          <a:prstGeom prst="rect">
            <a:avLst/>
          </a:prstGeom>
          <a:solidFill>
            <a:srgbClr val="FFFFFF"/>
          </a:solidFill>
          <a:ln w="7620">
            <a:solidFill>
              <a:srgbClr val="000000"/>
            </a:solidFill>
            <a:prstDash val="solid"/>
          </a:ln>
        </p:spPr>
      </p:sp>
      <p:sp>
        <p:nvSpPr>
          <p:cNvPr id="18" name="Shape 16"/>
          <p:cNvSpPr/>
          <p:nvPr/>
        </p:nvSpPr>
        <p:spPr>
          <a:xfrm>
            <a:off x="13962888" y="3779520"/>
            <a:ext cx="73152" cy="1539240"/>
          </a:xfrm>
          <a:prstGeom prst="rect">
            <a:avLst/>
          </a:prstGeom>
          <a:solidFill>
            <a:srgbClr val="000000"/>
          </a:solidFill>
          <a:ln w="12700">
            <a:solidFill>
              <a:srgbClr val="000000"/>
            </a:solidFill>
            <a:prstDash val="solid"/>
          </a:ln>
        </p:spPr>
      </p:sp>
      <p:sp>
        <p:nvSpPr>
          <p:cNvPr id="19" name="Shape 17"/>
          <p:cNvSpPr/>
          <p:nvPr/>
        </p:nvSpPr>
        <p:spPr>
          <a:xfrm>
            <a:off x="12938760" y="3980688"/>
            <a:ext cx="713232" cy="484632"/>
          </a:xfrm>
          <a:prstGeom prst="rect">
            <a:avLst/>
          </a:prstGeom>
          <a:solidFill>
            <a:srgbClr val="000000"/>
          </a:solidFill>
          <a:ln w="12700">
            <a:solidFill>
              <a:srgbClr val="000000"/>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23</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استكمال تحديث التعليم وتطويره والعمل ليكون التعليم والتدريب المهني والتقني أولوية في المدارس والمراكز والجامعات.</a:t>
            </a:r>
            <a:endParaRPr lang="ar-JO" sz="2300" dirty="0"/>
          </a:p>
        </p:txBody>
      </p:sp>
      <p:sp>
        <p:nvSpPr>
          <p:cNvPr id="22" name="Shape 20"/>
          <p:cNvSpPr/>
          <p:nvPr/>
        </p:nvSpPr>
        <p:spPr>
          <a:xfrm>
            <a:off x="594360" y="5455920"/>
            <a:ext cx="13441680" cy="1539240"/>
          </a:xfrm>
          <a:prstGeom prst="rect">
            <a:avLst/>
          </a:prstGeom>
          <a:solidFill>
            <a:srgbClr val="FFFFFF"/>
          </a:solidFill>
          <a:ln w="7620">
            <a:solidFill>
              <a:srgbClr val="000000"/>
            </a:solidFill>
            <a:prstDash val="solid"/>
          </a:ln>
        </p:spPr>
      </p:sp>
      <p:sp>
        <p:nvSpPr>
          <p:cNvPr id="23" name="Shape 21"/>
          <p:cNvSpPr/>
          <p:nvPr/>
        </p:nvSpPr>
        <p:spPr>
          <a:xfrm>
            <a:off x="13962888" y="5455920"/>
            <a:ext cx="73152" cy="1539240"/>
          </a:xfrm>
          <a:prstGeom prst="rect">
            <a:avLst/>
          </a:prstGeom>
          <a:solidFill>
            <a:srgbClr val="000000"/>
          </a:solidFill>
          <a:ln w="12700">
            <a:solidFill>
              <a:srgbClr val="000000"/>
            </a:solidFill>
            <a:prstDash val="solid"/>
          </a:ln>
        </p:spPr>
      </p:sp>
      <p:sp>
        <p:nvSpPr>
          <p:cNvPr id="24" name="Shape 22"/>
          <p:cNvSpPr/>
          <p:nvPr/>
        </p:nvSpPr>
        <p:spPr>
          <a:xfrm>
            <a:off x="12938760" y="5657088"/>
            <a:ext cx="713232" cy="484632"/>
          </a:xfrm>
          <a:prstGeom prst="rect">
            <a:avLst/>
          </a:prstGeom>
          <a:solidFill>
            <a:srgbClr val="000000"/>
          </a:solidFill>
          <a:ln w="12700">
            <a:solidFill>
              <a:srgbClr val="000000"/>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24</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مكافحة الفساد وحماية المال العام والمقدرات الوطنية من التعدي، وترسيخ قيم العدالة والمساواة والمساءلة.</a:t>
            </a:r>
            <a:endParaRPr lang="ar-JO" sz="2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الثالث · الأهداف الوطنية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الأهداف الوطنية — من (25) إلى (27)</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6 | ٣/ب | الأهداف 25–27</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21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9105654" cy="32004"/>
          </a:xfrm>
          <a:prstGeom prst="rect">
            <a:avLst/>
          </a:prstGeom>
          <a:solidFill>
            <a:srgbClr val="000000"/>
          </a:solidFill>
          <a:ln w="12700">
            <a:solidFill>
              <a:srgbClr val="000000"/>
            </a:solidFill>
            <a:prstDash val="solid"/>
          </a:ln>
        </p:spPr>
      </p:sp>
      <p:sp>
        <p:nvSpPr>
          <p:cNvPr id="12" name="Shape 10"/>
          <p:cNvSpPr/>
          <p:nvPr/>
        </p:nvSpPr>
        <p:spPr>
          <a:xfrm>
            <a:off x="594360" y="2103120"/>
            <a:ext cx="13441680" cy="1539240"/>
          </a:xfrm>
          <a:prstGeom prst="rect">
            <a:avLst/>
          </a:prstGeom>
          <a:solidFill>
            <a:srgbClr val="FFFFFF"/>
          </a:solidFill>
          <a:ln w="7620">
            <a:solidFill>
              <a:srgbClr val="000000"/>
            </a:solidFill>
            <a:prstDash val="solid"/>
          </a:ln>
        </p:spPr>
      </p:sp>
      <p:sp>
        <p:nvSpPr>
          <p:cNvPr id="13" name="Shape 11"/>
          <p:cNvSpPr/>
          <p:nvPr/>
        </p:nvSpPr>
        <p:spPr>
          <a:xfrm>
            <a:off x="13962888" y="2103120"/>
            <a:ext cx="73152" cy="1539240"/>
          </a:xfrm>
          <a:prstGeom prst="rect">
            <a:avLst/>
          </a:prstGeom>
          <a:solidFill>
            <a:srgbClr val="000000"/>
          </a:solidFill>
          <a:ln w="12700">
            <a:solidFill>
              <a:srgbClr val="000000"/>
            </a:solidFill>
            <a:prstDash val="solid"/>
          </a:ln>
        </p:spPr>
      </p:sp>
      <p:sp>
        <p:nvSpPr>
          <p:cNvPr id="14" name="Shape 12"/>
          <p:cNvSpPr/>
          <p:nvPr/>
        </p:nvSpPr>
        <p:spPr>
          <a:xfrm>
            <a:off x="12938760" y="2304288"/>
            <a:ext cx="713232" cy="484632"/>
          </a:xfrm>
          <a:prstGeom prst="rect">
            <a:avLst/>
          </a:prstGeom>
          <a:solidFill>
            <a:srgbClr val="000000"/>
          </a:solidFill>
          <a:ln w="12700">
            <a:solidFill>
              <a:srgbClr val="000000"/>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25</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توظيف تجربة حافلات التردد السريع في عمان والزرقاء لتشمل مناطق أوسع، تسهيلاً على المواطنين ولتمكينهم من تجاوز عقبات انخراطهم بسوق العمل.</a:t>
            </a:r>
            <a:endParaRPr lang="ar-JO" sz="2300" dirty="0"/>
          </a:p>
        </p:txBody>
      </p:sp>
      <p:sp>
        <p:nvSpPr>
          <p:cNvPr id="17" name="Shape 15"/>
          <p:cNvSpPr/>
          <p:nvPr/>
        </p:nvSpPr>
        <p:spPr>
          <a:xfrm>
            <a:off x="594360" y="3779520"/>
            <a:ext cx="13441680" cy="1539240"/>
          </a:xfrm>
          <a:prstGeom prst="rect">
            <a:avLst/>
          </a:prstGeom>
          <a:solidFill>
            <a:srgbClr val="FFFFFF"/>
          </a:solidFill>
          <a:ln w="7620">
            <a:solidFill>
              <a:srgbClr val="000000"/>
            </a:solidFill>
            <a:prstDash val="solid"/>
          </a:ln>
        </p:spPr>
      </p:sp>
      <p:sp>
        <p:nvSpPr>
          <p:cNvPr id="18" name="Shape 16"/>
          <p:cNvSpPr/>
          <p:nvPr/>
        </p:nvSpPr>
        <p:spPr>
          <a:xfrm>
            <a:off x="13962888" y="3779520"/>
            <a:ext cx="73152" cy="1539240"/>
          </a:xfrm>
          <a:prstGeom prst="rect">
            <a:avLst/>
          </a:prstGeom>
          <a:solidFill>
            <a:srgbClr val="000000"/>
          </a:solidFill>
          <a:ln w="12700">
            <a:solidFill>
              <a:srgbClr val="000000"/>
            </a:solidFill>
            <a:prstDash val="solid"/>
          </a:ln>
        </p:spPr>
      </p:sp>
      <p:sp>
        <p:nvSpPr>
          <p:cNvPr id="19" name="Shape 17"/>
          <p:cNvSpPr/>
          <p:nvPr/>
        </p:nvSpPr>
        <p:spPr>
          <a:xfrm>
            <a:off x="12938760" y="3980688"/>
            <a:ext cx="713232" cy="484632"/>
          </a:xfrm>
          <a:prstGeom prst="rect">
            <a:avLst/>
          </a:prstGeom>
          <a:solidFill>
            <a:srgbClr val="000000"/>
          </a:solidFill>
          <a:ln w="12700">
            <a:solidFill>
              <a:srgbClr val="000000"/>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26</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إبراز المملكة وجهة سياحية آمنة طوال العام رغم الاضطرابات الإقليمية، ورفع جودة الخدمات والمرافق في المواقع السياحية، وتحسين تجربة الزائر وتنويع المنتج السياحي.</a:t>
            </a:r>
            <a:endParaRPr lang="ar-JO" sz="2300" dirty="0"/>
          </a:p>
        </p:txBody>
      </p:sp>
      <p:sp>
        <p:nvSpPr>
          <p:cNvPr id="22" name="Shape 20"/>
          <p:cNvSpPr/>
          <p:nvPr/>
        </p:nvSpPr>
        <p:spPr>
          <a:xfrm>
            <a:off x="594360" y="5455920"/>
            <a:ext cx="13441680" cy="1539240"/>
          </a:xfrm>
          <a:prstGeom prst="rect">
            <a:avLst/>
          </a:prstGeom>
          <a:solidFill>
            <a:srgbClr val="FFFFFF"/>
          </a:solidFill>
          <a:ln w="7620">
            <a:solidFill>
              <a:srgbClr val="000000"/>
            </a:solidFill>
            <a:prstDash val="solid"/>
          </a:ln>
        </p:spPr>
      </p:sp>
      <p:sp>
        <p:nvSpPr>
          <p:cNvPr id="23" name="Shape 21"/>
          <p:cNvSpPr/>
          <p:nvPr/>
        </p:nvSpPr>
        <p:spPr>
          <a:xfrm>
            <a:off x="13962888" y="5455920"/>
            <a:ext cx="73152" cy="1539240"/>
          </a:xfrm>
          <a:prstGeom prst="rect">
            <a:avLst/>
          </a:prstGeom>
          <a:solidFill>
            <a:srgbClr val="000000"/>
          </a:solidFill>
          <a:ln w="12700">
            <a:solidFill>
              <a:srgbClr val="000000"/>
            </a:solidFill>
            <a:prstDash val="solid"/>
          </a:ln>
        </p:spPr>
      </p:sp>
      <p:sp>
        <p:nvSpPr>
          <p:cNvPr id="24" name="Shape 22"/>
          <p:cNvSpPr/>
          <p:nvPr/>
        </p:nvSpPr>
        <p:spPr>
          <a:xfrm>
            <a:off x="12938760" y="5657088"/>
            <a:ext cx="713232" cy="484632"/>
          </a:xfrm>
          <a:prstGeom prst="rect">
            <a:avLst/>
          </a:prstGeom>
          <a:solidFill>
            <a:srgbClr val="000000"/>
          </a:solidFill>
          <a:ln w="12700">
            <a:solidFill>
              <a:srgbClr val="000000"/>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27</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تعظيم الاستفادة من الموارد الطبيعية والغاز الطبيعي بتوجيه الاستثمار إليها وتوسيع الاستخدام الصناعي والتجاري لها، مع التوسع في الطاقة المتجددة والهيدروجين الأخضر للتحول نحو طاقة نظيفة ومستدامة.</a:t>
            </a:r>
            <a:endParaRPr lang="ar-JO" sz="2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الثالث · الأهداف الوطنية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الأهداف الوطنية — من (28) إلى (30)</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6–7 | ٣/ب | الأهداف 28–30</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22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9539257" cy="32004"/>
          </a:xfrm>
          <a:prstGeom prst="rect">
            <a:avLst/>
          </a:prstGeom>
          <a:solidFill>
            <a:srgbClr val="000000"/>
          </a:solidFill>
          <a:ln w="12700">
            <a:solidFill>
              <a:srgbClr val="000000"/>
            </a:solidFill>
            <a:prstDash val="solid"/>
          </a:ln>
        </p:spPr>
      </p:sp>
      <p:sp>
        <p:nvSpPr>
          <p:cNvPr id="12" name="Shape 10"/>
          <p:cNvSpPr/>
          <p:nvPr/>
        </p:nvSpPr>
        <p:spPr>
          <a:xfrm>
            <a:off x="594360" y="2103120"/>
            <a:ext cx="13441680" cy="1539240"/>
          </a:xfrm>
          <a:prstGeom prst="rect">
            <a:avLst/>
          </a:prstGeom>
          <a:solidFill>
            <a:srgbClr val="FFFFFF"/>
          </a:solidFill>
          <a:ln w="7620">
            <a:solidFill>
              <a:srgbClr val="000000"/>
            </a:solidFill>
            <a:prstDash val="solid"/>
          </a:ln>
        </p:spPr>
      </p:sp>
      <p:sp>
        <p:nvSpPr>
          <p:cNvPr id="13" name="Shape 11"/>
          <p:cNvSpPr/>
          <p:nvPr/>
        </p:nvSpPr>
        <p:spPr>
          <a:xfrm>
            <a:off x="13962888" y="2103120"/>
            <a:ext cx="73152" cy="1539240"/>
          </a:xfrm>
          <a:prstGeom prst="rect">
            <a:avLst/>
          </a:prstGeom>
          <a:solidFill>
            <a:srgbClr val="000000"/>
          </a:solidFill>
          <a:ln w="12700">
            <a:solidFill>
              <a:srgbClr val="000000"/>
            </a:solidFill>
            <a:prstDash val="solid"/>
          </a:ln>
        </p:spPr>
      </p:sp>
      <p:sp>
        <p:nvSpPr>
          <p:cNvPr id="14" name="Shape 12"/>
          <p:cNvSpPr/>
          <p:nvPr/>
        </p:nvSpPr>
        <p:spPr>
          <a:xfrm>
            <a:off x="12938760" y="2304288"/>
            <a:ext cx="713232" cy="484632"/>
          </a:xfrm>
          <a:prstGeom prst="rect">
            <a:avLst/>
          </a:prstGeom>
          <a:solidFill>
            <a:srgbClr val="000000"/>
          </a:solidFill>
          <a:ln w="12700">
            <a:solidFill>
              <a:srgbClr val="000000"/>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28</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ترسيخ القيم الوطنية والمجتمعية والعمل التطوعي والمشاركة والمسؤولية واحترام سيادة القانون عبر المؤسسات التعليمية، وتعزيز تماسك المجتمع ونهضته ضمن الدولة المدنية.</a:t>
            </a:r>
            <a:endParaRPr lang="ar-JO" sz="2300" dirty="0"/>
          </a:p>
        </p:txBody>
      </p:sp>
      <p:sp>
        <p:nvSpPr>
          <p:cNvPr id="17" name="Shape 15"/>
          <p:cNvSpPr/>
          <p:nvPr/>
        </p:nvSpPr>
        <p:spPr>
          <a:xfrm>
            <a:off x="594360" y="3779520"/>
            <a:ext cx="13441680" cy="1539240"/>
          </a:xfrm>
          <a:prstGeom prst="rect">
            <a:avLst/>
          </a:prstGeom>
          <a:solidFill>
            <a:srgbClr val="FFFFFF"/>
          </a:solidFill>
          <a:ln w="7620">
            <a:solidFill>
              <a:srgbClr val="000000"/>
            </a:solidFill>
            <a:prstDash val="solid"/>
          </a:ln>
        </p:spPr>
      </p:sp>
      <p:sp>
        <p:nvSpPr>
          <p:cNvPr id="18" name="Shape 16"/>
          <p:cNvSpPr/>
          <p:nvPr/>
        </p:nvSpPr>
        <p:spPr>
          <a:xfrm>
            <a:off x="13962888" y="3779520"/>
            <a:ext cx="73152" cy="1539240"/>
          </a:xfrm>
          <a:prstGeom prst="rect">
            <a:avLst/>
          </a:prstGeom>
          <a:solidFill>
            <a:srgbClr val="000000"/>
          </a:solidFill>
          <a:ln w="12700">
            <a:solidFill>
              <a:srgbClr val="000000"/>
            </a:solidFill>
            <a:prstDash val="solid"/>
          </a:ln>
        </p:spPr>
      </p:sp>
      <p:sp>
        <p:nvSpPr>
          <p:cNvPr id="19" name="Shape 17"/>
          <p:cNvSpPr/>
          <p:nvPr/>
        </p:nvSpPr>
        <p:spPr>
          <a:xfrm>
            <a:off x="12938760" y="3980688"/>
            <a:ext cx="713232" cy="484632"/>
          </a:xfrm>
          <a:prstGeom prst="rect">
            <a:avLst/>
          </a:prstGeom>
          <a:solidFill>
            <a:srgbClr val="000000"/>
          </a:solidFill>
          <a:ln w="12700">
            <a:solidFill>
              <a:srgbClr val="000000"/>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29</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مواصلة حوسبة المستشفيات والمراكز الطبية، وتحسين جودة الخدمات الصحية والإدارة الحصيفة للمرافق والبنية الصحية في المملكة.</a:t>
            </a:r>
            <a:endParaRPr lang="ar-JO" sz="2300" dirty="0"/>
          </a:p>
        </p:txBody>
      </p:sp>
      <p:sp>
        <p:nvSpPr>
          <p:cNvPr id="22" name="Shape 20"/>
          <p:cNvSpPr/>
          <p:nvPr/>
        </p:nvSpPr>
        <p:spPr>
          <a:xfrm>
            <a:off x="594360" y="5455920"/>
            <a:ext cx="13441680" cy="1539240"/>
          </a:xfrm>
          <a:prstGeom prst="rect">
            <a:avLst/>
          </a:prstGeom>
          <a:solidFill>
            <a:srgbClr val="FFFFFF"/>
          </a:solidFill>
          <a:ln w="7620">
            <a:solidFill>
              <a:srgbClr val="000000"/>
            </a:solidFill>
            <a:prstDash val="solid"/>
          </a:ln>
        </p:spPr>
      </p:sp>
      <p:sp>
        <p:nvSpPr>
          <p:cNvPr id="23" name="Shape 21"/>
          <p:cNvSpPr/>
          <p:nvPr/>
        </p:nvSpPr>
        <p:spPr>
          <a:xfrm>
            <a:off x="13962888" y="5455920"/>
            <a:ext cx="73152" cy="1539240"/>
          </a:xfrm>
          <a:prstGeom prst="rect">
            <a:avLst/>
          </a:prstGeom>
          <a:solidFill>
            <a:srgbClr val="000000"/>
          </a:solidFill>
          <a:ln w="12700">
            <a:solidFill>
              <a:srgbClr val="000000"/>
            </a:solidFill>
            <a:prstDash val="solid"/>
          </a:ln>
        </p:spPr>
      </p:sp>
      <p:sp>
        <p:nvSpPr>
          <p:cNvPr id="24" name="Shape 22"/>
          <p:cNvSpPr/>
          <p:nvPr/>
        </p:nvSpPr>
        <p:spPr>
          <a:xfrm>
            <a:off x="12938760" y="5657088"/>
            <a:ext cx="713232" cy="484632"/>
          </a:xfrm>
          <a:prstGeom prst="rect">
            <a:avLst/>
          </a:prstGeom>
          <a:solidFill>
            <a:srgbClr val="000000"/>
          </a:solidFill>
          <a:ln w="12700">
            <a:solidFill>
              <a:srgbClr val="000000"/>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30</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تكريس مساءلة المقصرين في واجباتهم تجاه المواطنين، وإعلاء مفهوم الخدمة العامة القائمة على الحلول وإزالة العراقيل.</a:t>
            </a:r>
            <a:endParaRPr lang="ar-JO" sz="2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الثالث · الأهداف الوطنية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الأهداف الوطنية — من (31) إلى (33)</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7 | ٣/ب | الأهداف 31–33</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23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9972859" cy="32004"/>
          </a:xfrm>
          <a:prstGeom prst="rect">
            <a:avLst/>
          </a:prstGeom>
          <a:solidFill>
            <a:srgbClr val="000000"/>
          </a:solidFill>
          <a:ln w="12700">
            <a:solidFill>
              <a:srgbClr val="000000"/>
            </a:solidFill>
            <a:prstDash val="solid"/>
          </a:ln>
        </p:spPr>
      </p:sp>
      <p:sp>
        <p:nvSpPr>
          <p:cNvPr id="12" name="Shape 10"/>
          <p:cNvSpPr/>
          <p:nvPr/>
        </p:nvSpPr>
        <p:spPr>
          <a:xfrm>
            <a:off x="594360" y="2103120"/>
            <a:ext cx="13441680" cy="1539240"/>
          </a:xfrm>
          <a:prstGeom prst="rect">
            <a:avLst/>
          </a:prstGeom>
          <a:solidFill>
            <a:srgbClr val="FFFFFF"/>
          </a:solidFill>
          <a:ln w="7620">
            <a:solidFill>
              <a:srgbClr val="000000"/>
            </a:solidFill>
            <a:prstDash val="solid"/>
          </a:ln>
        </p:spPr>
      </p:sp>
      <p:sp>
        <p:nvSpPr>
          <p:cNvPr id="13" name="Shape 11"/>
          <p:cNvSpPr/>
          <p:nvPr/>
        </p:nvSpPr>
        <p:spPr>
          <a:xfrm>
            <a:off x="13962888" y="2103120"/>
            <a:ext cx="73152" cy="1539240"/>
          </a:xfrm>
          <a:prstGeom prst="rect">
            <a:avLst/>
          </a:prstGeom>
          <a:solidFill>
            <a:srgbClr val="000000"/>
          </a:solidFill>
          <a:ln w="12700">
            <a:solidFill>
              <a:srgbClr val="000000"/>
            </a:solidFill>
            <a:prstDash val="solid"/>
          </a:ln>
        </p:spPr>
      </p:sp>
      <p:sp>
        <p:nvSpPr>
          <p:cNvPr id="14" name="Shape 12"/>
          <p:cNvSpPr/>
          <p:nvPr/>
        </p:nvSpPr>
        <p:spPr>
          <a:xfrm>
            <a:off x="12938760" y="2304288"/>
            <a:ext cx="713232" cy="484632"/>
          </a:xfrm>
          <a:prstGeom prst="rect">
            <a:avLst/>
          </a:prstGeom>
          <a:solidFill>
            <a:srgbClr val="000000"/>
          </a:solidFill>
          <a:ln w="12700">
            <a:solidFill>
              <a:srgbClr val="000000"/>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31</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استكمال دعم المرأة الأردنية وتمكينها لتعزيز انخراطها في سوق العمل، وذلك بإزالة العقبات التي تحول دون مشاركتها الفاعلة، ما يكفل الارتقاء بمستوى مساهمتها في الاقتصاد الوطني.</a:t>
            </a:r>
            <a:endParaRPr lang="ar-JO" sz="2300" dirty="0"/>
          </a:p>
        </p:txBody>
      </p:sp>
      <p:sp>
        <p:nvSpPr>
          <p:cNvPr id="17" name="Shape 15"/>
          <p:cNvSpPr/>
          <p:nvPr/>
        </p:nvSpPr>
        <p:spPr>
          <a:xfrm>
            <a:off x="594360" y="3779520"/>
            <a:ext cx="13441680" cy="1539240"/>
          </a:xfrm>
          <a:prstGeom prst="rect">
            <a:avLst/>
          </a:prstGeom>
          <a:solidFill>
            <a:srgbClr val="FFFFFF"/>
          </a:solidFill>
          <a:ln w="7620">
            <a:solidFill>
              <a:srgbClr val="000000"/>
            </a:solidFill>
            <a:prstDash val="solid"/>
          </a:ln>
        </p:spPr>
      </p:sp>
      <p:sp>
        <p:nvSpPr>
          <p:cNvPr id="18" name="Shape 16"/>
          <p:cNvSpPr/>
          <p:nvPr/>
        </p:nvSpPr>
        <p:spPr>
          <a:xfrm>
            <a:off x="13962888" y="3779520"/>
            <a:ext cx="73152" cy="1539240"/>
          </a:xfrm>
          <a:prstGeom prst="rect">
            <a:avLst/>
          </a:prstGeom>
          <a:solidFill>
            <a:srgbClr val="000000"/>
          </a:solidFill>
          <a:ln w="12700">
            <a:solidFill>
              <a:srgbClr val="000000"/>
            </a:solidFill>
            <a:prstDash val="solid"/>
          </a:ln>
        </p:spPr>
      </p:sp>
      <p:sp>
        <p:nvSpPr>
          <p:cNvPr id="19" name="Shape 17"/>
          <p:cNvSpPr/>
          <p:nvPr/>
        </p:nvSpPr>
        <p:spPr>
          <a:xfrm>
            <a:off x="12938760" y="3980688"/>
            <a:ext cx="713232" cy="484632"/>
          </a:xfrm>
          <a:prstGeom prst="rect">
            <a:avLst/>
          </a:prstGeom>
          <a:solidFill>
            <a:srgbClr val="000000"/>
          </a:solidFill>
          <a:ln w="12700">
            <a:solidFill>
              <a:srgbClr val="000000"/>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32</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تحمل الحكومة مسؤولية تمكين الشباب والشابات وتوجيه طاقاتهم نحو البناء والتطوير، وتوسيع دور المراكز الشبابية وحاضنات الريادة.</a:t>
            </a:r>
            <a:endParaRPr lang="ar-JO" sz="2300" dirty="0"/>
          </a:p>
        </p:txBody>
      </p:sp>
      <p:sp>
        <p:nvSpPr>
          <p:cNvPr id="22" name="Shape 20"/>
          <p:cNvSpPr/>
          <p:nvPr/>
        </p:nvSpPr>
        <p:spPr>
          <a:xfrm>
            <a:off x="594360" y="5455920"/>
            <a:ext cx="13441680" cy="1539240"/>
          </a:xfrm>
          <a:prstGeom prst="rect">
            <a:avLst/>
          </a:prstGeom>
          <a:solidFill>
            <a:srgbClr val="FFFFFF"/>
          </a:solidFill>
          <a:ln w="7620">
            <a:solidFill>
              <a:srgbClr val="000000"/>
            </a:solidFill>
            <a:prstDash val="solid"/>
          </a:ln>
        </p:spPr>
      </p:sp>
      <p:sp>
        <p:nvSpPr>
          <p:cNvPr id="23" name="Shape 21"/>
          <p:cNvSpPr/>
          <p:nvPr/>
        </p:nvSpPr>
        <p:spPr>
          <a:xfrm>
            <a:off x="13962888" y="5455920"/>
            <a:ext cx="73152" cy="1539240"/>
          </a:xfrm>
          <a:prstGeom prst="rect">
            <a:avLst/>
          </a:prstGeom>
          <a:solidFill>
            <a:srgbClr val="000000"/>
          </a:solidFill>
          <a:ln w="12700">
            <a:solidFill>
              <a:srgbClr val="000000"/>
            </a:solidFill>
            <a:prstDash val="solid"/>
          </a:ln>
        </p:spPr>
      </p:sp>
      <p:sp>
        <p:nvSpPr>
          <p:cNvPr id="24" name="Shape 22"/>
          <p:cNvSpPr/>
          <p:nvPr/>
        </p:nvSpPr>
        <p:spPr>
          <a:xfrm>
            <a:off x="12938760" y="5657088"/>
            <a:ext cx="713232" cy="484632"/>
          </a:xfrm>
          <a:prstGeom prst="rect">
            <a:avLst/>
          </a:prstGeom>
          <a:solidFill>
            <a:srgbClr val="000000"/>
          </a:solidFill>
          <a:ln w="12700">
            <a:solidFill>
              <a:srgbClr val="000000"/>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33</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دعم المنتخب الوطني لكرة القدم واستدامة الشراكات مع القطاع الخاص لتوفير المنشآت والتجهيزات الرياضية وتطويرها.</a:t>
            </a:r>
            <a:endParaRPr lang="ar-JO" sz="2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الثالث · الأهداف الوطنية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الأهداف الوطنية — من (34) إلى (36)</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7 | ٣/ب | الأهداف 34–36</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24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10406462" cy="32004"/>
          </a:xfrm>
          <a:prstGeom prst="rect">
            <a:avLst/>
          </a:prstGeom>
          <a:solidFill>
            <a:srgbClr val="000000"/>
          </a:solidFill>
          <a:ln w="12700">
            <a:solidFill>
              <a:srgbClr val="000000"/>
            </a:solidFill>
            <a:prstDash val="solid"/>
          </a:ln>
        </p:spPr>
      </p:sp>
      <p:sp>
        <p:nvSpPr>
          <p:cNvPr id="12" name="Shape 10"/>
          <p:cNvSpPr/>
          <p:nvPr/>
        </p:nvSpPr>
        <p:spPr>
          <a:xfrm>
            <a:off x="594360" y="2103120"/>
            <a:ext cx="13441680" cy="1539240"/>
          </a:xfrm>
          <a:prstGeom prst="rect">
            <a:avLst/>
          </a:prstGeom>
          <a:solidFill>
            <a:srgbClr val="FFFFFF"/>
          </a:solidFill>
          <a:ln w="7620">
            <a:solidFill>
              <a:srgbClr val="000000"/>
            </a:solidFill>
            <a:prstDash val="solid"/>
          </a:ln>
        </p:spPr>
      </p:sp>
      <p:sp>
        <p:nvSpPr>
          <p:cNvPr id="13" name="Shape 11"/>
          <p:cNvSpPr/>
          <p:nvPr/>
        </p:nvSpPr>
        <p:spPr>
          <a:xfrm>
            <a:off x="13962888" y="2103120"/>
            <a:ext cx="73152" cy="1539240"/>
          </a:xfrm>
          <a:prstGeom prst="rect">
            <a:avLst/>
          </a:prstGeom>
          <a:solidFill>
            <a:srgbClr val="000000"/>
          </a:solidFill>
          <a:ln w="12700">
            <a:solidFill>
              <a:srgbClr val="000000"/>
            </a:solidFill>
            <a:prstDash val="solid"/>
          </a:ln>
        </p:spPr>
      </p:sp>
      <p:sp>
        <p:nvSpPr>
          <p:cNvPr id="14" name="Shape 12"/>
          <p:cNvSpPr/>
          <p:nvPr/>
        </p:nvSpPr>
        <p:spPr>
          <a:xfrm>
            <a:off x="12938760" y="2304288"/>
            <a:ext cx="713232" cy="484632"/>
          </a:xfrm>
          <a:prstGeom prst="rect">
            <a:avLst/>
          </a:prstGeom>
          <a:solidFill>
            <a:srgbClr val="000000"/>
          </a:solidFill>
          <a:ln w="12700">
            <a:solidFill>
              <a:srgbClr val="000000"/>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34</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تكثيف برامج التوعية والتثقيف وتوفير الحواضن الشبابية في المؤسسات التعليمية والثقافية والشبابية، وتشديد ملاحقة مهربي المخدرات ومروجيها وإنفاذ القانون بحقهم.</a:t>
            </a:r>
            <a:endParaRPr lang="ar-JO" sz="2300" dirty="0"/>
          </a:p>
        </p:txBody>
      </p:sp>
      <p:sp>
        <p:nvSpPr>
          <p:cNvPr id="17" name="Shape 15"/>
          <p:cNvSpPr/>
          <p:nvPr/>
        </p:nvSpPr>
        <p:spPr>
          <a:xfrm>
            <a:off x="594360" y="3779520"/>
            <a:ext cx="13441680" cy="1539240"/>
          </a:xfrm>
          <a:prstGeom prst="rect">
            <a:avLst/>
          </a:prstGeom>
          <a:solidFill>
            <a:srgbClr val="FFFFFF"/>
          </a:solidFill>
          <a:ln w="7620">
            <a:solidFill>
              <a:srgbClr val="000000"/>
            </a:solidFill>
            <a:prstDash val="solid"/>
          </a:ln>
        </p:spPr>
      </p:sp>
      <p:sp>
        <p:nvSpPr>
          <p:cNvPr id="18" name="Shape 16"/>
          <p:cNvSpPr/>
          <p:nvPr/>
        </p:nvSpPr>
        <p:spPr>
          <a:xfrm>
            <a:off x="13962888" y="3779520"/>
            <a:ext cx="73152" cy="1539240"/>
          </a:xfrm>
          <a:prstGeom prst="rect">
            <a:avLst/>
          </a:prstGeom>
          <a:solidFill>
            <a:srgbClr val="000000"/>
          </a:solidFill>
          <a:ln w="12700">
            <a:solidFill>
              <a:srgbClr val="000000"/>
            </a:solidFill>
            <a:prstDash val="solid"/>
          </a:ln>
        </p:spPr>
      </p:sp>
      <p:sp>
        <p:nvSpPr>
          <p:cNvPr id="19" name="Shape 17"/>
          <p:cNvSpPr/>
          <p:nvPr/>
        </p:nvSpPr>
        <p:spPr>
          <a:xfrm>
            <a:off x="12938760" y="3980688"/>
            <a:ext cx="713232" cy="484632"/>
          </a:xfrm>
          <a:prstGeom prst="rect">
            <a:avLst/>
          </a:prstGeom>
          <a:solidFill>
            <a:srgbClr val="000000"/>
          </a:solidFill>
          <a:ln w="12700">
            <a:solidFill>
              <a:srgbClr val="000000"/>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35</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تحديث الإطار التشريعي الناظم للانتخابات المحلية المقبلة، وتمكين هياكل الإدارة المحلية من أداء أدوارها التنموية والخدمية، وتعزيز الرقابة والمساءلة وبناء القدرات والتحول الرقمي.</a:t>
            </a:r>
            <a:endParaRPr lang="ar-JO" sz="2300" dirty="0"/>
          </a:p>
        </p:txBody>
      </p:sp>
      <p:sp>
        <p:nvSpPr>
          <p:cNvPr id="22" name="Shape 20"/>
          <p:cNvSpPr/>
          <p:nvPr/>
        </p:nvSpPr>
        <p:spPr>
          <a:xfrm>
            <a:off x="594360" y="5455920"/>
            <a:ext cx="13441680" cy="1539240"/>
          </a:xfrm>
          <a:prstGeom prst="rect">
            <a:avLst/>
          </a:prstGeom>
          <a:solidFill>
            <a:srgbClr val="FFFFFF"/>
          </a:solidFill>
          <a:ln w="7620">
            <a:solidFill>
              <a:srgbClr val="000000"/>
            </a:solidFill>
            <a:prstDash val="solid"/>
          </a:ln>
        </p:spPr>
      </p:sp>
      <p:sp>
        <p:nvSpPr>
          <p:cNvPr id="23" name="Shape 21"/>
          <p:cNvSpPr/>
          <p:nvPr/>
        </p:nvSpPr>
        <p:spPr>
          <a:xfrm>
            <a:off x="13962888" y="5455920"/>
            <a:ext cx="73152" cy="1539240"/>
          </a:xfrm>
          <a:prstGeom prst="rect">
            <a:avLst/>
          </a:prstGeom>
          <a:solidFill>
            <a:srgbClr val="000000"/>
          </a:solidFill>
          <a:ln w="12700">
            <a:solidFill>
              <a:srgbClr val="000000"/>
            </a:solidFill>
            <a:prstDash val="solid"/>
          </a:ln>
        </p:spPr>
      </p:sp>
      <p:sp>
        <p:nvSpPr>
          <p:cNvPr id="24" name="Shape 22"/>
          <p:cNvSpPr/>
          <p:nvPr/>
        </p:nvSpPr>
        <p:spPr>
          <a:xfrm>
            <a:off x="12938760" y="5657088"/>
            <a:ext cx="713232" cy="484632"/>
          </a:xfrm>
          <a:prstGeom prst="rect">
            <a:avLst/>
          </a:prstGeom>
          <a:solidFill>
            <a:srgbClr val="000000"/>
          </a:solidFill>
          <a:ln w="12700">
            <a:solidFill>
              <a:srgbClr val="000000"/>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36</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تمكين دائرة الإحصاءات العامة من أداء دورها مرجعاً وطنياً للبيانات والمعلومات الشاملة، بما يدعم اتخاذ قرارات حكومية شفافة وأكثر فعالية.</a:t>
            </a:r>
            <a:endParaRPr lang="ar-JO" sz="2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الثالث · الأهداف الوطنية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الأهداف الوطنية — من (37) إلى (39)</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7 | ٣/ب | الأهداف 37–39</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25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10840065" cy="32004"/>
          </a:xfrm>
          <a:prstGeom prst="rect">
            <a:avLst/>
          </a:prstGeom>
          <a:solidFill>
            <a:srgbClr val="000000"/>
          </a:solidFill>
          <a:ln w="12700">
            <a:solidFill>
              <a:srgbClr val="000000"/>
            </a:solidFill>
            <a:prstDash val="solid"/>
          </a:ln>
        </p:spPr>
      </p:sp>
      <p:sp>
        <p:nvSpPr>
          <p:cNvPr id="12" name="Shape 10"/>
          <p:cNvSpPr/>
          <p:nvPr/>
        </p:nvSpPr>
        <p:spPr>
          <a:xfrm>
            <a:off x="594360" y="2103120"/>
            <a:ext cx="13441680" cy="1539240"/>
          </a:xfrm>
          <a:prstGeom prst="rect">
            <a:avLst/>
          </a:prstGeom>
          <a:solidFill>
            <a:srgbClr val="FFFFFF"/>
          </a:solidFill>
          <a:ln w="7620">
            <a:solidFill>
              <a:srgbClr val="000000"/>
            </a:solidFill>
            <a:prstDash val="solid"/>
          </a:ln>
        </p:spPr>
      </p:sp>
      <p:sp>
        <p:nvSpPr>
          <p:cNvPr id="13" name="Shape 11"/>
          <p:cNvSpPr/>
          <p:nvPr/>
        </p:nvSpPr>
        <p:spPr>
          <a:xfrm>
            <a:off x="13962888" y="2103120"/>
            <a:ext cx="73152" cy="1539240"/>
          </a:xfrm>
          <a:prstGeom prst="rect">
            <a:avLst/>
          </a:prstGeom>
          <a:solidFill>
            <a:srgbClr val="000000"/>
          </a:solidFill>
          <a:ln w="12700">
            <a:solidFill>
              <a:srgbClr val="000000"/>
            </a:solidFill>
            <a:prstDash val="solid"/>
          </a:ln>
        </p:spPr>
      </p:sp>
      <p:sp>
        <p:nvSpPr>
          <p:cNvPr id="14" name="Shape 12"/>
          <p:cNvSpPr/>
          <p:nvPr/>
        </p:nvSpPr>
        <p:spPr>
          <a:xfrm>
            <a:off x="12938760" y="2304288"/>
            <a:ext cx="713232" cy="484632"/>
          </a:xfrm>
          <a:prstGeom prst="rect">
            <a:avLst/>
          </a:prstGeom>
          <a:solidFill>
            <a:srgbClr val="000000"/>
          </a:solidFill>
          <a:ln w="12700">
            <a:solidFill>
              <a:srgbClr val="000000"/>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37</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تقليص الفجوة بين مخرجات التعليم ومتطلبات سوق العمل، وتأهيل المعلمين وتطوير المناهج، والتوسع في التدريس الذكي وتهيئة مدارس آمنة ومحفزة وبناء المدارس ورياض الأطفال.</a:t>
            </a:r>
            <a:endParaRPr lang="ar-JO" sz="2300" dirty="0"/>
          </a:p>
        </p:txBody>
      </p:sp>
      <p:sp>
        <p:nvSpPr>
          <p:cNvPr id="17" name="Shape 15"/>
          <p:cNvSpPr/>
          <p:nvPr/>
        </p:nvSpPr>
        <p:spPr>
          <a:xfrm>
            <a:off x="594360" y="3779520"/>
            <a:ext cx="13441680" cy="1539240"/>
          </a:xfrm>
          <a:prstGeom prst="rect">
            <a:avLst/>
          </a:prstGeom>
          <a:solidFill>
            <a:srgbClr val="FFFFFF"/>
          </a:solidFill>
          <a:ln w="7620">
            <a:solidFill>
              <a:srgbClr val="000000"/>
            </a:solidFill>
            <a:prstDash val="solid"/>
          </a:ln>
        </p:spPr>
      </p:sp>
      <p:sp>
        <p:nvSpPr>
          <p:cNvPr id="18" name="Shape 16"/>
          <p:cNvSpPr/>
          <p:nvPr/>
        </p:nvSpPr>
        <p:spPr>
          <a:xfrm>
            <a:off x="13962888" y="3779520"/>
            <a:ext cx="73152" cy="1539240"/>
          </a:xfrm>
          <a:prstGeom prst="rect">
            <a:avLst/>
          </a:prstGeom>
          <a:solidFill>
            <a:srgbClr val="000000"/>
          </a:solidFill>
          <a:ln w="12700">
            <a:solidFill>
              <a:srgbClr val="000000"/>
            </a:solidFill>
            <a:prstDash val="solid"/>
          </a:ln>
        </p:spPr>
      </p:sp>
      <p:sp>
        <p:nvSpPr>
          <p:cNvPr id="19" name="Shape 17"/>
          <p:cNvSpPr/>
          <p:nvPr/>
        </p:nvSpPr>
        <p:spPr>
          <a:xfrm>
            <a:off x="12938760" y="3980688"/>
            <a:ext cx="713232" cy="484632"/>
          </a:xfrm>
          <a:prstGeom prst="rect">
            <a:avLst/>
          </a:prstGeom>
          <a:solidFill>
            <a:srgbClr val="000000"/>
          </a:solidFill>
          <a:ln w="12700">
            <a:solidFill>
              <a:srgbClr val="000000"/>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38</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مواكبة الثورة التكنولوجية بالعالم تستوجب العمل على تشجيع وسائل الإعلام على تطوير أدواتها للتحول الرقمي.</a:t>
            </a:r>
            <a:endParaRPr lang="ar-JO" sz="2300" dirty="0"/>
          </a:p>
        </p:txBody>
      </p:sp>
      <p:sp>
        <p:nvSpPr>
          <p:cNvPr id="22" name="Shape 20"/>
          <p:cNvSpPr/>
          <p:nvPr/>
        </p:nvSpPr>
        <p:spPr>
          <a:xfrm>
            <a:off x="594360" y="5455920"/>
            <a:ext cx="13441680" cy="1539240"/>
          </a:xfrm>
          <a:prstGeom prst="rect">
            <a:avLst/>
          </a:prstGeom>
          <a:solidFill>
            <a:srgbClr val="FFFFFF"/>
          </a:solidFill>
          <a:ln w="7620">
            <a:solidFill>
              <a:srgbClr val="000000"/>
            </a:solidFill>
            <a:prstDash val="solid"/>
          </a:ln>
        </p:spPr>
      </p:sp>
      <p:sp>
        <p:nvSpPr>
          <p:cNvPr id="23" name="Shape 21"/>
          <p:cNvSpPr/>
          <p:nvPr/>
        </p:nvSpPr>
        <p:spPr>
          <a:xfrm>
            <a:off x="13962888" y="5455920"/>
            <a:ext cx="73152" cy="1539240"/>
          </a:xfrm>
          <a:prstGeom prst="rect">
            <a:avLst/>
          </a:prstGeom>
          <a:solidFill>
            <a:srgbClr val="000000"/>
          </a:solidFill>
          <a:ln w="12700">
            <a:solidFill>
              <a:srgbClr val="000000"/>
            </a:solidFill>
            <a:prstDash val="solid"/>
          </a:ln>
        </p:spPr>
      </p:sp>
      <p:sp>
        <p:nvSpPr>
          <p:cNvPr id="24" name="Shape 22"/>
          <p:cNvSpPr/>
          <p:nvPr/>
        </p:nvSpPr>
        <p:spPr>
          <a:xfrm>
            <a:off x="12938760" y="5657088"/>
            <a:ext cx="713232" cy="484632"/>
          </a:xfrm>
          <a:prstGeom prst="rect">
            <a:avLst/>
          </a:prstGeom>
          <a:solidFill>
            <a:srgbClr val="000000"/>
          </a:solidFill>
          <a:ln w="12700">
            <a:solidFill>
              <a:srgbClr val="000000"/>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39</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السعي إلى تطوير قطاع الطاقة والمياه والنقل وإيجاد حلول مناسبة لمشكلتي المياه والطاقة وتوفير البدائل.</a:t>
            </a:r>
            <a:endParaRPr lang="ar-JO" sz="2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الرابع</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٤. الاتجاهات العامة للسياسة الوطنية الأردنية</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٨ | مقدمة المحور الرابع</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26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11273667" cy="32004"/>
          </a:xfrm>
          <a:prstGeom prst="rect">
            <a:avLst/>
          </a:prstGeom>
          <a:solidFill>
            <a:srgbClr val="000000"/>
          </a:solidFill>
          <a:ln w="12700">
            <a:solidFill>
              <a:srgbClr val="000000"/>
            </a:solidFill>
            <a:prstDash val="solid"/>
          </a:ln>
        </p:spPr>
      </p:sp>
      <p:sp>
        <p:nvSpPr>
          <p:cNvPr id="12" name="Text 10"/>
          <p:cNvSpPr/>
          <p:nvPr/>
        </p:nvSpPr>
        <p:spPr>
          <a:xfrm>
            <a:off x="960120" y="2432304"/>
            <a:ext cx="12710160" cy="3017520"/>
          </a:xfrm>
          <a:prstGeom prst="rect">
            <a:avLst/>
          </a:prstGeom>
          <a:noFill/>
          <a:ln/>
        </p:spPr>
        <p:txBody>
          <a:bodyPr wrap="square" lIns="0" tIns="0" rIns="0" bIns="0" rtlCol="0" anchor="ctr"/>
          <a:lstStyle/>
          <a:p>
            <a:pPr rtl="1" algn="r" indent="0" marL="0">
              <a:lnSpc>
                <a:spcPct val="115000"/>
              </a:lnSpc>
              <a:buNone/>
            </a:pPr>
            <a:r>
              <a:rPr lang="ar-JO" altLang="en-US" sz="3000" dirty="0">
                <a:solidFill>
                  <a:srgbClr val="000000"/>
                </a:solidFill>
                <a:latin typeface="Noto Sans Arabic" pitchFamily="34" charset="0"/>
                <a:ea typeface="Noto Sans Arabic" pitchFamily="34" charset="-122"/>
                <a:cs typeface="Noto Sans Arabic" pitchFamily="34" charset="-120"/>
              </a:rPr>
              <a:t>في ظل التحولات والتوترات الإقليمية والدولية التي تؤثر في البيئة الاستراتيجية للمملكة، تحدد السياسة الوطنية الاتجاهات الحاكمة لتوظيف عناصر القوة الوطنية وحماية أمن الدولة واستقرارها وتحقيق مصالحها.</a:t>
            </a:r>
            <a:endParaRPr lang="ar-JO" sz="3000" dirty="0"/>
          </a:p>
        </p:txBody>
      </p:sp>
      <p:sp>
        <p:nvSpPr>
          <p:cNvPr id="13" name="Text 11"/>
          <p:cNvSpPr/>
          <p:nvPr/>
        </p:nvSpPr>
        <p:spPr>
          <a:xfrm>
            <a:off x="960120" y="6217920"/>
            <a:ext cx="12710160" cy="548640"/>
          </a:xfrm>
          <a:prstGeom prst="rect">
            <a:avLst/>
          </a:prstGeom>
          <a:noFill/>
          <a:ln/>
        </p:spPr>
        <p:txBody>
          <a:bodyPr wrap="square" lIns="0" tIns="0" rIns="0" bIns="0" rtlCol="0" anchor="ctr"/>
          <a:lstStyle/>
          <a:p>
            <a:pPr rtl="1" algn="r" indent="0" marL="0">
              <a:buNone/>
            </a:pPr>
            <a:r>
              <a:rPr lang="ar-JO" altLang="en-US" sz="2100" dirty="0">
                <a:solidFill>
                  <a:srgbClr val="000000"/>
                </a:solidFill>
                <a:latin typeface="Noto Sans Arabic" pitchFamily="34" charset="0"/>
                <a:ea typeface="Noto Sans Arabic" pitchFamily="34" charset="-122"/>
                <a:cs typeface="Noto Sans Arabic" pitchFamily="34" charset="-120"/>
              </a:rPr>
              <a:t>حماية الأمن والاستقرار وتحقيق المصالح</a:t>
            </a:r>
            <a:endParaRPr lang="ar-JO" sz="2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الرابع · الاتجاهات العامة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الاتجاهات العامة — من (أ) إلى (جـ)</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٨–٩ | ٤ | أ–جـ</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27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11707270" cy="32004"/>
          </a:xfrm>
          <a:prstGeom prst="rect">
            <a:avLst/>
          </a:prstGeom>
          <a:solidFill>
            <a:srgbClr val="000000"/>
          </a:solidFill>
          <a:ln w="12700">
            <a:solidFill>
              <a:srgbClr val="000000"/>
            </a:solidFill>
            <a:prstDash val="solid"/>
          </a:ln>
        </p:spPr>
      </p:sp>
      <p:sp>
        <p:nvSpPr>
          <p:cNvPr id="12" name="Shape 10"/>
          <p:cNvSpPr/>
          <p:nvPr/>
        </p:nvSpPr>
        <p:spPr>
          <a:xfrm>
            <a:off x="594360" y="2103120"/>
            <a:ext cx="13441680" cy="1539240"/>
          </a:xfrm>
          <a:prstGeom prst="rect">
            <a:avLst/>
          </a:prstGeom>
          <a:solidFill>
            <a:srgbClr val="FFFFFF"/>
          </a:solidFill>
          <a:ln w="7620">
            <a:solidFill>
              <a:srgbClr val="000000"/>
            </a:solidFill>
            <a:prstDash val="solid"/>
          </a:ln>
        </p:spPr>
      </p:sp>
      <p:sp>
        <p:nvSpPr>
          <p:cNvPr id="13" name="Shape 11"/>
          <p:cNvSpPr/>
          <p:nvPr/>
        </p:nvSpPr>
        <p:spPr>
          <a:xfrm>
            <a:off x="13962888" y="2103120"/>
            <a:ext cx="73152" cy="1539240"/>
          </a:xfrm>
          <a:prstGeom prst="rect">
            <a:avLst/>
          </a:prstGeom>
          <a:solidFill>
            <a:srgbClr val="000000"/>
          </a:solidFill>
          <a:ln w="12700">
            <a:solidFill>
              <a:srgbClr val="000000"/>
            </a:solidFill>
            <a:prstDash val="solid"/>
          </a:ln>
        </p:spPr>
      </p:sp>
      <p:sp>
        <p:nvSpPr>
          <p:cNvPr id="14" name="Shape 12"/>
          <p:cNvSpPr/>
          <p:nvPr/>
        </p:nvSpPr>
        <p:spPr>
          <a:xfrm>
            <a:off x="12938760" y="2304288"/>
            <a:ext cx="713232" cy="484632"/>
          </a:xfrm>
          <a:prstGeom prst="rect">
            <a:avLst/>
          </a:prstGeom>
          <a:solidFill>
            <a:srgbClr val="000000"/>
          </a:solidFill>
          <a:ln w="12700">
            <a:solidFill>
              <a:srgbClr val="000000"/>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أ</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تبقى أهداف السياسة الوطنية ثابتة في أوقات السلم والحرب، وخلال مراحل الانتقال بينهما، مع تكييف وسائل التنفيذ وفق الظروف.</a:t>
            </a:r>
            <a:endParaRPr lang="ar-JO" sz="2300" dirty="0"/>
          </a:p>
        </p:txBody>
      </p:sp>
      <p:sp>
        <p:nvSpPr>
          <p:cNvPr id="17" name="Shape 15"/>
          <p:cNvSpPr/>
          <p:nvPr/>
        </p:nvSpPr>
        <p:spPr>
          <a:xfrm>
            <a:off x="594360" y="3779520"/>
            <a:ext cx="13441680" cy="1539240"/>
          </a:xfrm>
          <a:prstGeom prst="rect">
            <a:avLst/>
          </a:prstGeom>
          <a:solidFill>
            <a:srgbClr val="FFFFFF"/>
          </a:solidFill>
          <a:ln w="7620">
            <a:solidFill>
              <a:srgbClr val="000000"/>
            </a:solidFill>
            <a:prstDash val="solid"/>
          </a:ln>
        </p:spPr>
      </p:sp>
      <p:sp>
        <p:nvSpPr>
          <p:cNvPr id="18" name="Shape 16"/>
          <p:cNvSpPr/>
          <p:nvPr/>
        </p:nvSpPr>
        <p:spPr>
          <a:xfrm>
            <a:off x="13962888" y="3779520"/>
            <a:ext cx="73152" cy="1539240"/>
          </a:xfrm>
          <a:prstGeom prst="rect">
            <a:avLst/>
          </a:prstGeom>
          <a:solidFill>
            <a:srgbClr val="000000"/>
          </a:solidFill>
          <a:ln w="12700">
            <a:solidFill>
              <a:srgbClr val="000000"/>
            </a:solidFill>
            <a:prstDash val="solid"/>
          </a:ln>
        </p:spPr>
      </p:sp>
      <p:sp>
        <p:nvSpPr>
          <p:cNvPr id="19" name="Shape 17"/>
          <p:cNvSpPr/>
          <p:nvPr/>
        </p:nvSpPr>
        <p:spPr>
          <a:xfrm>
            <a:off x="12938760" y="3980688"/>
            <a:ext cx="713232" cy="484632"/>
          </a:xfrm>
          <a:prstGeom prst="rect">
            <a:avLst/>
          </a:prstGeom>
          <a:solidFill>
            <a:srgbClr val="000000"/>
          </a:solidFill>
          <a:ln w="12700">
            <a:solidFill>
              <a:srgbClr val="000000"/>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ب</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تشكل السياسة الوطنية مرجعية توجيهية للاستراتيجية الوطنية، ويتعين أن تتسق الخطط الاستراتيجية معها ضمن تفاعل دائم يضمن وحدة الغايات وتكامل التنفيذ.</a:t>
            </a:r>
            <a:endParaRPr lang="ar-JO" sz="2300" dirty="0"/>
          </a:p>
        </p:txBody>
      </p:sp>
      <p:sp>
        <p:nvSpPr>
          <p:cNvPr id="22" name="Shape 20"/>
          <p:cNvSpPr/>
          <p:nvPr/>
        </p:nvSpPr>
        <p:spPr>
          <a:xfrm>
            <a:off x="594360" y="5455920"/>
            <a:ext cx="13441680" cy="1539240"/>
          </a:xfrm>
          <a:prstGeom prst="rect">
            <a:avLst/>
          </a:prstGeom>
          <a:solidFill>
            <a:srgbClr val="FFFFFF"/>
          </a:solidFill>
          <a:ln w="7620">
            <a:solidFill>
              <a:srgbClr val="000000"/>
            </a:solidFill>
            <a:prstDash val="solid"/>
          </a:ln>
        </p:spPr>
      </p:sp>
      <p:sp>
        <p:nvSpPr>
          <p:cNvPr id="23" name="Shape 21"/>
          <p:cNvSpPr/>
          <p:nvPr/>
        </p:nvSpPr>
        <p:spPr>
          <a:xfrm>
            <a:off x="13962888" y="5455920"/>
            <a:ext cx="73152" cy="1539240"/>
          </a:xfrm>
          <a:prstGeom prst="rect">
            <a:avLst/>
          </a:prstGeom>
          <a:solidFill>
            <a:srgbClr val="000000"/>
          </a:solidFill>
          <a:ln w="12700">
            <a:solidFill>
              <a:srgbClr val="000000"/>
            </a:solidFill>
            <a:prstDash val="solid"/>
          </a:ln>
        </p:spPr>
      </p:sp>
      <p:sp>
        <p:nvSpPr>
          <p:cNvPr id="24" name="Shape 22"/>
          <p:cNvSpPr/>
          <p:nvPr/>
        </p:nvSpPr>
        <p:spPr>
          <a:xfrm>
            <a:off x="12938760" y="5657088"/>
            <a:ext cx="713232" cy="484632"/>
          </a:xfrm>
          <a:prstGeom prst="rect">
            <a:avLst/>
          </a:prstGeom>
          <a:solidFill>
            <a:srgbClr val="000000"/>
          </a:solidFill>
          <a:ln w="12700">
            <a:solidFill>
              <a:srgbClr val="000000"/>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جـ</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يتقدم هدف صون أمن الدولة الأردنية واستقرارها وسلامتها، ونظامها السياسي والاقتصادي والاجتماعي، سائر الأولويات الوطنية، في إطار الأمن الوطني بمفهومه الشامل.</a:t>
            </a:r>
            <a:endParaRPr lang="ar-JO" sz="2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الرابع · الاتجاهات العامة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الاتجاهات العامة — من (د) إلى (و)</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٨–٩ | ٤ | د–و</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28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12140872" cy="32004"/>
          </a:xfrm>
          <a:prstGeom prst="rect">
            <a:avLst/>
          </a:prstGeom>
          <a:solidFill>
            <a:srgbClr val="000000"/>
          </a:solidFill>
          <a:ln w="12700">
            <a:solidFill>
              <a:srgbClr val="000000"/>
            </a:solidFill>
            <a:prstDash val="solid"/>
          </a:ln>
        </p:spPr>
      </p:sp>
      <p:sp>
        <p:nvSpPr>
          <p:cNvPr id="12" name="Shape 10"/>
          <p:cNvSpPr/>
          <p:nvPr/>
        </p:nvSpPr>
        <p:spPr>
          <a:xfrm>
            <a:off x="594360" y="2103120"/>
            <a:ext cx="13441680" cy="1539240"/>
          </a:xfrm>
          <a:prstGeom prst="rect">
            <a:avLst/>
          </a:prstGeom>
          <a:solidFill>
            <a:srgbClr val="FFFFFF"/>
          </a:solidFill>
          <a:ln w="7620">
            <a:solidFill>
              <a:srgbClr val="000000"/>
            </a:solidFill>
            <a:prstDash val="solid"/>
          </a:ln>
        </p:spPr>
      </p:sp>
      <p:sp>
        <p:nvSpPr>
          <p:cNvPr id="13" name="Shape 11"/>
          <p:cNvSpPr/>
          <p:nvPr/>
        </p:nvSpPr>
        <p:spPr>
          <a:xfrm>
            <a:off x="13962888" y="2103120"/>
            <a:ext cx="73152" cy="1539240"/>
          </a:xfrm>
          <a:prstGeom prst="rect">
            <a:avLst/>
          </a:prstGeom>
          <a:solidFill>
            <a:srgbClr val="000000"/>
          </a:solidFill>
          <a:ln w="12700">
            <a:solidFill>
              <a:srgbClr val="000000"/>
            </a:solidFill>
            <a:prstDash val="solid"/>
          </a:ln>
        </p:spPr>
      </p:sp>
      <p:sp>
        <p:nvSpPr>
          <p:cNvPr id="14" name="Shape 12"/>
          <p:cNvSpPr/>
          <p:nvPr/>
        </p:nvSpPr>
        <p:spPr>
          <a:xfrm>
            <a:off x="12938760" y="2304288"/>
            <a:ext cx="713232" cy="484632"/>
          </a:xfrm>
          <a:prstGeom prst="rect">
            <a:avLst/>
          </a:prstGeom>
          <a:solidFill>
            <a:srgbClr val="000000"/>
          </a:solidFill>
          <a:ln w="12700">
            <a:solidFill>
              <a:srgbClr val="000000"/>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د</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تُعد القوات المسلحة الأردنية والأجهزة الأمنية ركيزة وطنية أساسية لحماية الأمن الوطني، وتلتزم الدولة بدعم جاهزيتها وقدراتها ورعاية منتسبيها كي تنهض بواجباتها.</a:t>
            </a:r>
            <a:endParaRPr lang="ar-JO" sz="2300" dirty="0"/>
          </a:p>
        </p:txBody>
      </p:sp>
      <p:sp>
        <p:nvSpPr>
          <p:cNvPr id="17" name="Shape 15"/>
          <p:cNvSpPr/>
          <p:nvPr/>
        </p:nvSpPr>
        <p:spPr>
          <a:xfrm>
            <a:off x="594360" y="3779520"/>
            <a:ext cx="13441680" cy="1539240"/>
          </a:xfrm>
          <a:prstGeom prst="rect">
            <a:avLst/>
          </a:prstGeom>
          <a:solidFill>
            <a:srgbClr val="FFFFFF"/>
          </a:solidFill>
          <a:ln w="7620">
            <a:solidFill>
              <a:srgbClr val="000000"/>
            </a:solidFill>
            <a:prstDash val="solid"/>
          </a:ln>
        </p:spPr>
      </p:sp>
      <p:sp>
        <p:nvSpPr>
          <p:cNvPr id="18" name="Shape 16"/>
          <p:cNvSpPr/>
          <p:nvPr/>
        </p:nvSpPr>
        <p:spPr>
          <a:xfrm>
            <a:off x="13962888" y="3779520"/>
            <a:ext cx="73152" cy="1539240"/>
          </a:xfrm>
          <a:prstGeom prst="rect">
            <a:avLst/>
          </a:prstGeom>
          <a:solidFill>
            <a:srgbClr val="000000"/>
          </a:solidFill>
          <a:ln w="12700">
            <a:solidFill>
              <a:srgbClr val="000000"/>
            </a:solidFill>
            <a:prstDash val="solid"/>
          </a:ln>
        </p:spPr>
      </p:sp>
      <p:sp>
        <p:nvSpPr>
          <p:cNvPr id="19" name="Shape 17"/>
          <p:cNvSpPr/>
          <p:nvPr/>
        </p:nvSpPr>
        <p:spPr>
          <a:xfrm>
            <a:off x="12938760" y="3980688"/>
            <a:ext cx="713232" cy="484632"/>
          </a:xfrm>
          <a:prstGeom prst="rect">
            <a:avLst/>
          </a:prstGeom>
          <a:solidFill>
            <a:srgbClr val="000000"/>
          </a:solidFill>
          <a:ln w="12700">
            <a:solidFill>
              <a:srgbClr val="000000"/>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هـ</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تستمد السياسة الوطنية شرعيتها من الدستور الأردني والتشريعات والأعراف الوطنية، وتراعي الالتزامات والمواثيق الدولية ذات الصلة.</a:t>
            </a:r>
            <a:endParaRPr lang="ar-JO" sz="2300" dirty="0"/>
          </a:p>
        </p:txBody>
      </p:sp>
      <p:sp>
        <p:nvSpPr>
          <p:cNvPr id="22" name="Shape 20"/>
          <p:cNvSpPr/>
          <p:nvPr/>
        </p:nvSpPr>
        <p:spPr>
          <a:xfrm>
            <a:off x="594360" y="5455920"/>
            <a:ext cx="13441680" cy="1539240"/>
          </a:xfrm>
          <a:prstGeom prst="rect">
            <a:avLst/>
          </a:prstGeom>
          <a:solidFill>
            <a:srgbClr val="FFFFFF"/>
          </a:solidFill>
          <a:ln w="7620">
            <a:solidFill>
              <a:srgbClr val="000000"/>
            </a:solidFill>
            <a:prstDash val="solid"/>
          </a:ln>
        </p:spPr>
      </p:sp>
      <p:sp>
        <p:nvSpPr>
          <p:cNvPr id="23" name="Shape 21"/>
          <p:cNvSpPr/>
          <p:nvPr/>
        </p:nvSpPr>
        <p:spPr>
          <a:xfrm>
            <a:off x="13962888" y="5455920"/>
            <a:ext cx="73152" cy="1539240"/>
          </a:xfrm>
          <a:prstGeom prst="rect">
            <a:avLst/>
          </a:prstGeom>
          <a:solidFill>
            <a:srgbClr val="000000"/>
          </a:solidFill>
          <a:ln w="12700">
            <a:solidFill>
              <a:srgbClr val="000000"/>
            </a:solidFill>
            <a:prstDash val="solid"/>
          </a:ln>
        </p:spPr>
      </p:sp>
      <p:sp>
        <p:nvSpPr>
          <p:cNvPr id="24" name="Shape 22"/>
          <p:cNvSpPr/>
          <p:nvPr/>
        </p:nvSpPr>
        <p:spPr>
          <a:xfrm>
            <a:off x="12938760" y="5657088"/>
            <a:ext cx="713232" cy="484632"/>
          </a:xfrm>
          <a:prstGeom prst="rect">
            <a:avLst/>
          </a:prstGeom>
          <a:solidFill>
            <a:srgbClr val="000000"/>
          </a:solidFill>
          <a:ln w="12700">
            <a:solidFill>
              <a:srgbClr val="000000"/>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و</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تراعي السياسة الوطنية معطيات البيئة الإقليمية والدولية وتطوراتها عند تحديد الأولويات وسبل حماية الأمن الوطني الشامل.</a:t>
            </a:r>
            <a:endParaRPr lang="ar-JO" sz="2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الرابع · الاتجاهات العامة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الاتجاهات العامة — من (ز) إلى (ط)</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٨–٩ | ٤ | ز–ط</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29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12574475" cy="32004"/>
          </a:xfrm>
          <a:prstGeom prst="rect">
            <a:avLst/>
          </a:prstGeom>
          <a:solidFill>
            <a:srgbClr val="000000"/>
          </a:solidFill>
          <a:ln w="12700">
            <a:solidFill>
              <a:srgbClr val="000000"/>
            </a:solidFill>
            <a:prstDash val="solid"/>
          </a:ln>
        </p:spPr>
      </p:sp>
      <p:sp>
        <p:nvSpPr>
          <p:cNvPr id="12" name="Shape 10"/>
          <p:cNvSpPr/>
          <p:nvPr/>
        </p:nvSpPr>
        <p:spPr>
          <a:xfrm>
            <a:off x="594360" y="2103120"/>
            <a:ext cx="13441680" cy="1539240"/>
          </a:xfrm>
          <a:prstGeom prst="rect">
            <a:avLst/>
          </a:prstGeom>
          <a:solidFill>
            <a:srgbClr val="FFFFFF"/>
          </a:solidFill>
          <a:ln w="7620">
            <a:solidFill>
              <a:srgbClr val="000000"/>
            </a:solidFill>
            <a:prstDash val="solid"/>
          </a:ln>
        </p:spPr>
      </p:sp>
      <p:sp>
        <p:nvSpPr>
          <p:cNvPr id="13" name="Shape 11"/>
          <p:cNvSpPr/>
          <p:nvPr/>
        </p:nvSpPr>
        <p:spPr>
          <a:xfrm>
            <a:off x="13962888" y="2103120"/>
            <a:ext cx="73152" cy="1539240"/>
          </a:xfrm>
          <a:prstGeom prst="rect">
            <a:avLst/>
          </a:prstGeom>
          <a:solidFill>
            <a:srgbClr val="000000"/>
          </a:solidFill>
          <a:ln w="12700">
            <a:solidFill>
              <a:srgbClr val="000000"/>
            </a:solidFill>
            <a:prstDash val="solid"/>
          </a:ln>
        </p:spPr>
      </p:sp>
      <p:sp>
        <p:nvSpPr>
          <p:cNvPr id="14" name="Shape 12"/>
          <p:cNvSpPr/>
          <p:nvPr/>
        </p:nvSpPr>
        <p:spPr>
          <a:xfrm>
            <a:off x="12938760" y="2304288"/>
            <a:ext cx="713232" cy="484632"/>
          </a:xfrm>
          <a:prstGeom prst="rect">
            <a:avLst/>
          </a:prstGeom>
          <a:solidFill>
            <a:srgbClr val="000000"/>
          </a:solidFill>
          <a:ln w="12700">
            <a:solidFill>
              <a:srgbClr val="000000"/>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ز</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تهيئ السياسة بيئة داعمة للتنمية السياسية والاقتصادية والاجتماعية المتوازنة، بما يعزز النمو والرعاية الاجتماعية ومستوى معيشة المواطنين.</a:t>
            </a:r>
            <a:endParaRPr lang="ar-JO" sz="2300" dirty="0"/>
          </a:p>
        </p:txBody>
      </p:sp>
      <p:sp>
        <p:nvSpPr>
          <p:cNvPr id="17" name="Shape 15"/>
          <p:cNvSpPr/>
          <p:nvPr/>
        </p:nvSpPr>
        <p:spPr>
          <a:xfrm>
            <a:off x="594360" y="3779520"/>
            <a:ext cx="13441680" cy="1539240"/>
          </a:xfrm>
          <a:prstGeom prst="rect">
            <a:avLst/>
          </a:prstGeom>
          <a:solidFill>
            <a:srgbClr val="FFFFFF"/>
          </a:solidFill>
          <a:ln w="7620">
            <a:solidFill>
              <a:srgbClr val="000000"/>
            </a:solidFill>
            <a:prstDash val="solid"/>
          </a:ln>
        </p:spPr>
      </p:sp>
      <p:sp>
        <p:nvSpPr>
          <p:cNvPr id="18" name="Shape 16"/>
          <p:cNvSpPr/>
          <p:nvPr/>
        </p:nvSpPr>
        <p:spPr>
          <a:xfrm>
            <a:off x="13962888" y="3779520"/>
            <a:ext cx="73152" cy="1539240"/>
          </a:xfrm>
          <a:prstGeom prst="rect">
            <a:avLst/>
          </a:prstGeom>
          <a:solidFill>
            <a:srgbClr val="000000"/>
          </a:solidFill>
          <a:ln w="12700">
            <a:solidFill>
              <a:srgbClr val="000000"/>
            </a:solidFill>
            <a:prstDash val="solid"/>
          </a:ln>
        </p:spPr>
      </p:sp>
      <p:sp>
        <p:nvSpPr>
          <p:cNvPr id="19" name="Shape 17"/>
          <p:cNvSpPr/>
          <p:nvPr/>
        </p:nvSpPr>
        <p:spPr>
          <a:xfrm>
            <a:off x="12938760" y="3980688"/>
            <a:ext cx="713232" cy="484632"/>
          </a:xfrm>
          <a:prstGeom prst="rect">
            <a:avLst/>
          </a:prstGeom>
          <a:solidFill>
            <a:srgbClr val="000000"/>
          </a:solidFill>
          <a:ln w="12700">
            <a:solidFill>
              <a:srgbClr val="000000"/>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ح</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تشكل القضية الفلسطينية محوراً أساسياً في علاقات الأردن الإقليمية والدولية، لارتباطها المباشر بمصالحه الوطنية.</a:t>
            </a:r>
            <a:endParaRPr lang="ar-JO" sz="2300" dirty="0"/>
          </a:p>
        </p:txBody>
      </p:sp>
      <p:sp>
        <p:nvSpPr>
          <p:cNvPr id="22" name="Shape 20"/>
          <p:cNvSpPr/>
          <p:nvPr/>
        </p:nvSpPr>
        <p:spPr>
          <a:xfrm>
            <a:off x="594360" y="5455920"/>
            <a:ext cx="13441680" cy="1539240"/>
          </a:xfrm>
          <a:prstGeom prst="rect">
            <a:avLst/>
          </a:prstGeom>
          <a:solidFill>
            <a:srgbClr val="FFFFFF"/>
          </a:solidFill>
          <a:ln w="7620">
            <a:solidFill>
              <a:srgbClr val="000000"/>
            </a:solidFill>
            <a:prstDash val="solid"/>
          </a:ln>
        </p:spPr>
      </p:sp>
      <p:sp>
        <p:nvSpPr>
          <p:cNvPr id="23" name="Shape 21"/>
          <p:cNvSpPr/>
          <p:nvPr/>
        </p:nvSpPr>
        <p:spPr>
          <a:xfrm>
            <a:off x="13962888" y="5455920"/>
            <a:ext cx="73152" cy="1539240"/>
          </a:xfrm>
          <a:prstGeom prst="rect">
            <a:avLst/>
          </a:prstGeom>
          <a:solidFill>
            <a:srgbClr val="000000"/>
          </a:solidFill>
          <a:ln w="12700">
            <a:solidFill>
              <a:srgbClr val="000000"/>
            </a:solidFill>
            <a:prstDash val="solid"/>
          </a:ln>
        </p:spPr>
      </p:sp>
      <p:sp>
        <p:nvSpPr>
          <p:cNvPr id="24" name="Shape 22"/>
          <p:cNvSpPr/>
          <p:nvPr/>
        </p:nvSpPr>
        <p:spPr>
          <a:xfrm>
            <a:off x="12938760" y="5657088"/>
            <a:ext cx="713232" cy="484632"/>
          </a:xfrm>
          <a:prstGeom prst="rect">
            <a:avLst/>
          </a:prstGeom>
          <a:solidFill>
            <a:srgbClr val="000000"/>
          </a:solidFill>
          <a:ln w="12700">
            <a:solidFill>
              <a:srgbClr val="000000"/>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ط</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تدعم السياسة الوطنية بناء موقف عربي مشترك وتطوير تكتل عربي قادر على التأثير في القضايا الإقليمية والدولية.</a:t>
            </a:r>
            <a:endParaRPr lang="ar-JO" sz="2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الرابع · الاتجاهات العامة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الاتجاهات العامة — من (ي) إلى (ل)</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٨–٩ | ٤ | ي–ل</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30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13008077" cy="32004"/>
          </a:xfrm>
          <a:prstGeom prst="rect">
            <a:avLst/>
          </a:prstGeom>
          <a:solidFill>
            <a:srgbClr val="000000"/>
          </a:solidFill>
          <a:ln w="12700">
            <a:solidFill>
              <a:srgbClr val="000000"/>
            </a:solidFill>
            <a:prstDash val="solid"/>
          </a:ln>
        </p:spPr>
      </p:sp>
      <p:sp>
        <p:nvSpPr>
          <p:cNvPr id="12" name="Shape 10"/>
          <p:cNvSpPr/>
          <p:nvPr/>
        </p:nvSpPr>
        <p:spPr>
          <a:xfrm>
            <a:off x="594360" y="2103120"/>
            <a:ext cx="13441680" cy="1539240"/>
          </a:xfrm>
          <a:prstGeom prst="rect">
            <a:avLst/>
          </a:prstGeom>
          <a:solidFill>
            <a:srgbClr val="FFFFFF"/>
          </a:solidFill>
          <a:ln w="7620">
            <a:solidFill>
              <a:srgbClr val="000000"/>
            </a:solidFill>
            <a:prstDash val="solid"/>
          </a:ln>
        </p:spPr>
      </p:sp>
      <p:sp>
        <p:nvSpPr>
          <p:cNvPr id="13" name="Shape 11"/>
          <p:cNvSpPr/>
          <p:nvPr/>
        </p:nvSpPr>
        <p:spPr>
          <a:xfrm>
            <a:off x="13962888" y="2103120"/>
            <a:ext cx="73152" cy="1539240"/>
          </a:xfrm>
          <a:prstGeom prst="rect">
            <a:avLst/>
          </a:prstGeom>
          <a:solidFill>
            <a:srgbClr val="000000"/>
          </a:solidFill>
          <a:ln w="12700">
            <a:solidFill>
              <a:srgbClr val="000000"/>
            </a:solidFill>
            <a:prstDash val="solid"/>
          </a:ln>
        </p:spPr>
      </p:sp>
      <p:sp>
        <p:nvSpPr>
          <p:cNvPr id="14" name="Shape 12"/>
          <p:cNvSpPr/>
          <p:nvPr/>
        </p:nvSpPr>
        <p:spPr>
          <a:xfrm>
            <a:off x="12938760" y="2304288"/>
            <a:ext cx="713232" cy="484632"/>
          </a:xfrm>
          <a:prstGeom prst="rect">
            <a:avLst/>
          </a:prstGeom>
          <a:solidFill>
            <a:srgbClr val="000000"/>
          </a:solidFill>
          <a:ln w="12700">
            <a:solidFill>
              <a:srgbClr val="000000"/>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ي</a:t>
            </a:r>
            <a:endParaRPr lang="ar-JO" sz="1800" dirty="0"/>
          </a:p>
        </p:txBody>
      </p:sp>
      <p:sp>
        <p:nvSpPr>
          <p:cNvPr id="16" name="Text 14"/>
          <p:cNvSpPr/>
          <p:nvPr/>
        </p:nvSpPr>
        <p:spPr>
          <a:xfrm>
            <a:off x="932688" y="22402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تتدرج أولوية توظيف عناصر القوة الوطنية من السياسي، فالاقتصادي، فالاجتماعي، فالإعلامي، فالمعلوماتي والتقني، ثم الأمني والدفاعي؛ ويظل الاستخدام العسكري خياراً أخيراً ما لم تتعرض المصالح الحيوية لتهديد فعلي يستوجب القرار السياسي.</a:t>
            </a:r>
            <a:endParaRPr lang="ar-JO" sz="2300" dirty="0"/>
          </a:p>
        </p:txBody>
      </p:sp>
      <p:sp>
        <p:nvSpPr>
          <p:cNvPr id="17" name="Shape 15"/>
          <p:cNvSpPr/>
          <p:nvPr/>
        </p:nvSpPr>
        <p:spPr>
          <a:xfrm>
            <a:off x="594360" y="3779520"/>
            <a:ext cx="13441680" cy="1539240"/>
          </a:xfrm>
          <a:prstGeom prst="rect">
            <a:avLst/>
          </a:prstGeom>
          <a:solidFill>
            <a:srgbClr val="FFFFFF"/>
          </a:solidFill>
          <a:ln w="7620">
            <a:solidFill>
              <a:srgbClr val="000000"/>
            </a:solidFill>
            <a:prstDash val="solid"/>
          </a:ln>
        </p:spPr>
      </p:sp>
      <p:sp>
        <p:nvSpPr>
          <p:cNvPr id="18" name="Shape 16"/>
          <p:cNvSpPr/>
          <p:nvPr/>
        </p:nvSpPr>
        <p:spPr>
          <a:xfrm>
            <a:off x="13962888" y="3779520"/>
            <a:ext cx="73152" cy="1539240"/>
          </a:xfrm>
          <a:prstGeom prst="rect">
            <a:avLst/>
          </a:prstGeom>
          <a:solidFill>
            <a:srgbClr val="000000"/>
          </a:solidFill>
          <a:ln w="12700">
            <a:solidFill>
              <a:srgbClr val="000000"/>
            </a:solidFill>
            <a:prstDash val="solid"/>
          </a:ln>
        </p:spPr>
      </p:sp>
      <p:sp>
        <p:nvSpPr>
          <p:cNvPr id="19" name="Shape 17"/>
          <p:cNvSpPr/>
          <p:nvPr/>
        </p:nvSpPr>
        <p:spPr>
          <a:xfrm>
            <a:off x="12938760" y="3980688"/>
            <a:ext cx="713232" cy="484632"/>
          </a:xfrm>
          <a:prstGeom prst="rect">
            <a:avLst/>
          </a:prstGeom>
          <a:solidFill>
            <a:srgbClr val="000000"/>
          </a:solidFill>
          <a:ln w="12700">
            <a:solidFill>
              <a:srgbClr val="000000"/>
            </a:solidFill>
            <a:prstDash val="solid"/>
          </a:ln>
        </p:spPr>
      </p:sp>
      <p:sp>
        <p:nvSpPr>
          <p:cNvPr id="20" name="Text 18"/>
          <p:cNvSpPr/>
          <p:nvPr/>
        </p:nvSpPr>
        <p:spPr>
          <a:xfrm>
            <a:off x="12938760" y="39806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ك</a:t>
            </a:r>
            <a:endParaRPr lang="ar-JO" sz="1800" dirty="0"/>
          </a:p>
        </p:txBody>
      </p:sp>
      <p:sp>
        <p:nvSpPr>
          <p:cNvPr id="21" name="Text 19"/>
          <p:cNvSpPr/>
          <p:nvPr/>
        </p:nvSpPr>
        <p:spPr>
          <a:xfrm>
            <a:off x="932688" y="39166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تُعطى السياسات التخصصية الأولوية بحسب هذا التسلسل: الخارجية، الدفاعية، الاقتصادية، الأمن الداخلي، الاجتماعية، الإعلامية والمعلوماتية، العلمية والتقنية، ثم مكافحة الإرهاب، مع التكامل في التنفيذ.</a:t>
            </a:r>
            <a:endParaRPr lang="ar-JO" sz="2300" dirty="0"/>
          </a:p>
        </p:txBody>
      </p:sp>
      <p:sp>
        <p:nvSpPr>
          <p:cNvPr id="22" name="Shape 20"/>
          <p:cNvSpPr/>
          <p:nvPr/>
        </p:nvSpPr>
        <p:spPr>
          <a:xfrm>
            <a:off x="594360" y="5455920"/>
            <a:ext cx="13441680" cy="1539240"/>
          </a:xfrm>
          <a:prstGeom prst="rect">
            <a:avLst/>
          </a:prstGeom>
          <a:solidFill>
            <a:srgbClr val="FFFFFF"/>
          </a:solidFill>
          <a:ln w="7620">
            <a:solidFill>
              <a:srgbClr val="000000"/>
            </a:solidFill>
            <a:prstDash val="solid"/>
          </a:ln>
        </p:spPr>
      </p:sp>
      <p:sp>
        <p:nvSpPr>
          <p:cNvPr id="23" name="Shape 21"/>
          <p:cNvSpPr/>
          <p:nvPr/>
        </p:nvSpPr>
        <p:spPr>
          <a:xfrm>
            <a:off x="13962888" y="5455920"/>
            <a:ext cx="73152" cy="1539240"/>
          </a:xfrm>
          <a:prstGeom prst="rect">
            <a:avLst/>
          </a:prstGeom>
          <a:solidFill>
            <a:srgbClr val="000000"/>
          </a:solidFill>
          <a:ln w="12700">
            <a:solidFill>
              <a:srgbClr val="000000"/>
            </a:solidFill>
            <a:prstDash val="solid"/>
          </a:ln>
        </p:spPr>
      </p:sp>
      <p:sp>
        <p:nvSpPr>
          <p:cNvPr id="24" name="Shape 22"/>
          <p:cNvSpPr/>
          <p:nvPr/>
        </p:nvSpPr>
        <p:spPr>
          <a:xfrm>
            <a:off x="12938760" y="5657088"/>
            <a:ext cx="713232" cy="484632"/>
          </a:xfrm>
          <a:prstGeom prst="rect">
            <a:avLst/>
          </a:prstGeom>
          <a:solidFill>
            <a:srgbClr val="000000"/>
          </a:solidFill>
          <a:ln w="12700">
            <a:solidFill>
              <a:srgbClr val="000000"/>
            </a:solidFill>
            <a:prstDash val="solid"/>
          </a:ln>
        </p:spPr>
      </p:sp>
      <p:sp>
        <p:nvSpPr>
          <p:cNvPr id="25" name="Text 23"/>
          <p:cNvSpPr/>
          <p:nvPr/>
        </p:nvSpPr>
        <p:spPr>
          <a:xfrm>
            <a:off x="12938760" y="56570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ل</a:t>
            </a:r>
            <a:endParaRPr lang="ar-JO" sz="1800" dirty="0"/>
          </a:p>
        </p:txBody>
      </p:sp>
      <p:sp>
        <p:nvSpPr>
          <p:cNvPr id="26" name="Text 24"/>
          <p:cNvSpPr/>
          <p:nvPr/>
        </p:nvSpPr>
        <p:spPr>
          <a:xfrm>
            <a:off x="932688" y="5593080"/>
            <a:ext cx="11612880" cy="1264920"/>
          </a:xfrm>
          <a:prstGeom prst="rect">
            <a:avLst/>
          </a:prstGeom>
          <a:noFill/>
          <a:ln/>
        </p:spPr>
        <p:txBody>
          <a:bodyPr wrap="square" lIns="0" tIns="0" rIns="0" bIns="0" rtlCol="0" anchor="ctr"/>
          <a:lstStyle/>
          <a:p>
            <a:pPr rtl="1" algn="r" indent="0" marL="0">
              <a:lnSpc>
                <a:spcPct val="112000"/>
              </a:lnSpc>
              <a:buNone/>
            </a:pPr>
            <a:r>
              <a:rPr lang="ar-JO" altLang="en-US" sz="2300" dirty="0">
                <a:solidFill>
                  <a:srgbClr val="000000"/>
                </a:solidFill>
                <a:latin typeface="Noto Sans Arabic" pitchFamily="34" charset="0"/>
                <a:ea typeface="Noto Sans Arabic" pitchFamily="34" charset="-122"/>
                <a:cs typeface="Noto Sans Arabic" pitchFamily="34" charset="-120"/>
              </a:rPr>
              <a:t>تتبنى الدولة إصلاحاً متدرجاً وشاملاً في المجالات السياسية والاقتصادية والإدارية، وتراجع التشريعات والبرامج وفق الأولويات الوطنية ومتطلبات التطوير.</a:t>
            </a:r>
            <a:endParaRPr lang="ar-JO" sz="2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917168" y="484632"/>
            <a:ext cx="109728" cy="310896"/>
          </a:xfrm>
          <a:prstGeom prst="rect">
            <a:avLst/>
          </a:prstGeom>
          <a:solidFill>
            <a:srgbClr val="000000"/>
          </a:solidFill>
          <a:ln w="12700">
            <a:solidFill>
              <a:srgbClr val="000000"/>
            </a:solidFill>
            <a:prstDash val="solid"/>
          </a:ln>
        </p:spPr>
      </p:sp>
      <p:sp>
        <p:nvSpPr>
          <p:cNvPr id="3" name="Text 1"/>
          <p:cNvSpPr/>
          <p:nvPr/>
        </p:nvSpPr>
        <p:spPr>
          <a:xfrm>
            <a:off x="594360" y="438912"/>
            <a:ext cx="13121640" cy="365760"/>
          </a:xfrm>
          <a:prstGeom prst="rect">
            <a:avLst/>
          </a:prstGeom>
          <a:noFill/>
          <a:ln/>
        </p:spPr>
        <p:txBody>
          <a:bodyPr wrap="square" lIns="0" tIns="0" rIns="0" bIns="0" rtlCol="0" anchor="ctr"/>
          <a:lstStyle/>
          <a:p>
            <a:pPr rtl="1" algn="r" indent="0" marL="0">
              <a:buNone/>
            </a:pPr>
            <a:r>
              <a:rPr lang="ar-JO" altLang="en-US" sz="1200" b="1" dirty="0">
                <a:solidFill>
                  <a:srgbClr val="000000"/>
                </a:solidFill>
                <a:latin typeface="Noto Sans Arabic" pitchFamily="34" charset="0"/>
                <a:ea typeface="Noto Sans Arabic" pitchFamily="34" charset="-122"/>
                <a:cs typeface="Noto Sans Arabic" pitchFamily="34" charset="-120"/>
              </a:rPr>
              <a:t>المحور الرابع · الاتجاهات العامة</a:t>
            </a:r>
            <a:endParaRPr lang="ar-JO" sz="1200" dirty="0"/>
          </a:p>
        </p:txBody>
      </p:sp>
      <p:sp>
        <p:nvSpPr>
          <p:cNvPr id="4" name="Text 2"/>
          <p:cNvSpPr/>
          <p:nvPr/>
        </p:nvSpPr>
        <p:spPr>
          <a:xfrm>
            <a:off x="594360" y="914400"/>
            <a:ext cx="13441680" cy="841248"/>
          </a:xfrm>
          <a:prstGeom prst="rect">
            <a:avLst/>
          </a:prstGeom>
          <a:noFill/>
          <a:ln/>
        </p:spPr>
        <p:txBody>
          <a:bodyPr wrap="square" lIns="0" tIns="0" rIns="0" bIns="0" rtlCol="0" anchor="ctr"/>
          <a:lstStyle/>
          <a:p>
            <a:pPr rtl="1" algn="r" indent="0" marL="0">
              <a:buNone/>
            </a:pPr>
            <a:r>
              <a:rPr lang="ar-JO" altLang="en-US" sz="3000" b="1" dirty="0">
                <a:solidFill>
                  <a:srgbClr val="000000"/>
                </a:solidFill>
                <a:latin typeface="Noto Sans Arabic" pitchFamily="34" charset="0"/>
                <a:ea typeface="Noto Sans Arabic" pitchFamily="34" charset="-122"/>
                <a:cs typeface="Noto Sans Arabic" pitchFamily="34" charset="-120"/>
              </a:rPr>
              <a:t>الاتجاهات العامة — من (م) إلى (ع)</a:t>
            </a:r>
            <a:endParaRPr lang="ar-JO" sz="3000" dirty="0"/>
          </a:p>
        </p:txBody>
      </p:sp>
      <p:sp>
        <p:nvSpPr>
          <p:cNvPr id="5" name="Shape 3"/>
          <p:cNvSpPr/>
          <p:nvPr/>
        </p:nvSpPr>
        <p:spPr>
          <a:xfrm>
            <a:off x="594360" y="1847088"/>
            <a:ext cx="13441680" cy="13716"/>
          </a:xfrm>
          <a:prstGeom prst="rect">
            <a:avLst/>
          </a:prstGeom>
          <a:solidFill>
            <a:srgbClr val="000000"/>
          </a:solidFill>
          <a:ln w="12700">
            <a:solidFill>
              <a:srgbClr val="000000"/>
            </a:solidFill>
            <a:prstDash val="solid"/>
          </a:ln>
        </p:spPr>
      </p:sp>
      <p:sp>
        <p:nvSpPr>
          <p:cNvPr id="6" name="Shape 4"/>
          <p:cNvSpPr/>
          <p:nvPr/>
        </p:nvSpPr>
        <p:spPr>
          <a:xfrm>
            <a:off x="594360" y="7671816"/>
            <a:ext cx="13441680" cy="10973"/>
          </a:xfrm>
          <a:prstGeom prst="rect">
            <a:avLst/>
          </a:prstGeom>
          <a:solidFill>
            <a:srgbClr val="000000"/>
          </a:solidFill>
          <a:ln w="12700">
            <a:solidFill>
              <a:srgbClr val="000000"/>
            </a:solidFill>
            <a:prstDash val="solid"/>
          </a:ln>
        </p:spPr>
      </p:sp>
      <p:sp>
        <p:nvSpPr>
          <p:cNvPr id="7" name="Text 5"/>
          <p:cNvSpPr/>
          <p:nvPr/>
        </p:nvSpPr>
        <p:spPr>
          <a:xfrm>
            <a:off x="4297680" y="7790688"/>
            <a:ext cx="9738360" cy="228600"/>
          </a:xfrm>
          <a:prstGeom prst="rect">
            <a:avLst/>
          </a:prstGeom>
          <a:noFill/>
          <a:ln/>
        </p:spPr>
        <p:txBody>
          <a:bodyPr wrap="square" lIns="0" tIns="0" rIns="0" bIns="0" rtlCol="0" anchor="ctr"/>
          <a:lstStyle/>
          <a:p>
            <a:pPr rtl="1" algn="r"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ص ٨–٩ | ٤ | م–ع</a:t>
            </a:r>
            <a:endParaRPr lang="ar-JO" sz="1000" dirty="0"/>
          </a:p>
        </p:txBody>
      </p:sp>
      <p:sp>
        <p:nvSpPr>
          <p:cNvPr id="8" name="Text 6"/>
          <p:cNvSpPr/>
          <p:nvPr/>
        </p:nvSpPr>
        <p:spPr>
          <a:xfrm>
            <a:off x="594360" y="7790688"/>
            <a:ext cx="3108960" cy="228600"/>
          </a:xfrm>
          <a:prstGeom prst="rect">
            <a:avLst/>
          </a:prstGeom>
          <a:noFill/>
          <a:ln/>
        </p:spPr>
        <p:txBody>
          <a:bodyPr wrap="square" lIns="0" tIns="0" rIns="0" bIns="0" rtlCol="0" anchor="ctr"/>
          <a:lstStyle/>
          <a:p>
            <a:pPr rtl="1" algn="l" indent="0" marL="0">
              <a:buNone/>
            </a:pPr>
            <a:r>
              <a:rPr lang="ar-JO" altLang="en-US" sz="1000" dirty="0">
                <a:solidFill>
                  <a:srgbClr val="000000"/>
                </a:solidFill>
                <a:latin typeface="Noto Sans Arabic" pitchFamily="34" charset="0"/>
                <a:ea typeface="Noto Sans Arabic" pitchFamily="34" charset="-122"/>
                <a:cs typeface="Noto Sans Arabic" pitchFamily="34" charset="-120"/>
              </a:rPr>
              <a:t>سري لأغراض التمرين</a:t>
            </a:r>
            <a:endParaRPr lang="ar-JO" sz="1000" dirty="0"/>
          </a:p>
        </p:txBody>
      </p:sp>
      <p:sp>
        <p:nvSpPr>
          <p:cNvPr id="9" name="Text 7"/>
          <p:cNvSpPr/>
          <p:nvPr/>
        </p:nvSpPr>
        <p:spPr>
          <a:xfrm>
            <a:off x="594360" y="7287768"/>
            <a:ext cx="1828800" cy="237744"/>
          </a:xfrm>
          <a:prstGeom prst="rect">
            <a:avLst/>
          </a:prstGeom>
          <a:noFill/>
          <a:ln/>
        </p:spPr>
        <p:txBody>
          <a:bodyPr wrap="square" lIns="0" tIns="0" rIns="0" bIns="0" rtlCol="0" anchor="ctr"/>
          <a:lstStyle/>
          <a:p>
            <a:pPr algn="l"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31 / 31</a:t>
            </a:r>
            <a:endParaRPr lang="ar-JO" sz="1100" dirty="0"/>
          </a:p>
        </p:txBody>
      </p:sp>
      <p:sp>
        <p:nvSpPr>
          <p:cNvPr id="10" name="Text 8"/>
          <p:cNvSpPr/>
          <p:nvPr/>
        </p:nvSpPr>
        <p:spPr>
          <a:xfrm>
            <a:off x="11612880" y="7287768"/>
            <a:ext cx="2423160" cy="237744"/>
          </a:xfrm>
          <a:prstGeom prst="rect">
            <a:avLst/>
          </a:prstGeom>
          <a:noFill/>
          <a:ln/>
        </p:spPr>
        <p:txBody>
          <a:bodyPr wrap="square" lIns="0" tIns="0" rIns="0" bIns="0" rtlCol="0" anchor="ctr"/>
          <a:lstStyle/>
          <a:p>
            <a:pPr rtl="1" algn="r" indent="0" marL="0">
              <a:buNone/>
            </a:pPr>
            <a:r>
              <a:rPr lang="ar-JO" altLang="en-US" sz="1100" dirty="0">
                <a:solidFill>
                  <a:srgbClr val="000000"/>
                </a:solidFill>
                <a:latin typeface="Noto Sans Arabic" pitchFamily="34" charset="0"/>
                <a:ea typeface="Noto Sans Arabic" pitchFamily="34" charset="-122"/>
                <a:cs typeface="Noto Sans Arabic" pitchFamily="34" charset="-120"/>
              </a:rPr>
              <a:t>دقيقة واحدة</a:t>
            </a:r>
            <a:endParaRPr lang="ar-JO" sz="1100" dirty="0"/>
          </a:p>
        </p:txBody>
      </p:sp>
      <p:sp>
        <p:nvSpPr>
          <p:cNvPr id="11" name="Shape 9"/>
          <p:cNvSpPr/>
          <p:nvPr/>
        </p:nvSpPr>
        <p:spPr>
          <a:xfrm>
            <a:off x="594360" y="7653528"/>
            <a:ext cx="13441680" cy="32004"/>
          </a:xfrm>
          <a:prstGeom prst="rect">
            <a:avLst/>
          </a:prstGeom>
          <a:solidFill>
            <a:srgbClr val="000000"/>
          </a:solidFill>
          <a:ln w="12700">
            <a:solidFill>
              <a:srgbClr val="000000"/>
            </a:solidFill>
            <a:prstDash val="solid"/>
          </a:ln>
        </p:spPr>
      </p:sp>
      <p:sp>
        <p:nvSpPr>
          <p:cNvPr id="12" name="Shape 10"/>
          <p:cNvSpPr/>
          <p:nvPr/>
        </p:nvSpPr>
        <p:spPr>
          <a:xfrm>
            <a:off x="594360" y="2103120"/>
            <a:ext cx="13441680" cy="1120140"/>
          </a:xfrm>
          <a:prstGeom prst="rect">
            <a:avLst/>
          </a:prstGeom>
          <a:solidFill>
            <a:srgbClr val="FFFFFF"/>
          </a:solidFill>
          <a:ln w="7620">
            <a:solidFill>
              <a:srgbClr val="000000"/>
            </a:solidFill>
            <a:prstDash val="solid"/>
          </a:ln>
        </p:spPr>
      </p:sp>
      <p:sp>
        <p:nvSpPr>
          <p:cNvPr id="13" name="Shape 11"/>
          <p:cNvSpPr/>
          <p:nvPr/>
        </p:nvSpPr>
        <p:spPr>
          <a:xfrm>
            <a:off x="13962888" y="2103120"/>
            <a:ext cx="73152" cy="1120140"/>
          </a:xfrm>
          <a:prstGeom prst="rect">
            <a:avLst/>
          </a:prstGeom>
          <a:solidFill>
            <a:srgbClr val="000000"/>
          </a:solidFill>
          <a:ln w="12700">
            <a:solidFill>
              <a:srgbClr val="000000"/>
            </a:solidFill>
            <a:prstDash val="solid"/>
          </a:ln>
        </p:spPr>
      </p:sp>
      <p:sp>
        <p:nvSpPr>
          <p:cNvPr id="14" name="Shape 12"/>
          <p:cNvSpPr/>
          <p:nvPr/>
        </p:nvSpPr>
        <p:spPr>
          <a:xfrm>
            <a:off x="12938760" y="2304288"/>
            <a:ext cx="713232" cy="484632"/>
          </a:xfrm>
          <a:prstGeom prst="rect">
            <a:avLst/>
          </a:prstGeom>
          <a:solidFill>
            <a:srgbClr val="000000"/>
          </a:solidFill>
          <a:ln w="12700">
            <a:solidFill>
              <a:srgbClr val="000000"/>
            </a:solidFill>
            <a:prstDash val="solid"/>
          </a:ln>
        </p:spPr>
      </p:sp>
      <p:sp>
        <p:nvSpPr>
          <p:cNvPr id="15" name="Text 13"/>
          <p:cNvSpPr/>
          <p:nvPr/>
        </p:nvSpPr>
        <p:spPr>
          <a:xfrm>
            <a:off x="12938760" y="23042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م</a:t>
            </a:r>
            <a:endParaRPr lang="ar-JO" sz="1800" dirty="0"/>
          </a:p>
        </p:txBody>
      </p:sp>
      <p:sp>
        <p:nvSpPr>
          <p:cNvPr id="16" name="Text 14"/>
          <p:cNvSpPr/>
          <p:nvPr/>
        </p:nvSpPr>
        <p:spPr>
          <a:xfrm>
            <a:off x="932688" y="2240280"/>
            <a:ext cx="11612880" cy="845820"/>
          </a:xfrm>
          <a:prstGeom prst="rect">
            <a:avLst/>
          </a:prstGeom>
          <a:noFill/>
          <a:ln/>
        </p:spPr>
        <p:txBody>
          <a:bodyPr wrap="square" lIns="0" tIns="0" rIns="0" bIns="0" rtlCol="0" anchor="ctr"/>
          <a:lstStyle/>
          <a:p>
            <a:pPr rtl="1" algn="r" indent="0" marL="0">
              <a:lnSpc>
                <a:spcPct val="112000"/>
              </a:lnSpc>
              <a:buNone/>
            </a:pPr>
            <a:r>
              <a:rPr lang="ar-JO" altLang="en-US" sz="2050" dirty="0">
                <a:solidFill>
                  <a:srgbClr val="000000"/>
                </a:solidFill>
                <a:latin typeface="Noto Sans Arabic" pitchFamily="34" charset="0"/>
                <a:ea typeface="Noto Sans Arabic" pitchFamily="34" charset="-122"/>
                <a:cs typeface="Noto Sans Arabic" pitchFamily="34" charset="-120"/>
              </a:rPr>
              <a:t>توسع الدولة المشاركة الديمقراطية، وتمكن المرأة والشباب ومؤسسات المجتمع المدني من المشاركة في صنع القرار وتحمل المسؤولية.</a:t>
            </a:r>
            <a:endParaRPr lang="ar-JO" sz="2050" dirty="0"/>
          </a:p>
        </p:txBody>
      </p:sp>
      <p:sp>
        <p:nvSpPr>
          <p:cNvPr id="17" name="Shape 15"/>
          <p:cNvSpPr/>
          <p:nvPr/>
        </p:nvSpPr>
        <p:spPr>
          <a:xfrm>
            <a:off x="594360" y="3360420"/>
            <a:ext cx="13441680" cy="1120140"/>
          </a:xfrm>
          <a:prstGeom prst="rect">
            <a:avLst/>
          </a:prstGeom>
          <a:solidFill>
            <a:srgbClr val="FFFFFF"/>
          </a:solidFill>
          <a:ln w="7620">
            <a:solidFill>
              <a:srgbClr val="000000"/>
            </a:solidFill>
            <a:prstDash val="solid"/>
          </a:ln>
        </p:spPr>
      </p:sp>
      <p:sp>
        <p:nvSpPr>
          <p:cNvPr id="18" name="Shape 16"/>
          <p:cNvSpPr/>
          <p:nvPr/>
        </p:nvSpPr>
        <p:spPr>
          <a:xfrm>
            <a:off x="13962888" y="3360420"/>
            <a:ext cx="73152" cy="1120140"/>
          </a:xfrm>
          <a:prstGeom prst="rect">
            <a:avLst/>
          </a:prstGeom>
          <a:solidFill>
            <a:srgbClr val="000000"/>
          </a:solidFill>
          <a:ln w="12700">
            <a:solidFill>
              <a:srgbClr val="000000"/>
            </a:solidFill>
            <a:prstDash val="solid"/>
          </a:ln>
        </p:spPr>
      </p:sp>
      <p:sp>
        <p:nvSpPr>
          <p:cNvPr id="19" name="Shape 17"/>
          <p:cNvSpPr/>
          <p:nvPr/>
        </p:nvSpPr>
        <p:spPr>
          <a:xfrm>
            <a:off x="12938760" y="3561588"/>
            <a:ext cx="713232" cy="484632"/>
          </a:xfrm>
          <a:prstGeom prst="rect">
            <a:avLst/>
          </a:prstGeom>
          <a:solidFill>
            <a:srgbClr val="000000"/>
          </a:solidFill>
          <a:ln w="12700">
            <a:solidFill>
              <a:srgbClr val="000000"/>
            </a:solidFill>
            <a:prstDash val="solid"/>
          </a:ln>
        </p:spPr>
      </p:sp>
      <p:sp>
        <p:nvSpPr>
          <p:cNvPr id="20" name="Text 18"/>
          <p:cNvSpPr/>
          <p:nvPr/>
        </p:nvSpPr>
        <p:spPr>
          <a:xfrm>
            <a:off x="12938760" y="35615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ن</a:t>
            </a:r>
            <a:endParaRPr lang="ar-JO" sz="1800" dirty="0"/>
          </a:p>
        </p:txBody>
      </p:sp>
      <p:sp>
        <p:nvSpPr>
          <p:cNvPr id="21" name="Text 19"/>
          <p:cNvSpPr/>
          <p:nvPr/>
        </p:nvSpPr>
        <p:spPr>
          <a:xfrm>
            <a:off x="932688" y="3497580"/>
            <a:ext cx="11612880" cy="845820"/>
          </a:xfrm>
          <a:prstGeom prst="rect">
            <a:avLst/>
          </a:prstGeom>
          <a:noFill/>
          <a:ln/>
        </p:spPr>
        <p:txBody>
          <a:bodyPr wrap="square" lIns="0" tIns="0" rIns="0" bIns="0" rtlCol="0" anchor="ctr"/>
          <a:lstStyle/>
          <a:p>
            <a:pPr rtl="1" algn="r" indent="0" marL="0">
              <a:lnSpc>
                <a:spcPct val="112000"/>
              </a:lnSpc>
              <a:buNone/>
            </a:pPr>
            <a:r>
              <a:rPr lang="ar-JO" altLang="en-US" sz="2050" dirty="0">
                <a:solidFill>
                  <a:srgbClr val="000000"/>
                </a:solidFill>
                <a:latin typeface="Noto Sans Arabic" pitchFamily="34" charset="0"/>
                <a:ea typeface="Noto Sans Arabic" pitchFamily="34" charset="-122"/>
                <a:cs typeface="Noto Sans Arabic" pitchFamily="34" charset="-120"/>
              </a:rPr>
              <a:t>تؤسس سيادة القانون واستقلال القضاء والتكامل بين السلطات الثلاث لدولة مدنية عادلة وتعزز الثقة بمؤسساتها.</a:t>
            </a:r>
            <a:endParaRPr lang="ar-JO" sz="2050" dirty="0"/>
          </a:p>
        </p:txBody>
      </p:sp>
      <p:sp>
        <p:nvSpPr>
          <p:cNvPr id="22" name="Shape 20"/>
          <p:cNvSpPr/>
          <p:nvPr/>
        </p:nvSpPr>
        <p:spPr>
          <a:xfrm>
            <a:off x="594360" y="4617720"/>
            <a:ext cx="13441680" cy="1120140"/>
          </a:xfrm>
          <a:prstGeom prst="rect">
            <a:avLst/>
          </a:prstGeom>
          <a:solidFill>
            <a:srgbClr val="FFFFFF"/>
          </a:solidFill>
          <a:ln w="7620">
            <a:solidFill>
              <a:srgbClr val="000000"/>
            </a:solidFill>
            <a:prstDash val="solid"/>
          </a:ln>
        </p:spPr>
      </p:sp>
      <p:sp>
        <p:nvSpPr>
          <p:cNvPr id="23" name="Shape 21"/>
          <p:cNvSpPr/>
          <p:nvPr/>
        </p:nvSpPr>
        <p:spPr>
          <a:xfrm>
            <a:off x="13962888" y="4617720"/>
            <a:ext cx="73152" cy="1120140"/>
          </a:xfrm>
          <a:prstGeom prst="rect">
            <a:avLst/>
          </a:prstGeom>
          <a:solidFill>
            <a:srgbClr val="000000"/>
          </a:solidFill>
          <a:ln w="12700">
            <a:solidFill>
              <a:srgbClr val="000000"/>
            </a:solidFill>
            <a:prstDash val="solid"/>
          </a:ln>
        </p:spPr>
      </p:sp>
      <p:sp>
        <p:nvSpPr>
          <p:cNvPr id="24" name="Shape 22"/>
          <p:cNvSpPr/>
          <p:nvPr/>
        </p:nvSpPr>
        <p:spPr>
          <a:xfrm>
            <a:off x="12938760" y="4818888"/>
            <a:ext cx="713232" cy="484632"/>
          </a:xfrm>
          <a:prstGeom prst="rect">
            <a:avLst/>
          </a:prstGeom>
          <a:solidFill>
            <a:srgbClr val="000000"/>
          </a:solidFill>
          <a:ln w="12700">
            <a:solidFill>
              <a:srgbClr val="000000"/>
            </a:solidFill>
            <a:prstDash val="solid"/>
          </a:ln>
        </p:spPr>
      </p:sp>
      <p:sp>
        <p:nvSpPr>
          <p:cNvPr id="25" name="Text 23"/>
          <p:cNvSpPr/>
          <p:nvPr/>
        </p:nvSpPr>
        <p:spPr>
          <a:xfrm>
            <a:off x="12938760" y="48188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س</a:t>
            </a:r>
            <a:endParaRPr lang="ar-JO" sz="1800" dirty="0"/>
          </a:p>
        </p:txBody>
      </p:sp>
      <p:sp>
        <p:nvSpPr>
          <p:cNvPr id="26" name="Text 24"/>
          <p:cNvSpPr/>
          <p:nvPr/>
        </p:nvSpPr>
        <p:spPr>
          <a:xfrm>
            <a:off x="932688" y="4754880"/>
            <a:ext cx="11612880" cy="845820"/>
          </a:xfrm>
          <a:prstGeom prst="rect">
            <a:avLst/>
          </a:prstGeom>
          <a:noFill/>
          <a:ln/>
        </p:spPr>
        <p:txBody>
          <a:bodyPr wrap="square" lIns="0" tIns="0" rIns="0" bIns="0" rtlCol="0" anchor="ctr"/>
          <a:lstStyle/>
          <a:p>
            <a:pPr rtl="1" algn="r" indent="0" marL="0">
              <a:lnSpc>
                <a:spcPct val="112000"/>
              </a:lnSpc>
              <a:buNone/>
            </a:pPr>
            <a:r>
              <a:rPr lang="ar-JO" altLang="en-US" sz="2050" dirty="0">
                <a:solidFill>
                  <a:srgbClr val="000000"/>
                </a:solidFill>
                <a:latin typeface="Noto Sans Arabic" pitchFamily="34" charset="0"/>
                <a:ea typeface="Noto Sans Arabic" pitchFamily="34" charset="-122"/>
                <a:cs typeface="Noto Sans Arabic" pitchFamily="34" charset="-120"/>
              </a:rPr>
              <a:t>تستثمر الدولة التكنولوجيا والاتصال الحديثين في تطوير الأداء وإطلاق المبادرات والطاقات الشبابية.</a:t>
            </a:r>
            <a:endParaRPr lang="ar-JO" sz="2050" dirty="0"/>
          </a:p>
        </p:txBody>
      </p:sp>
      <p:sp>
        <p:nvSpPr>
          <p:cNvPr id="27" name="Shape 25"/>
          <p:cNvSpPr/>
          <p:nvPr/>
        </p:nvSpPr>
        <p:spPr>
          <a:xfrm>
            <a:off x="594360" y="5875020"/>
            <a:ext cx="13441680" cy="1120140"/>
          </a:xfrm>
          <a:prstGeom prst="rect">
            <a:avLst/>
          </a:prstGeom>
          <a:solidFill>
            <a:srgbClr val="FFFFFF"/>
          </a:solidFill>
          <a:ln w="7620">
            <a:solidFill>
              <a:srgbClr val="000000"/>
            </a:solidFill>
            <a:prstDash val="solid"/>
          </a:ln>
        </p:spPr>
      </p:sp>
      <p:sp>
        <p:nvSpPr>
          <p:cNvPr id="28" name="Shape 26"/>
          <p:cNvSpPr/>
          <p:nvPr/>
        </p:nvSpPr>
        <p:spPr>
          <a:xfrm>
            <a:off x="13962888" y="5875020"/>
            <a:ext cx="73152" cy="1120140"/>
          </a:xfrm>
          <a:prstGeom prst="rect">
            <a:avLst/>
          </a:prstGeom>
          <a:solidFill>
            <a:srgbClr val="000000"/>
          </a:solidFill>
          <a:ln w="12700">
            <a:solidFill>
              <a:srgbClr val="000000"/>
            </a:solidFill>
            <a:prstDash val="solid"/>
          </a:ln>
        </p:spPr>
      </p:sp>
      <p:sp>
        <p:nvSpPr>
          <p:cNvPr id="29" name="Shape 27"/>
          <p:cNvSpPr/>
          <p:nvPr/>
        </p:nvSpPr>
        <p:spPr>
          <a:xfrm>
            <a:off x="12938760" y="6076188"/>
            <a:ext cx="713232" cy="484632"/>
          </a:xfrm>
          <a:prstGeom prst="rect">
            <a:avLst/>
          </a:prstGeom>
          <a:solidFill>
            <a:srgbClr val="000000"/>
          </a:solidFill>
          <a:ln w="12700">
            <a:solidFill>
              <a:srgbClr val="000000"/>
            </a:solidFill>
            <a:prstDash val="solid"/>
          </a:ln>
        </p:spPr>
      </p:sp>
      <p:sp>
        <p:nvSpPr>
          <p:cNvPr id="30" name="Text 28"/>
          <p:cNvSpPr/>
          <p:nvPr/>
        </p:nvSpPr>
        <p:spPr>
          <a:xfrm>
            <a:off x="12938760" y="6076188"/>
            <a:ext cx="713232" cy="484632"/>
          </a:xfrm>
          <a:prstGeom prst="rect">
            <a:avLst/>
          </a:prstGeom>
          <a:noFill/>
          <a:ln/>
        </p:spPr>
        <p:txBody>
          <a:bodyPr wrap="square" lIns="0" tIns="0" rIns="0" bIns="0" rtlCol="0" anchor="ctr"/>
          <a:lstStyle/>
          <a:p>
            <a:pPr rtl="1" algn="ctr" indent="0" marL="0">
              <a:buNone/>
            </a:pPr>
            <a:r>
              <a:rPr lang="ar-JO" altLang="en-US" sz="1800" b="1" dirty="0">
                <a:solidFill>
                  <a:srgbClr val="FFFFFF"/>
                </a:solidFill>
                <a:latin typeface="Noto Sans Arabic" pitchFamily="34" charset="0"/>
                <a:ea typeface="Noto Sans Arabic" pitchFamily="34" charset="-122"/>
                <a:cs typeface="Noto Sans Arabic" pitchFamily="34" charset="-120"/>
              </a:rPr>
              <a:t>ع</a:t>
            </a:r>
            <a:endParaRPr lang="ar-JO" sz="1800" dirty="0"/>
          </a:p>
        </p:txBody>
      </p:sp>
      <p:sp>
        <p:nvSpPr>
          <p:cNvPr id="31" name="Text 29"/>
          <p:cNvSpPr/>
          <p:nvPr/>
        </p:nvSpPr>
        <p:spPr>
          <a:xfrm>
            <a:off x="932688" y="6012180"/>
            <a:ext cx="11612880" cy="845820"/>
          </a:xfrm>
          <a:prstGeom prst="rect">
            <a:avLst/>
          </a:prstGeom>
          <a:noFill/>
          <a:ln/>
        </p:spPr>
        <p:txBody>
          <a:bodyPr wrap="square" lIns="0" tIns="0" rIns="0" bIns="0" rtlCol="0" anchor="ctr"/>
          <a:lstStyle/>
          <a:p>
            <a:pPr rtl="1" algn="r" indent="0" marL="0">
              <a:lnSpc>
                <a:spcPct val="112000"/>
              </a:lnSpc>
              <a:buNone/>
            </a:pPr>
            <a:r>
              <a:rPr lang="ar-JO" altLang="en-US" sz="2050" dirty="0">
                <a:solidFill>
                  <a:srgbClr val="000000"/>
                </a:solidFill>
                <a:latin typeface="Noto Sans Arabic" pitchFamily="34" charset="0"/>
                <a:ea typeface="Noto Sans Arabic" pitchFamily="34" charset="-122"/>
                <a:cs typeface="Noto Sans Arabic" pitchFamily="34" charset="-120"/>
              </a:rPr>
              <a:t>ترجح الدولة التسويات والوسائل السلمية في التعامل مع الأزمات الإقليمية والدولية.</a:t>
            </a:r>
            <a:endParaRPr lang="ar-JO" sz="2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ans Arab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Arab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عرض تدريبي</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السياسة الوطنية | عرض تفصيلي لمدة ثلاثين دقيقة</dc:title>
  <dc:subject>المحاور الأربعة الأولى من وثيقة السياسة الوطنية — الحكومة (ج)</dc:subject>
  <dc:creator>إعداد من الوثيقة المرفقة</dc:creator>
  <cp:lastModifiedBy>إعداد من الوثيقة المرفقة</cp:lastModifiedBy>
  <cp:revision>1</cp:revision>
  <dcterms:created xsi:type="dcterms:W3CDTF">2026-10-18T17:27:57Z</dcterms:created>
  <dcterms:modified xsi:type="dcterms:W3CDTF">2026-10-18T17:27:57Z</dcterms:modified>
</cp:coreProperties>
</file>